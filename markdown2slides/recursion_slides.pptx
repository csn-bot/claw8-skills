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306" r:id="rId2"/>
    <p:sldId id="308" r:id="rId3"/>
    <p:sldId id="349" r:id="rId4"/>
    <p:sldId id="364" r:id="rId5"/>
    <p:sldId id="310" r:id="rId6"/>
    <p:sldId id="350" r:id="rId7"/>
    <p:sldId id="361" r:id="rId8"/>
    <p:sldId id="365" r:id="rId9"/>
    <p:sldId id="314" r:id="rId10"/>
    <p:sldId id="313" r:id="rId11"/>
    <p:sldId id="291" r:id="rId12"/>
    <p:sldId id="283" r:id="rId13"/>
    <p:sldId id="327" r:id="rId14"/>
    <p:sldId id="328" r:id="rId15"/>
    <p:sldId id="329" r:id="rId16"/>
    <p:sldId id="330" r:id="rId17"/>
    <p:sldId id="331" r:id="rId18"/>
    <p:sldId id="332" r:id="rId19"/>
    <p:sldId id="363" r:id="rId20"/>
    <p:sldId id="362" r:id="rId21"/>
    <p:sldId id="317" r:id="rId22"/>
    <p:sldId id="338" r:id="rId23"/>
    <p:sldId id="375" r:id="rId24"/>
    <p:sldId id="385" r:id="rId25"/>
    <p:sldId id="386" r:id="rId26"/>
    <p:sldId id="373" r:id="rId27"/>
    <p:sldId id="374" r:id="rId28"/>
    <p:sldId id="367" r:id="rId29"/>
    <p:sldId id="376" r:id="rId30"/>
    <p:sldId id="377" r:id="rId31"/>
    <p:sldId id="378" r:id="rId32"/>
    <p:sldId id="379" r:id="rId33"/>
    <p:sldId id="380" r:id="rId34"/>
    <p:sldId id="381" r:id="rId35"/>
    <p:sldId id="382" r:id="rId36"/>
    <p:sldId id="383" r:id="rId37"/>
    <p:sldId id="384" r:id="rId38"/>
    <p:sldId id="369" r:id="rId39"/>
    <p:sldId id="370" r:id="rId40"/>
    <p:sldId id="371" r:id="rId41"/>
    <p:sldId id="372" r:id="rId42"/>
    <p:sldId id="354" r:id="rId43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FF"/>
    <a:srgbClr val="339933"/>
    <a:srgbClr val="FFFF00"/>
    <a:srgbClr val="990033"/>
    <a:srgbClr val="660066"/>
    <a:srgbClr val="A50021"/>
    <a:srgbClr val="00008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2787"/>
    <p:restoredTop sz="90929"/>
  </p:normalViewPr>
  <p:slideViewPr>
    <p:cSldViewPr>
      <p:cViewPr varScale="1">
        <p:scale>
          <a:sx n="66" d="100"/>
          <a:sy n="66" d="100"/>
        </p:scale>
        <p:origin x="-114" y="-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40" y="-84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BE072D21-9C8E-08E1-04BA-0FA6DC3B05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97D04F67-3704-4AE8-7FAA-727F56475AA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488" y="0"/>
            <a:ext cx="298132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788D0173-4378-C653-3C73-37CAB432828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82913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1ED6E3FA-2AB9-C2E2-BAB8-45FFA3FDFB9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488" y="8831263"/>
            <a:ext cx="298132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0BE012A-ED59-48DE-80C9-9D03B9FC14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DD383A9-9AC0-9517-F0C1-841A9C8D3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8839200"/>
            <a:ext cx="550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/>
          <a:p>
            <a:pPr algn="r"/>
            <a:r>
              <a:rPr lang="en-US" altLang="en-US" sz="1200"/>
              <a:t>©A+ Computer Science     www.apluscompsci.com                 </a:t>
            </a:r>
            <a:fld id="{4206D7DE-4CD1-4706-A37C-240219D14268}" type="slidenum">
              <a:rPr lang="en-US" altLang="en-US" sz="1200"/>
              <a:pPr algn="r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5F69317C-3F80-FDD0-977F-F5A90E36883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68DC042D-6071-E0C4-CC60-1FEA95C94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FF8C13E7-999A-6A66-5CF3-97EE05EB1ED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D8B535F1-1E9B-A875-4EFB-BD45C52D7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If a method contains a call to itself, that method is recursive.  Recursion is a very useful programming tool if used properly.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E300A8FC-A2E7-7632-A022-C3C5FD8BC8E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6E3230CC-DFDF-339B-D124-64B736699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The recursive method </a:t>
            </a:r>
            <a:r>
              <a:rPr lang="en-US" altLang="en-US" sz="1600">
                <a:latin typeface="Courier New" panose="02070309020205020404" pitchFamily="49" charset="0"/>
              </a:rPr>
              <a:t>run()</a:t>
            </a:r>
            <a:r>
              <a:rPr lang="en-US" altLang="en-US" sz="1600"/>
              <a:t> will stop recurring when it runs out of memory.   There is no code or case to make the recursion stop.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53E1DB46-EFD6-85FA-6C4E-1AF788EF25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AAB9028C-B828-EB88-73A5-CFCE7EFBD0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F793BA8D-78DC-1E62-EE28-A5F66CC6647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893CB973-CA25-5DD7-D1B1-5481756C5C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2B1FDDF2-1EF7-F3F4-5DD8-8AB4378FE7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8E9B8D6C-9D1F-11A6-E9BD-9044464D9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Method </a:t>
            </a:r>
            <a:r>
              <a:rPr lang="en-US" altLang="en-US" sz="1600">
                <a:latin typeface="Courier New" panose="02070309020205020404" pitchFamily="49" charset="0"/>
              </a:rPr>
              <a:t>run()</a:t>
            </a:r>
            <a:r>
              <a:rPr lang="en-US" altLang="en-US" sz="1600"/>
              <a:t> has been improved as it now contains a </a:t>
            </a:r>
            <a:r>
              <a:rPr lang="en-US" altLang="en-US" sz="1600">
                <a:latin typeface="Courier New" panose="02070309020205020404" pitchFamily="49" charset="0"/>
              </a:rPr>
              <a:t>case(x&lt;5)</a:t>
            </a:r>
            <a:r>
              <a:rPr lang="en-US" altLang="en-US" sz="1600"/>
              <a:t> that will prevent the recursion form going on to infinity.</a:t>
            </a:r>
          </a:p>
          <a:p>
            <a:r>
              <a:rPr lang="en-US" altLang="en-US" sz="1600"/>
              <a:t>The </a:t>
            </a:r>
            <a:r>
              <a:rPr lang="en-US" altLang="en-US" sz="1600">
                <a:latin typeface="Courier New" panose="02070309020205020404" pitchFamily="49" charset="0"/>
              </a:rPr>
              <a:t>println(x)</a:t>
            </a:r>
            <a:r>
              <a:rPr lang="en-US" altLang="en-US" sz="1600"/>
              <a:t> happens before the recursive call so the numbers appear in order.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97D690A9-EF81-F72F-E7A4-1335C4932AC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6487B88E-82CF-C12D-3D45-A9333F4A6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Method </a:t>
            </a:r>
            <a:r>
              <a:rPr lang="en-US" altLang="en-US" sz="1600">
                <a:latin typeface="Courier New" panose="02070309020205020404" pitchFamily="49" charset="0"/>
              </a:rPr>
              <a:t>run()</a:t>
            </a:r>
            <a:r>
              <a:rPr lang="en-US" altLang="en-US" sz="1600"/>
              <a:t> has been improved as it now contains a </a:t>
            </a:r>
            <a:r>
              <a:rPr lang="en-US" altLang="en-US" sz="1600">
                <a:latin typeface="Courier New" panose="02070309020205020404" pitchFamily="49" charset="0"/>
              </a:rPr>
              <a:t>case(x&lt;5)</a:t>
            </a:r>
            <a:r>
              <a:rPr lang="en-US" altLang="en-US" sz="1600"/>
              <a:t> that will prevent the recursion form going on to infinity.</a:t>
            </a:r>
          </a:p>
          <a:p>
            <a:r>
              <a:rPr lang="en-US" altLang="en-US" sz="1600"/>
              <a:t>The </a:t>
            </a:r>
            <a:r>
              <a:rPr lang="en-US" altLang="en-US" sz="1600">
                <a:latin typeface="Courier New" panose="02070309020205020404" pitchFamily="49" charset="0"/>
              </a:rPr>
              <a:t>println(x)</a:t>
            </a:r>
            <a:r>
              <a:rPr lang="en-US" altLang="en-US" sz="1600"/>
              <a:t> happens after the recursive call so the numbers appear in reverse order.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C72FA751-EBE6-F70F-8C59-0EEB73F4A35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E4785E56-5253-8337-6D53-7B1F4289E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42F6BBB7-8F91-5C66-8A99-330CFC4AEDB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5A614AAD-261F-8413-0247-EB3FA255C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F89971EF-A5DE-4C87-8CB3-9A67BCF5730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7E5881AE-CF8C-6E3F-BA77-C005E96AAD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A58E98A0-81ED-91AE-307A-16588D3DB5B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83BF9C3D-E487-50E1-6AD5-B677214AD4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FA9D0FD0-95CE-AE8C-CFCF-513EA591301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0477722C-877C-C9C3-9681-51C0481AD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Because AR1 is placed on the stack first, it will be the last AR removed from the stack.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2C76F5D2-F9D7-E9C6-83AC-8168D337F63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29CBC3B6-4271-73C5-0C5C-976C8F1D74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Because AR2 is placed on the stack second, it will be the second to last AR removed from the stack.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EFBCA832-5051-D4B8-829D-57FFFA39AC2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2D2D58A4-6444-1807-133A-2384777D23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BE682FE6-A3AA-759A-2048-9CA362545C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824D2626-6F74-A7E3-13F1-70768B01B0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AR4 is placed on the stack last and it is processed to completion first.</a:t>
            </a:r>
          </a:p>
          <a:p>
            <a:r>
              <a:rPr lang="en-US" altLang="en-US" sz="1600"/>
              <a:t>Once AR4 is finished, the execution sequence returns to AR3.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5149BC24-E90E-726C-3700-48ADE4EE832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175FBDE8-FEC5-C5DE-B649-F91765A9F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AR3 was placed on the stack 2</a:t>
            </a:r>
            <a:r>
              <a:rPr lang="en-US" altLang="en-US" sz="1600" baseline="30000"/>
              <a:t>nd</a:t>
            </a:r>
            <a:r>
              <a:rPr lang="en-US" altLang="en-US" sz="1600"/>
              <a:t> to last and it is processed to completion after AR4 and before AR2.</a:t>
            </a:r>
          </a:p>
          <a:p>
            <a:r>
              <a:rPr lang="en-US" altLang="en-US" sz="1600"/>
              <a:t>Once AR3 is finished, the execution sequence returns to AR2.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6B2DA399-EC09-68C9-BD09-4311E8CA6C2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11F7F2FA-6DC7-0299-2D16-238BD4D8B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AR2 was placed on the stack after AR1and it is processed to completion after AR3 and before AR1.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1683B8DC-BB2A-575B-0A43-C8DF4267A73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643A6F90-0526-B215-5EC1-C8AC5A6FBF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Because AR1 was placed on the stack first, it is processed to completion last.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9F0031AF-0CA1-728A-DD93-8C9131B98CA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45AE4215-3A17-5AC8-1005-C291B25B41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Because the </a:t>
            </a:r>
            <a:r>
              <a:rPr lang="en-US" altLang="en-US" sz="1600">
                <a:latin typeface="Courier New" panose="02070309020205020404" pitchFamily="49" charset="0"/>
              </a:rPr>
              <a:t>println(x)</a:t>
            </a:r>
            <a:r>
              <a:rPr lang="en-US" altLang="en-US" sz="1600"/>
              <a:t> is before the recursive call, x is printed before the next AR is created on the stack.   </a:t>
            </a:r>
          </a:p>
          <a:p>
            <a:endParaRPr lang="en-US" altLang="en-US" sz="16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F314BB0C-3126-2BFC-CECD-5DD8C537920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D5A041E4-4747-AB6C-4BBA-B03DC76DB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Because the </a:t>
            </a:r>
            <a:r>
              <a:rPr lang="en-US" altLang="en-US" sz="1600">
                <a:latin typeface="Courier New" panose="02070309020205020404" pitchFamily="49" charset="0"/>
              </a:rPr>
              <a:t>println(x)</a:t>
            </a:r>
            <a:r>
              <a:rPr lang="en-US" altLang="en-US" sz="1600"/>
              <a:t> is after the recursive call, the </a:t>
            </a:r>
            <a:r>
              <a:rPr lang="en-US" altLang="en-US" sz="1600">
                <a:latin typeface="Courier New" panose="02070309020205020404" pitchFamily="49" charset="0"/>
              </a:rPr>
              <a:t>println(x)</a:t>
            </a:r>
            <a:r>
              <a:rPr lang="en-US" altLang="en-US" sz="1600"/>
              <a:t> is delayed until the new AR is completed.   The </a:t>
            </a:r>
            <a:r>
              <a:rPr lang="en-US" altLang="en-US" sz="1600">
                <a:latin typeface="Courier New" panose="02070309020205020404" pitchFamily="49" charset="0"/>
              </a:rPr>
              <a:t>println(x)</a:t>
            </a:r>
            <a:r>
              <a:rPr lang="en-US" altLang="en-US" sz="1600"/>
              <a:t> will happen when the AR above it has finished.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97BCEC92-BE1A-D218-5F5C-1963AA8661A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BC37B573-41AF-F588-C9B2-9E587CB8B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As long as y is greater than 1, method fun() will continue to call itself creating recursion.</a:t>
            </a:r>
          </a:p>
          <a:p>
            <a:endParaRPr lang="en-US" altLang="en-US" sz="1600"/>
          </a:p>
          <a:p>
            <a:r>
              <a:rPr lang="en-US" altLang="en-US" sz="1600"/>
              <a:t>AR 1  -  y = 5    return AR2 + 5</a:t>
            </a:r>
          </a:p>
          <a:p>
            <a:r>
              <a:rPr lang="en-US" altLang="en-US" sz="1600"/>
              <a:t>AR 2  -  y = 3    return AR3 + 3</a:t>
            </a:r>
          </a:p>
          <a:p>
            <a:r>
              <a:rPr lang="en-US" altLang="en-US" sz="1600"/>
              <a:t>AR 3  -  y = 1    return 1</a:t>
            </a:r>
          </a:p>
          <a:p>
            <a:r>
              <a:rPr lang="en-US" altLang="en-US" sz="1600"/>
              <a:t>Return 1 + 3 + 5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261B9F8C-ACBD-AD04-A0B1-D6AA583DD78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8179" name="Rectangle 3">
            <a:extLst>
              <a:ext uri="{FF2B5EF4-FFF2-40B4-BE49-F238E27FC236}">
                <a16:creationId xmlns:a16="http://schemas.microsoft.com/office/drawing/2014/main" id="{C9C841FA-2865-D60D-CF50-6BB3831F5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>
            <a:extLst>
              <a:ext uri="{FF2B5EF4-FFF2-40B4-BE49-F238E27FC236}">
                <a16:creationId xmlns:a16="http://schemas.microsoft.com/office/drawing/2014/main" id="{F68D2198-9590-DFA4-3169-949BB9F12D9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69621789-6AEA-C1DA-BE93-B752F03FA9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08F23693-DF1A-6631-5657-BE349FBB90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C5BA76DD-ADD2-83AA-DA93-D28CE114D8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0F5F2F3A-84E2-030A-420F-D5CD9AAEC4B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105EB87E-1F22-3218-0F08-06FB8C8D7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5F739499-34EA-852F-4C7C-7A8FEF670D3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7A78E2AD-0B8B-61D0-9B4B-73197B9468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In the example above, the recursive call occurs before a letter is appended.</a:t>
            </a:r>
          </a:p>
          <a:p>
            <a:r>
              <a:rPr lang="en-US" altLang="en-US" sz="1600"/>
              <a:t>The example method above will return a new String containing the same letters as  </a:t>
            </a:r>
            <a:r>
              <a:rPr lang="en-US" altLang="en-US" sz="1600">
                <a:latin typeface="Courier New" panose="02070309020205020404" pitchFamily="49" charset="0"/>
              </a:rPr>
              <a:t>s</a:t>
            </a:r>
            <a:r>
              <a:rPr lang="en-US" altLang="en-US" sz="1600"/>
              <a:t> in the exact some order as s.</a:t>
            </a:r>
          </a:p>
          <a:p>
            <a:endParaRPr lang="en-US" altLang="en-US" sz="1600"/>
          </a:p>
          <a:p>
            <a:r>
              <a:rPr lang="en-US" altLang="en-US" sz="1600"/>
              <a:t>AR1 </a:t>
            </a:r>
            <a:r>
              <a:rPr lang="en-US" altLang="en-US" sz="1600">
                <a:latin typeface="Courier New" panose="02070309020205020404" pitchFamily="49" charset="0"/>
              </a:rPr>
              <a:t>– s="bat"  len=3   return  </a:t>
            </a:r>
            <a:r>
              <a:rPr lang="en-US" altLang="en-US" sz="1600"/>
              <a:t>AR2</a:t>
            </a:r>
            <a:r>
              <a:rPr lang="en-US" altLang="en-US" sz="1600">
                <a:latin typeface="Courier New" panose="02070309020205020404" pitchFamily="49" charset="0"/>
              </a:rPr>
              <a:t> + t</a:t>
            </a:r>
          </a:p>
          <a:p>
            <a:r>
              <a:rPr lang="en-US" altLang="en-US" sz="1600"/>
              <a:t>AR2 </a:t>
            </a:r>
            <a:r>
              <a:rPr lang="en-US" altLang="en-US" sz="1600">
                <a:latin typeface="Courier New" panose="02070309020205020404" pitchFamily="49" charset="0"/>
              </a:rPr>
              <a:t>– s="ba"  len=2   return </a:t>
            </a:r>
            <a:r>
              <a:rPr lang="en-US" altLang="en-US" sz="1600"/>
              <a:t>AR3</a:t>
            </a:r>
            <a:r>
              <a:rPr lang="en-US" altLang="en-US" sz="1600">
                <a:latin typeface="Courier New" panose="02070309020205020404" pitchFamily="49" charset="0"/>
              </a:rPr>
              <a:t> + a</a:t>
            </a:r>
          </a:p>
          <a:p>
            <a:r>
              <a:rPr lang="en-US" altLang="en-US" sz="1600"/>
              <a:t>AR3 </a:t>
            </a:r>
            <a:r>
              <a:rPr lang="en-US" altLang="en-US" sz="1600">
                <a:latin typeface="Courier New" panose="02070309020205020404" pitchFamily="49" charset="0"/>
              </a:rPr>
              <a:t>– s="b"  len=1   return </a:t>
            </a:r>
            <a:r>
              <a:rPr lang="en-US" altLang="en-US" sz="1600"/>
              <a:t>AR4</a:t>
            </a:r>
            <a:r>
              <a:rPr lang="en-US" altLang="en-US" sz="1600">
                <a:latin typeface="Courier New" panose="02070309020205020404" pitchFamily="49" charset="0"/>
              </a:rPr>
              <a:t> + b</a:t>
            </a:r>
          </a:p>
          <a:p>
            <a:r>
              <a:rPr lang="en-US" altLang="en-US" sz="1600"/>
              <a:t>AR4 </a:t>
            </a:r>
            <a:r>
              <a:rPr lang="en-US" altLang="en-US" sz="1600">
                <a:latin typeface="Courier New" panose="02070309020205020404" pitchFamily="49" charset="0"/>
              </a:rPr>
              <a:t>– s=""  len=0   return ""</a:t>
            </a:r>
          </a:p>
          <a:p>
            <a:endParaRPr lang="en-US" altLang="en-US" sz="1600">
              <a:latin typeface="Courier New" panose="02070309020205020404" pitchFamily="49" charset="0"/>
            </a:endParaRPr>
          </a:p>
          <a:p>
            <a:r>
              <a:rPr lang="en-US" altLang="en-US" sz="1600"/>
              <a:t>Final return</a:t>
            </a:r>
            <a:r>
              <a:rPr lang="en-US" altLang="en-US" sz="1600">
                <a:latin typeface="Courier New" panose="02070309020205020404" pitchFamily="49" charset="0"/>
              </a:rPr>
              <a:t> ""+b+a+t</a:t>
            </a:r>
          </a:p>
          <a:p>
            <a:endParaRPr lang="en-US" altLang="en-US" sz="1600">
              <a:latin typeface="Courier New" panose="02070309020205020404" pitchFamily="49" charset="0"/>
            </a:endParaRPr>
          </a:p>
          <a:p>
            <a:endParaRPr lang="en-US" altLang="en-US" sz="1600">
              <a:latin typeface="Courier New" panose="02070309020205020404" pitchFamily="49" charset="0"/>
            </a:endParaRPr>
          </a:p>
          <a:p>
            <a:endParaRPr lang="en-US" altLang="en-US" sz="16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3346950D-C5BF-FE05-806C-75F6DB15FD8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403641A3-DDFB-0F1F-82B5-A0CDB8C56B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In the example above, the recursive call happens after a letter is appended.</a:t>
            </a:r>
          </a:p>
          <a:p>
            <a:r>
              <a:rPr lang="en-US" altLang="en-US" sz="1600"/>
              <a:t>The example method above will return a new String containing the same letters as  </a:t>
            </a:r>
            <a:r>
              <a:rPr lang="en-US" altLang="en-US" sz="1600">
                <a:latin typeface="Courier New" panose="02070309020205020404" pitchFamily="49" charset="0"/>
              </a:rPr>
              <a:t>s</a:t>
            </a:r>
            <a:r>
              <a:rPr lang="en-US" altLang="en-US" sz="1600"/>
              <a:t> in the reverse order as s.</a:t>
            </a:r>
          </a:p>
          <a:p>
            <a:endParaRPr lang="en-US" altLang="en-US" sz="1600"/>
          </a:p>
          <a:p>
            <a:r>
              <a:rPr lang="en-US" altLang="en-US" sz="1600"/>
              <a:t>AR1 </a:t>
            </a:r>
            <a:r>
              <a:rPr lang="en-US" altLang="en-US" sz="1600">
                <a:latin typeface="Courier New" panose="02070309020205020404" pitchFamily="49" charset="0"/>
              </a:rPr>
              <a:t>– s="bat"  len=3  return t+</a:t>
            </a:r>
            <a:r>
              <a:rPr lang="en-US" altLang="en-US" sz="1600"/>
              <a:t>AR2</a:t>
            </a:r>
            <a:r>
              <a:rPr lang="en-US" altLang="en-US" sz="1600">
                <a:latin typeface="Courier New" panose="02070309020205020404" pitchFamily="49" charset="0"/>
              </a:rPr>
              <a:t> </a:t>
            </a:r>
          </a:p>
          <a:p>
            <a:r>
              <a:rPr lang="en-US" altLang="en-US" sz="1600"/>
              <a:t>AR2 </a:t>
            </a:r>
            <a:r>
              <a:rPr lang="en-US" altLang="en-US" sz="1600">
                <a:latin typeface="Courier New" panose="02070309020205020404" pitchFamily="49" charset="0"/>
              </a:rPr>
              <a:t>– s="ba"  len=2   return a+</a:t>
            </a:r>
            <a:r>
              <a:rPr lang="en-US" altLang="en-US" sz="1600"/>
              <a:t>AR3</a:t>
            </a:r>
            <a:endParaRPr lang="en-US" altLang="en-US" sz="1600">
              <a:latin typeface="Courier New" panose="02070309020205020404" pitchFamily="49" charset="0"/>
            </a:endParaRPr>
          </a:p>
          <a:p>
            <a:r>
              <a:rPr lang="en-US" altLang="en-US" sz="1600"/>
              <a:t>AR3 </a:t>
            </a:r>
            <a:r>
              <a:rPr lang="en-US" altLang="en-US" sz="1600">
                <a:latin typeface="Courier New" panose="02070309020205020404" pitchFamily="49" charset="0"/>
              </a:rPr>
              <a:t>– s="b"  len=1   return b+</a:t>
            </a:r>
            <a:r>
              <a:rPr lang="en-US" altLang="en-US" sz="1600"/>
              <a:t>AR4</a:t>
            </a:r>
            <a:endParaRPr lang="en-US" altLang="en-US" sz="1600">
              <a:latin typeface="Courier New" panose="02070309020205020404" pitchFamily="49" charset="0"/>
            </a:endParaRPr>
          </a:p>
          <a:p>
            <a:r>
              <a:rPr lang="en-US" altLang="en-US" sz="1600"/>
              <a:t>AR4 </a:t>
            </a:r>
            <a:r>
              <a:rPr lang="en-US" altLang="en-US" sz="1600">
                <a:latin typeface="Courier New" panose="02070309020205020404" pitchFamily="49" charset="0"/>
              </a:rPr>
              <a:t>– s=""  len=0   return ""</a:t>
            </a:r>
          </a:p>
          <a:p>
            <a:endParaRPr lang="en-US" altLang="en-US" sz="1600">
              <a:latin typeface="Courier New" panose="02070309020205020404" pitchFamily="49" charset="0"/>
            </a:endParaRPr>
          </a:p>
          <a:p>
            <a:r>
              <a:rPr lang="en-US" altLang="en-US" sz="1600"/>
              <a:t>Final return</a:t>
            </a:r>
            <a:r>
              <a:rPr lang="en-US" altLang="en-US" sz="1600">
                <a:latin typeface="Courier New" panose="02070309020205020404" pitchFamily="49" charset="0"/>
              </a:rPr>
              <a:t> t+a+b+""</a:t>
            </a:r>
          </a:p>
          <a:p>
            <a:endParaRPr lang="en-US" altLang="en-US" sz="1600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364C895F-ED8D-70F6-4A90-83293C218AD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B5B625EE-351E-DD04-64E6-E7C80182B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28B2B8E3-44D9-3238-2440-6F9E281002F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3EB23AFD-711A-AB0B-2DE3-B54BC1124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79960B76-B79A-6484-3181-014778D3ED7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24E7D92F-4FE7-31E3-779B-01C58E529D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BE9345B8-924E-21EA-F520-BB8103E4AD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0FB5EC41-81F5-0C4F-0966-814781843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>
            <a:extLst>
              <a:ext uri="{FF2B5EF4-FFF2-40B4-BE49-F238E27FC236}">
                <a16:creationId xmlns:a16="http://schemas.microsoft.com/office/drawing/2014/main" id="{01EB09B1-31CB-4820-5744-F8F4A861176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66E1570E-B15F-F80E-DB65-83A0DE65B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9D1D9295-C1A7-4508-650C-77798A1D750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EB2B58B7-F199-C195-58F2-C6DC92BAF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:a16="http://schemas.microsoft.com/office/drawing/2014/main" id="{82AD3590-699E-98C2-D1E7-169C35A592C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943171D7-63C9-5E06-869B-A59F5A1A10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1A73C2B9-29E9-07F6-A8B4-35BA1CA5AEE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DF58671F-FB28-9844-3B10-81E1D5D108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>
            <a:extLst>
              <a:ext uri="{FF2B5EF4-FFF2-40B4-BE49-F238E27FC236}">
                <a16:creationId xmlns:a16="http://schemas.microsoft.com/office/drawing/2014/main" id="{CCB47ADE-F388-318C-4486-7921A891CB9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7C613780-A936-8873-A686-5B704A9402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0EA04EF3-6620-0658-F24D-61CB3649B7F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17243E89-3004-64A8-F86B-58AE9D034C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51E50CE0-D06A-B685-4C0D-9F1120C9113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BB92E150-9FF7-7155-2819-EF9AF11300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Using Recursion allows a section/block of code to be recreated while the program is running.</a:t>
            </a:r>
          </a:p>
          <a:p>
            <a:r>
              <a:rPr lang="en-US" altLang="en-US" sz="1600"/>
              <a:t>Each time the method is called, an instance of that method is created in memory.   The size of the program can grow and shrink while the program is running.</a:t>
            </a:r>
          </a:p>
          <a:p>
            <a:r>
              <a:rPr lang="en-US" altLang="en-US" sz="1600"/>
              <a:t>A 10 line program might grow to a length of 1000 during run-time as recursive calls are made.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5B455AD2-9A80-42F2-5FE6-FBAEB5EFC61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45D99C4F-CF3B-3E1F-BE27-A9981E0FE8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0C455C7F-597D-ACC5-3BE0-BE04988EBF8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D9E52C1F-48DA-89D4-1605-8196AFF1C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/>
              <a:t>Each time this section of code is called, it checks around it for matching cells.</a:t>
            </a:r>
          </a:p>
          <a:p>
            <a:r>
              <a:rPr lang="en-US" altLang="en-US" sz="1600"/>
              <a:t>If a matching cell is found, a recursive call is made on that cell to check for its neighbors.   This process continues as long as matching cells are found.</a:t>
            </a:r>
          </a:p>
          <a:p>
            <a:r>
              <a:rPr lang="en-US" altLang="en-US" sz="1600"/>
              <a:t>The original method is very short, but the actual code being used can get quite long during run time as the code grows dynamically.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63341ECF-A263-3661-29E5-546E8C70F0A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82942118-8735-E257-75DD-6349BFCE95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CFB28BD3-1EFD-62CD-A004-4E6EDEFA60B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16013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F5854823-DE5E-0D64-0A41-C99BB53F8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DA750-C5B3-DD19-58D8-36AE69894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5019B-CC7C-FA60-75D8-1316B9390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0869D-8C42-DDE7-22FC-E8878EB0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A3456-3167-5836-1F90-50E7238554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A0F943-871E-48CB-8C2B-4099EAA382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5A2C5-9E2E-354F-AE5F-51B0A7B81A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endParaRPr lang="en-US" altLang="en-US">
              <a:latin typeface="+mn-lt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60228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9ADAC-7DD3-2D8D-BD27-9D5DA439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BA56B-B08E-3BF4-02A3-5C4A7A4DE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9EB62-F8E6-304C-C378-C67EB3F97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A104D-EF87-829D-D7B4-A23D1B7C70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D4F11E-76C5-44C3-ABA9-24AA4EC87D2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755A4-6D43-D897-98C5-1470969A3F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endParaRPr lang="en-US" altLang="en-US">
              <a:latin typeface="+mn-lt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00614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B520B-C738-6F90-8EEE-8D646D96B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7B880-5150-2D2E-9468-825FB3006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70414-BFFF-8D46-AE2A-C737DA5CA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AE51D-D911-7A2B-1079-09195FD92A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BF9F11-7DD6-49E3-BFB4-6DF7F4E677B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EABC7-B78D-A1F0-00FB-FDE31148276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endParaRPr lang="en-US" altLang="en-US">
              <a:latin typeface="+mn-lt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56808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8A38-D9D5-ABC6-4B2E-27B053FA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6E4C8-306C-D65C-1E86-11AEA3B6A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D4EBB-AD25-9875-119A-EF1742AB0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8E13C-6EBB-2F2B-FBE1-A7B9130A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655F7-55A8-383F-CC09-1C0772F2BC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A51464-58FE-408D-8C13-4ABBCCACF4C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69B5919-CAE2-536D-77AF-B4EEA192F1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endParaRPr lang="en-US" altLang="en-US">
              <a:latin typeface="+mn-lt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17821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2D2E-873E-1995-5A68-955B6C4F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0187D-7E01-38DD-241C-E9D926722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6895D-869F-1ED6-9CB4-573F90DA4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30A5F-E5F9-1772-D34F-275BB199F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8EB65-1C95-F082-C63D-BC7BCE9A7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937E1-FC5E-8CE0-8F95-A6D51CC4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343EB0-B554-6B30-7692-09BFC4970B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A982F23-3866-4B17-B3F8-E6E8DFCC444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15215DD-A347-FD6E-7433-508B3B49EF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endParaRPr lang="en-US" altLang="en-US">
              <a:latin typeface="+mn-lt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4887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67675-C263-0ACC-50B6-32F67044C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361AB-32EB-DF02-78EC-21E6984B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835A5-A81E-C3CD-7B18-D13B338A8D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B46F0C0-B0DB-4CA7-BABD-7B61783E7E2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B2437-1F0F-9225-846C-555468FBB91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endParaRPr lang="en-US" altLang="en-US">
              <a:latin typeface="+mn-lt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485438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C70B1-BEAA-20D8-3444-B8D257729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020953-A75A-4410-51EF-3687DB25AB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38337D-4CBC-4AA9-9DFF-BF92D72DC5C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A0127F-F920-DC01-2B93-43DCEBC0D2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endParaRPr lang="en-US" altLang="en-US">
              <a:latin typeface="+mn-lt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4991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628B-46C8-BB98-A0A9-DB34B87A1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AF6D8-1DA8-B82E-ED85-CA75265C7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CFDFA-C3EB-2A16-FE25-25F425F18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87433-0EEB-39E7-A8C0-97B86B5A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D936A-055A-F7F7-0FE0-3575AB9EF4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70C10E-1F61-46E9-8B9E-02864295AD0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93FDDEC-A362-FCC9-A411-70E0F27A9F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endParaRPr lang="en-US" altLang="en-US">
              <a:latin typeface="+mn-lt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7802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7912-EC1D-891F-39FA-E4AB200B1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ACE2E-6852-691E-7976-0E3B4F928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1EB69-ABD2-08A0-AC5B-4921C19CE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97B46-6ACB-06E2-4981-AEABC401B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EA94C-F8AD-EDB3-C0C1-CCEDA9BA5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C2F1223-FC54-4E83-BDDB-EEC836E5EA5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4B1624-0D05-EC6B-F6C3-2F3750F20C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endParaRPr lang="en-US" altLang="en-US">
              <a:latin typeface="+mn-lt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9458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6FDE-3CDE-5EBA-D084-4ACE00242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E57D3-5A2F-D09B-0546-08E3FBE3E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E5239-C85A-4DE6-01CC-04EFC1EF8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841E4-DB89-5423-088A-01DB1947E9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411EDF-BD62-4153-A9CF-1E3ACA01F2A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BAC41-FCA2-8AD8-9255-FAC9C26582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endParaRPr lang="en-US" altLang="en-US">
              <a:latin typeface="+mn-lt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3073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8DB89-CDA8-290A-0444-F34707C67C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92BBD-10EE-EC8B-0F20-01FCBB61B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95F8C-D45A-664D-7DC0-1BC2B588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0B95F-2FAC-9135-FE19-4B8F85B2D1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D828044-E62D-4384-9D4F-2B09A1646F7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88CA3-A124-80FA-FFCB-48E53568EB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endParaRPr lang="en-US" altLang="en-US">
              <a:latin typeface="+mn-lt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657042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C9C154E-27C0-1A39-620C-3F4A8A6CB7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BB7A82A-5A20-C1E9-70DC-42FE2BC36B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D4DA3C5-04F9-AAE7-6DB1-AE41903F53D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8A08A4-2D7B-DFE5-6B0B-BEAE1DA3F5F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</a:defRPr>
            </a:lvl1pPr>
          </a:lstStyle>
          <a:p>
            <a:fld id="{D9BDA2F8-2680-48A5-A6DF-7FFAFD1330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1AFC410-E1F1-B224-3123-0C3EDF93255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0">
                <a:latin typeface="+mn-lt"/>
              </a:defRPr>
            </a:lvl1pPr>
          </a:lstStyle>
          <a:p>
            <a:endParaRPr lang="en-US" altLang="en-US" b="1"/>
          </a:p>
          <a:p>
            <a:endParaRPr lang="en-US" altLang="en-US">
              <a:latin typeface="Tahoma" panose="020B0604030504040204" pitchFamily="34" charset="0"/>
            </a:endParaRPr>
          </a:p>
          <a:p>
            <a:endParaRPr lang="en-US" altLang="en-US" b="1">
              <a:latin typeface="Tahoma" panose="020B0604030504040204" pitchFamily="34" charset="0"/>
            </a:endParaRPr>
          </a:p>
          <a:p>
            <a:r>
              <a:rPr lang="en-US" altLang="en-US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F8B643D-19CF-D799-BC7A-95BF6AF64FC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60418" name="WordArt 2">
            <a:extLst>
              <a:ext uri="{FF2B5EF4-FFF2-40B4-BE49-F238E27FC236}">
                <a16:creationId xmlns:a16="http://schemas.microsoft.com/office/drawing/2014/main" id="{B38E3E67-629F-5C56-4FCF-9B26E70708B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286000"/>
            <a:ext cx="7696200" cy="1676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Recursion</a:t>
            </a:r>
          </a:p>
        </p:txBody>
      </p:sp>
      <p:sp>
        <p:nvSpPr>
          <p:cNvPr id="60420" name="WordArt 4">
            <a:extLst>
              <a:ext uri="{FF2B5EF4-FFF2-40B4-BE49-F238E27FC236}">
                <a16:creationId xmlns:a16="http://schemas.microsoft.com/office/drawing/2014/main" id="{C5FFCD8D-048A-497B-934D-F27E38BB2A4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400800" y="6324600"/>
            <a:ext cx="2438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8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Lab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9EF6D5B-05D8-9023-A6D6-51097C4C38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62467" name="WordArt 3">
            <a:extLst>
              <a:ext uri="{FF2B5EF4-FFF2-40B4-BE49-F238E27FC236}">
                <a16:creationId xmlns:a16="http://schemas.microsoft.com/office/drawing/2014/main" id="{E9A2C634-5A92-2EEE-930D-D5994608F19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533400"/>
            <a:ext cx="45720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Recursion</a:t>
            </a:r>
          </a:p>
        </p:txBody>
      </p:sp>
      <p:sp>
        <p:nvSpPr>
          <p:cNvPr id="62468" name="Text Box 4">
            <a:extLst>
              <a:ext uri="{FF2B5EF4-FFF2-40B4-BE49-F238E27FC236}">
                <a16:creationId xmlns:a16="http://schemas.microsoft.com/office/drawing/2014/main" id="{F531440A-3009-AEAF-B29A-21465E171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200400"/>
            <a:ext cx="5440363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4000"/>
              <a:t>Recursion occurs </a:t>
            </a:r>
          </a:p>
          <a:p>
            <a:r>
              <a:rPr lang="en-US" altLang="en-US" sz="4000"/>
              <a:t>when a method calls</a:t>
            </a:r>
          </a:p>
          <a:p>
            <a:r>
              <a:rPr lang="en-US" altLang="en-US" sz="4000"/>
              <a:t>itself.</a:t>
            </a:r>
          </a:p>
        </p:txBody>
      </p:sp>
      <p:pic>
        <p:nvPicPr>
          <p:cNvPr id="62469" name="Picture 5">
            <a:extLst>
              <a:ext uri="{FF2B5EF4-FFF2-40B4-BE49-F238E27FC236}">
                <a16:creationId xmlns:a16="http://schemas.microsoft.com/office/drawing/2014/main" id="{AF333C4F-6658-1CE8-6ADA-F536C051E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524000"/>
            <a:ext cx="2133600" cy="192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9EFE67C-1DB9-4C60-4336-80838E2830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graphicFrame>
        <p:nvGraphicFramePr>
          <p:cNvPr id="118786" name="Object 2">
            <a:extLst>
              <a:ext uri="{FF2B5EF4-FFF2-40B4-BE49-F238E27FC236}">
                <a16:creationId xmlns:a16="http://schemas.microsoft.com/office/drawing/2014/main" id="{068D0B28-04BC-4F4F-E3FA-17382EC35B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1524000"/>
          <a:ext cx="217170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952129" imgH="533192" progId="MS_ClipArt_Gallery.2">
                  <p:embed/>
                </p:oleObj>
              </mc:Choice>
              <mc:Fallback>
                <p:oleObj name="Clip" r:id="rId3" imgW="952129" imgH="533192" progId="MS_ClipArt_Gallery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524000"/>
                        <a:ext cx="2171700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7" name="WordArt 3">
            <a:extLst>
              <a:ext uri="{FF2B5EF4-FFF2-40B4-BE49-F238E27FC236}">
                <a16:creationId xmlns:a16="http://schemas.microsoft.com/office/drawing/2014/main" id="{25B3AD4F-978A-09C4-45BA-41E76B58D0C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648200" y="304800"/>
            <a:ext cx="3962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Recursion</a:t>
            </a:r>
          </a:p>
        </p:txBody>
      </p:sp>
      <p:sp>
        <p:nvSpPr>
          <p:cNvPr id="118788" name="Text Box 4">
            <a:extLst>
              <a:ext uri="{FF2B5EF4-FFF2-40B4-BE49-F238E27FC236}">
                <a16:creationId xmlns:a16="http://schemas.microsoft.com/office/drawing/2014/main" id="{D6E0724C-3E0B-915A-358E-6723AFFD2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81000"/>
            <a:ext cx="7216775" cy="520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public class RecursionOne</a:t>
            </a:r>
          </a:p>
          <a:p>
            <a:r>
              <a:rPr lang="en-US" altLang="en-US"/>
              <a:t>{</a:t>
            </a:r>
          </a:p>
          <a:p>
            <a:r>
              <a:rPr lang="en-US" altLang="en-US"/>
              <a:t>   public void run(int x)</a:t>
            </a:r>
          </a:p>
          <a:p>
            <a:r>
              <a:rPr lang="en-US" altLang="en-US"/>
              <a:t>   {</a:t>
            </a:r>
          </a:p>
          <a:p>
            <a:r>
              <a:rPr lang="en-US" altLang="en-US"/>
              <a:t>      out.println(x);</a:t>
            </a:r>
          </a:p>
          <a:p>
            <a:r>
              <a:rPr lang="en-US" altLang="en-US"/>
              <a:t>      </a:t>
            </a:r>
            <a:r>
              <a:rPr lang="en-US" altLang="en-US">
                <a:solidFill>
                  <a:srgbClr val="FF0000"/>
                </a:solidFill>
              </a:rPr>
              <a:t>run(x+1);</a:t>
            </a:r>
          </a:p>
          <a:p>
            <a:r>
              <a:rPr lang="en-US" altLang="en-US"/>
              <a:t>   }</a:t>
            </a:r>
          </a:p>
          <a:p>
            <a:r>
              <a:rPr lang="en-US" altLang="en-US"/>
              <a:t>   public static void main(String args[]  )</a:t>
            </a:r>
          </a:p>
          <a:p>
            <a:r>
              <a:rPr lang="en-US" altLang="en-US"/>
              <a:t>   {</a:t>
            </a:r>
          </a:p>
          <a:p>
            <a:r>
              <a:rPr lang="en-US" altLang="en-US"/>
              <a:t>      RecursionOne test = new RecursionOne();</a:t>
            </a:r>
          </a:p>
          <a:p>
            <a:r>
              <a:rPr lang="en-US" altLang="en-US"/>
              <a:t>      test.run(1);</a:t>
            </a:r>
          </a:p>
          <a:p>
            <a:r>
              <a:rPr lang="en-US" altLang="en-US"/>
              <a:t>   }</a:t>
            </a:r>
          </a:p>
          <a:p>
            <a:r>
              <a:rPr lang="en-US" altLang="en-US"/>
              <a:t>}</a:t>
            </a:r>
          </a:p>
          <a:p>
            <a:endParaRPr lang="en-US" altLang="en-US"/>
          </a:p>
        </p:txBody>
      </p:sp>
      <p:sp>
        <p:nvSpPr>
          <p:cNvPr id="118790" name="Line 6">
            <a:extLst>
              <a:ext uri="{FF2B5EF4-FFF2-40B4-BE49-F238E27FC236}">
                <a16:creationId xmlns:a16="http://schemas.microsoft.com/office/drawing/2014/main" id="{02C95130-88B2-57F4-7A2F-DD173C7AB0B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14600" y="2438400"/>
            <a:ext cx="1219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1" name="Text Box 7">
            <a:extLst>
              <a:ext uri="{FF2B5EF4-FFF2-40B4-BE49-F238E27FC236}">
                <a16:creationId xmlns:a16="http://schemas.microsoft.com/office/drawing/2014/main" id="{5B10080F-FBF2-8273-E62F-7163C749A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2667000" cy="592138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rgbClr val="FF0000"/>
                </a:solidFill>
              </a:rPr>
              <a:t>Will it stop?</a:t>
            </a:r>
          </a:p>
        </p:txBody>
      </p:sp>
      <p:sp>
        <p:nvSpPr>
          <p:cNvPr id="118792" name="Text Box 8">
            <a:extLst>
              <a:ext uri="{FF2B5EF4-FFF2-40B4-BE49-F238E27FC236}">
                <a16:creationId xmlns:a16="http://schemas.microsoft.com/office/drawing/2014/main" id="{7F74E4C2-E7E5-12EA-97AE-10461361B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440238"/>
            <a:ext cx="1981200" cy="2303462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  <a:r>
              <a:rPr lang="en-US" altLang="en-US" sz="1600"/>
              <a:t>1</a:t>
            </a:r>
            <a:br>
              <a:rPr lang="en-US" altLang="en-US" sz="1600"/>
            </a:br>
            <a:r>
              <a:rPr lang="en-US" altLang="en-US" sz="1600"/>
              <a:t>2</a:t>
            </a:r>
            <a:br>
              <a:rPr lang="en-US" altLang="en-US" sz="1600"/>
            </a:br>
            <a:r>
              <a:rPr lang="en-US" altLang="en-US" sz="1600"/>
              <a:t>3</a:t>
            </a:r>
            <a:br>
              <a:rPr lang="en-US" altLang="en-US" sz="1600"/>
            </a:br>
            <a:r>
              <a:rPr lang="en-US" altLang="en-US" sz="1600"/>
              <a:t>4</a:t>
            </a:r>
            <a:br>
              <a:rPr lang="en-US" altLang="en-US" sz="1600"/>
            </a:br>
            <a:r>
              <a:rPr lang="en-US" altLang="en-US" sz="1600"/>
              <a:t>5</a:t>
            </a:r>
            <a:br>
              <a:rPr lang="en-US" altLang="en-US" sz="1600"/>
            </a:br>
            <a:r>
              <a:rPr lang="en-US" altLang="en-US" sz="1600"/>
              <a:t>. . . . .</a:t>
            </a:r>
            <a:br>
              <a:rPr lang="en-US" altLang="en-US" sz="1600"/>
            </a:br>
            <a:r>
              <a:rPr lang="en-US" altLang="en-US" sz="1600"/>
              <a:t>stack overflow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3BBEBDC-2D5C-C9E0-4550-12E9983386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36197" name="WordArt 5">
            <a:extLst>
              <a:ext uri="{FF2B5EF4-FFF2-40B4-BE49-F238E27FC236}">
                <a16:creationId xmlns:a16="http://schemas.microsoft.com/office/drawing/2014/main" id="{9B96C15B-5059-1182-15A7-20D4B52A579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676400"/>
            <a:ext cx="7696200" cy="3124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open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recursionone.java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0ADF725-A4B0-7C12-E24D-FA14E41E44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64514" name="Text Box 2">
            <a:extLst>
              <a:ext uri="{FF2B5EF4-FFF2-40B4-BE49-F238E27FC236}">
                <a16:creationId xmlns:a16="http://schemas.microsoft.com/office/drawing/2014/main" id="{E7D0DFD5-061B-F424-CD15-EC04FAC07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62200"/>
            <a:ext cx="7007225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solidFill>
                  <a:srgbClr val="000080"/>
                </a:solidFill>
              </a:rPr>
              <a:t>A recursive method must have a</a:t>
            </a:r>
          </a:p>
          <a:p>
            <a:r>
              <a:rPr lang="en-US" altLang="en-US" sz="3200">
                <a:solidFill>
                  <a:srgbClr val="000080"/>
                </a:solidFill>
              </a:rPr>
              <a:t>stop condition/ base case.</a:t>
            </a:r>
            <a:br>
              <a:rPr lang="en-US" altLang="en-US" sz="3200">
                <a:solidFill>
                  <a:srgbClr val="000080"/>
                </a:solidFill>
              </a:rPr>
            </a:br>
            <a:r>
              <a:rPr lang="en-US" altLang="en-US" sz="3200">
                <a:solidFill>
                  <a:srgbClr val="000080"/>
                </a:solidFill>
              </a:rPr>
              <a:t>  </a:t>
            </a:r>
            <a:br>
              <a:rPr lang="en-US" altLang="en-US" sz="3200">
                <a:solidFill>
                  <a:srgbClr val="000080"/>
                </a:solidFill>
              </a:rPr>
            </a:br>
            <a:r>
              <a:rPr lang="en-US" altLang="en-US" sz="3200">
                <a:solidFill>
                  <a:srgbClr val="000080"/>
                </a:solidFill>
              </a:rPr>
              <a:t>Recursive calls will continue until</a:t>
            </a:r>
          </a:p>
          <a:p>
            <a:r>
              <a:rPr lang="en-US" altLang="en-US" sz="3200">
                <a:solidFill>
                  <a:srgbClr val="000080"/>
                </a:solidFill>
              </a:rPr>
              <a:t>the stop condition is met.</a:t>
            </a:r>
          </a:p>
        </p:txBody>
      </p:sp>
      <p:sp>
        <p:nvSpPr>
          <p:cNvPr id="64515" name="WordArt 3">
            <a:extLst>
              <a:ext uri="{FF2B5EF4-FFF2-40B4-BE49-F238E27FC236}">
                <a16:creationId xmlns:a16="http://schemas.microsoft.com/office/drawing/2014/main" id="{D6BB3153-0151-C086-09A1-1D6C0339036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47800" y="533400"/>
            <a:ext cx="5410200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Base Case</a:t>
            </a:r>
          </a:p>
        </p:txBody>
      </p:sp>
      <p:pic>
        <p:nvPicPr>
          <p:cNvPr id="64516" name="Picture 4">
            <a:extLst>
              <a:ext uri="{FF2B5EF4-FFF2-40B4-BE49-F238E27FC236}">
                <a16:creationId xmlns:a16="http://schemas.microsoft.com/office/drawing/2014/main" id="{E6A8E3E7-F266-8F77-8FAA-87E29617F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876800"/>
            <a:ext cx="1357313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2DC2A0D-6F1D-C87A-FD3F-1B76CE620C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graphicFrame>
        <p:nvGraphicFramePr>
          <p:cNvPr id="119810" name="Object 2">
            <a:extLst>
              <a:ext uri="{FF2B5EF4-FFF2-40B4-BE49-F238E27FC236}">
                <a16:creationId xmlns:a16="http://schemas.microsoft.com/office/drawing/2014/main" id="{649B5575-7CAE-8C72-BB0A-7095EA06B2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72300" y="5486400"/>
          <a:ext cx="217170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952129" imgH="533192" progId="MS_ClipArt_Gallery.2">
                  <p:embed/>
                </p:oleObj>
              </mc:Choice>
              <mc:Fallback>
                <p:oleObj name="Clip" r:id="rId3" imgW="952129" imgH="533192" progId="MS_ClipArt_Gallery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2300" y="5486400"/>
                        <a:ext cx="2171700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1" name="WordArt 3">
            <a:extLst>
              <a:ext uri="{FF2B5EF4-FFF2-40B4-BE49-F238E27FC236}">
                <a16:creationId xmlns:a16="http://schemas.microsoft.com/office/drawing/2014/main" id="{1E885F39-D0A9-82BB-6932-5481E4327C9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648200" y="304800"/>
            <a:ext cx="3962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Recursion 2</a:t>
            </a:r>
          </a:p>
        </p:txBody>
      </p:sp>
      <p:sp>
        <p:nvSpPr>
          <p:cNvPr id="119812" name="Text Box 4">
            <a:extLst>
              <a:ext uri="{FF2B5EF4-FFF2-40B4-BE49-F238E27FC236}">
                <a16:creationId xmlns:a16="http://schemas.microsoft.com/office/drawing/2014/main" id="{FD7E1BA7-8105-6F68-CCDB-0B1F3B475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0"/>
            <a:ext cx="7289800" cy="520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public class RecursionTwo</a:t>
            </a:r>
          </a:p>
          <a:p>
            <a:r>
              <a:rPr lang="en-US" altLang="en-US"/>
              <a:t>{</a:t>
            </a:r>
          </a:p>
          <a:p>
            <a:r>
              <a:rPr lang="en-US" altLang="en-US"/>
              <a:t>   public void run(int x )</a:t>
            </a:r>
          </a:p>
          <a:p>
            <a:r>
              <a:rPr lang="en-US" altLang="en-US"/>
              <a:t>   {</a:t>
            </a:r>
          </a:p>
          <a:p>
            <a:r>
              <a:rPr lang="en-US" altLang="en-US"/>
              <a:t>      out.println(x);</a:t>
            </a:r>
          </a:p>
          <a:p>
            <a:r>
              <a:rPr lang="en-US" altLang="en-US">
                <a:solidFill>
                  <a:srgbClr val="FF0000"/>
                </a:solidFill>
              </a:rPr>
              <a:t>      if(x&lt;5)</a:t>
            </a:r>
          </a:p>
          <a:p>
            <a:r>
              <a:rPr lang="en-US" altLang="en-US"/>
              <a:t>         run(x+1);</a:t>
            </a:r>
          </a:p>
          <a:p>
            <a:r>
              <a:rPr lang="en-US" altLang="en-US"/>
              <a:t>   }</a:t>
            </a:r>
          </a:p>
          <a:p>
            <a:r>
              <a:rPr lang="en-US" altLang="en-US"/>
              <a:t>   public static void main(String args[]  )</a:t>
            </a:r>
          </a:p>
          <a:p>
            <a:r>
              <a:rPr lang="en-US" altLang="en-US"/>
              <a:t>   {</a:t>
            </a:r>
          </a:p>
          <a:p>
            <a:r>
              <a:rPr lang="en-US" altLang="en-US"/>
              <a:t>      RecursionTwo test = new RecursionTwo();</a:t>
            </a:r>
          </a:p>
          <a:p>
            <a:r>
              <a:rPr lang="en-US" altLang="en-US"/>
              <a:t>      test.run(1);</a:t>
            </a:r>
          </a:p>
          <a:p>
            <a:r>
              <a:rPr lang="en-US" altLang="en-US"/>
              <a:t>   }</a:t>
            </a:r>
          </a:p>
          <a:p>
            <a:r>
              <a:rPr lang="en-US" altLang="en-US"/>
              <a:t>}</a:t>
            </a:r>
          </a:p>
        </p:txBody>
      </p:sp>
      <p:sp>
        <p:nvSpPr>
          <p:cNvPr id="119814" name="Line 6">
            <a:extLst>
              <a:ext uri="{FF2B5EF4-FFF2-40B4-BE49-F238E27FC236}">
                <a16:creationId xmlns:a16="http://schemas.microsoft.com/office/drawing/2014/main" id="{87F4967F-608F-43CE-DF2B-B846243169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57400" y="2819400"/>
            <a:ext cx="1752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5" name="Text Box 7">
            <a:extLst>
              <a:ext uri="{FF2B5EF4-FFF2-40B4-BE49-F238E27FC236}">
                <a16:creationId xmlns:a16="http://schemas.microsoft.com/office/drawing/2014/main" id="{D816BF28-D663-AB07-A678-B6C9AB0F5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438400"/>
            <a:ext cx="2667000" cy="10795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rgbClr val="FF0000"/>
                </a:solidFill>
              </a:rPr>
              <a:t>base case</a:t>
            </a:r>
            <a:br>
              <a:rPr lang="en-US" altLang="en-US" sz="3200">
                <a:solidFill>
                  <a:srgbClr val="FF0000"/>
                </a:solidFill>
              </a:rPr>
            </a:br>
            <a:r>
              <a:rPr lang="en-US" altLang="en-US" sz="3200">
                <a:solidFill>
                  <a:srgbClr val="FF0000"/>
                </a:solidFill>
              </a:rPr>
              <a:t>It will stop!</a:t>
            </a:r>
          </a:p>
        </p:txBody>
      </p:sp>
      <p:sp>
        <p:nvSpPr>
          <p:cNvPr id="119816" name="Text Box 8">
            <a:extLst>
              <a:ext uri="{FF2B5EF4-FFF2-40B4-BE49-F238E27FC236}">
                <a16:creationId xmlns:a16="http://schemas.microsoft.com/office/drawing/2014/main" id="{263736D3-D4CD-7627-2458-5D6A298CB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600200"/>
            <a:ext cx="1981200" cy="24177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  <a:r>
              <a:rPr lang="en-US" altLang="en-US"/>
              <a:t>1</a:t>
            </a:r>
            <a:br>
              <a:rPr lang="en-US" altLang="en-US"/>
            </a:br>
            <a:r>
              <a:rPr lang="en-US" altLang="en-US"/>
              <a:t>2</a:t>
            </a:r>
            <a:br>
              <a:rPr lang="en-US" altLang="en-US"/>
            </a:br>
            <a:r>
              <a:rPr lang="en-US" altLang="en-US"/>
              <a:t>3</a:t>
            </a:r>
            <a:br>
              <a:rPr lang="en-US" altLang="en-US"/>
            </a:br>
            <a:r>
              <a:rPr lang="en-US" altLang="en-US"/>
              <a:t>4</a:t>
            </a:r>
            <a:br>
              <a:rPr lang="en-US" altLang="en-US"/>
            </a:br>
            <a:r>
              <a:rPr lang="en-US" altLang="en-US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5DD758E-6B0C-3874-FF54-133FC5644E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graphicFrame>
        <p:nvGraphicFramePr>
          <p:cNvPr id="132098" name="Object 2">
            <a:extLst>
              <a:ext uri="{FF2B5EF4-FFF2-40B4-BE49-F238E27FC236}">
                <a16:creationId xmlns:a16="http://schemas.microsoft.com/office/drawing/2014/main" id="{0EC6DE65-DDED-8A0F-0B0F-8EE801A048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72300" y="5257800"/>
          <a:ext cx="217170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952129" imgH="533192" progId="MS_ClipArt_Gallery.2">
                  <p:embed/>
                </p:oleObj>
              </mc:Choice>
              <mc:Fallback>
                <p:oleObj name="Clip" r:id="rId3" imgW="952129" imgH="533192" progId="MS_ClipArt_Gallery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2300" y="5257800"/>
                        <a:ext cx="2171700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099" name="WordArt 3">
            <a:extLst>
              <a:ext uri="{FF2B5EF4-FFF2-40B4-BE49-F238E27FC236}">
                <a16:creationId xmlns:a16="http://schemas.microsoft.com/office/drawing/2014/main" id="{21EF3B0A-C39D-5364-48BD-52FFE085B4C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648200" y="304800"/>
            <a:ext cx="3962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Recursion 3</a:t>
            </a:r>
          </a:p>
        </p:txBody>
      </p:sp>
      <p:sp>
        <p:nvSpPr>
          <p:cNvPr id="132100" name="Text Box 4">
            <a:extLst>
              <a:ext uri="{FF2B5EF4-FFF2-40B4-BE49-F238E27FC236}">
                <a16:creationId xmlns:a16="http://schemas.microsoft.com/office/drawing/2014/main" id="{48DFB5A5-60C0-7818-C55E-BD17F911B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90600"/>
            <a:ext cx="7835900" cy="556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public class RecursionThree</a:t>
            </a:r>
          </a:p>
          <a:p>
            <a:r>
              <a:rPr lang="en-US" altLang="en-US"/>
              <a:t>{</a:t>
            </a:r>
          </a:p>
          <a:p>
            <a:r>
              <a:rPr lang="en-US" altLang="en-US"/>
              <a:t>   public void run(int x )</a:t>
            </a:r>
          </a:p>
          <a:p>
            <a:r>
              <a:rPr lang="en-US" altLang="en-US"/>
              <a:t>   {</a:t>
            </a:r>
          </a:p>
          <a:p>
            <a:r>
              <a:rPr lang="en-US" altLang="en-US">
                <a:solidFill>
                  <a:srgbClr val="FF0000"/>
                </a:solidFill>
              </a:rPr>
              <a:t>      if(x&lt;5)</a:t>
            </a:r>
          </a:p>
          <a:p>
            <a:r>
              <a:rPr lang="en-US" altLang="en-US"/>
              <a:t>         run(x+1);</a:t>
            </a:r>
          </a:p>
          <a:p>
            <a:r>
              <a:rPr lang="en-US" altLang="en-US"/>
              <a:t>      out.println(x);</a:t>
            </a:r>
          </a:p>
          <a:p>
            <a:r>
              <a:rPr lang="en-US" altLang="en-US"/>
              <a:t>   }</a:t>
            </a:r>
          </a:p>
          <a:p>
            <a:r>
              <a:rPr lang="en-US" altLang="en-US"/>
              <a:t>   public static void main(String args[]  )</a:t>
            </a:r>
          </a:p>
          <a:p>
            <a:r>
              <a:rPr lang="en-US" altLang="en-US"/>
              <a:t>   {</a:t>
            </a:r>
          </a:p>
          <a:p>
            <a:r>
              <a:rPr lang="en-US" altLang="en-US"/>
              <a:t>      RecursionThree test = new RecursionThree ();</a:t>
            </a:r>
          </a:p>
          <a:p>
            <a:r>
              <a:rPr lang="en-US" altLang="en-US"/>
              <a:t>      test.run(1);</a:t>
            </a:r>
          </a:p>
          <a:p>
            <a:r>
              <a:rPr lang="en-US" altLang="en-US"/>
              <a:t>   }</a:t>
            </a:r>
          </a:p>
          <a:p>
            <a:r>
              <a:rPr lang="en-US" altLang="en-US"/>
              <a:t>}</a:t>
            </a:r>
          </a:p>
          <a:p>
            <a:endParaRPr lang="en-US" altLang="en-US"/>
          </a:p>
        </p:txBody>
      </p:sp>
      <p:sp>
        <p:nvSpPr>
          <p:cNvPr id="132102" name="Line 6">
            <a:extLst>
              <a:ext uri="{FF2B5EF4-FFF2-40B4-BE49-F238E27FC236}">
                <a16:creationId xmlns:a16="http://schemas.microsoft.com/office/drawing/2014/main" id="{5D78CB3A-42AE-034B-9A46-3006186631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743200"/>
            <a:ext cx="1219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3" name="Text Box 7">
            <a:extLst>
              <a:ext uri="{FF2B5EF4-FFF2-40B4-BE49-F238E27FC236}">
                <a16:creationId xmlns:a16="http://schemas.microsoft.com/office/drawing/2014/main" id="{FA608235-AC38-FE53-ADDB-5DFC5492C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438400"/>
            <a:ext cx="2362200" cy="592138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rgbClr val="FF0000"/>
                </a:solidFill>
              </a:rPr>
              <a:t>base case</a:t>
            </a:r>
          </a:p>
        </p:txBody>
      </p:sp>
      <p:sp>
        <p:nvSpPr>
          <p:cNvPr id="132104" name="Text Box 8">
            <a:extLst>
              <a:ext uri="{FF2B5EF4-FFF2-40B4-BE49-F238E27FC236}">
                <a16:creationId xmlns:a16="http://schemas.microsoft.com/office/drawing/2014/main" id="{23765975-CAE1-24C7-C185-9CE649DE9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371600"/>
            <a:ext cx="1981200" cy="24177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  <a:r>
              <a:rPr lang="en-US" altLang="en-US"/>
              <a:t>5</a:t>
            </a:r>
            <a:br>
              <a:rPr lang="en-US" altLang="en-US"/>
            </a:br>
            <a:r>
              <a:rPr lang="en-US" altLang="en-US"/>
              <a:t>4</a:t>
            </a:r>
            <a:br>
              <a:rPr lang="en-US" altLang="en-US"/>
            </a:br>
            <a:r>
              <a:rPr lang="en-US" altLang="en-US"/>
              <a:t>3</a:t>
            </a:r>
            <a:br>
              <a:rPr lang="en-US" altLang="en-US"/>
            </a:br>
            <a:r>
              <a:rPr lang="en-US" altLang="en-US"/>
              <a:t>2</a:t>
            </a:r>
            <a:br>
              <a:rPr lang="en-US" altLang="en-US"/>
            </a:br>
            <a:r>
              <a:rPr lang="en-US" altLang="en-US"/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F626086-B3EF-737E-9E06-183279233F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37218" name="WordArt 2">
            <a:extLst>
              <a:ext uri="{FF2B5EF4-FFF2-40B4-BE49-F238E27FC236}">
                <a16:creationId xmlns:a16="http://schemas.microsoft.com/office/drawing/2014/main" id="{05210236-89A7-9A59-097D-0903A656B9E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762000"/>
            <a:ext cx="7696200" cy="472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open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recursiontwo.java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recursionthree.java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FF051F8-1C83-4271-6058-3F7956B68B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68611" name="Text Box 3">
            <a:extLst>
              <a:ext uri="{FF2B5EF4-FFF2-40B4-BE49-F238E27FC236}">
                <a16:creationId xmlns:a16="http://schemas.microsoft.com/office/drawing/2014/main" id="{AF120A46-8ECF-E7A2-05D5-ED40D2C5A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48000"/>
            <a:ext cx="5653088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4000"/>
              <a:t>Recursion is basically</a:t>
            </a:r>
          </a:p>
          <a:p>
            <a:r>
              <a:rPr lang="en-US" altLang="en-US" sz="4000"/>
              <a:t>a loop that is created</a:t>
            </a:r>
          </a:p>
          <a:p>
            <a:r>
              <a:rPr lang="en-US" altLang="en-US" sz="4000"/>
              <a:t>using method calls.</a:t>
            </a:r>
            <a:endParaRPr lang="en-US" altLang="en-US" sz="3200"/>
          </a:p>
        </p:txBody>
      </p:sp>
      <p:sp>
        <p:nvSpPr>
          <p:cNvPr id="68612" name="WordArt 4">
            <a:extLst>
              <a:ext uri="{FF2B5EF4-FFF2-40B4-BE49-F238E27FC236}">
                <a16:creationId xmlns:a16="http://schemas.microsoft.com/office/drawing/2014/main" id="{01606BC4-47F3-EBE0-3D3D-EA1CC5373CD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533400"/>
            <a:ext cx="45720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Recursion</a:t>
            </a:r>
          </a:p>
        </p:txBody>
      </p:sp>
      <p:pic>
        <p:nvPicPr>
          <p:cNvPr id="68614" name="Picture 6">
            <a:extLst>
              <a:ext uri="{FF2B5EF4-FFF2-40B4-BE49-F238E27FC236}">
                <a16:creationId xmlns:a16="http://schemas.microsoft.com/office/drawing/2014/main" id="{04A86AD4-4D98-4387-DFC5-6589E56B6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524000"/>
            <a:ext cx="2133600" cy="192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93CC434-D347-B662-EC62-DBDC8D27E6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67589" name="WordArt 5">
            <a:extLst>
              <a:ext uri="{FF2B5EF4-FFF2-40B4-BE49-F238E27FC236}">
                <a16:creationId xmlns:a16="http://schemas.microsoft.com/office/drawing/2014/main" id="{FC47E973-9246-BFD2-1C2C-D496891791D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10000" y="685800"/>
            <a:ext cx="45720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do while</a:t>
            </a:r>
          </a:p>
        </p:txBody>
      </p:sp>
      <p:sp>
        <p:nvSpPr>
          <p:cNvPr id="67593" name="Rectangle 9">
            <a:extLst>
              <a:ext uri="{FF2B5EF4-FFF2-40B4-BE49-F238E27FC236}">
                <a16:creationId xmlns:a16="http://schemas.microsoft.com/office/drawing/2014/main" id="{03A6836F-0C0F-39D3-F9E8-29BBA344D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9388"/>
            <a:ext cx="6311900" cy="593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class DoWhile</a:t>
            </a:r>
          </a:p>
          <a:p>
            <a:r>
              <a:rPr lang="en-US" altLang="en-US"/>
              <a:t>{</a:t>
            </a:r>
          </a:p>
          <a:p>
            <a:r>
              <a:rPr lang="en-US" altLang="en-US"/>
              <a:t>   public void run( )</a:t>
            </a:r>
          </a:p>
          <a:p>
            <a:r>
              <a:rPr lang="en-US" altLang="en-US"/>
              <a:t>   {</a:t>
            </a:r>
          </a:p>
          <a:p>
            <a:r>
              <a:rPr lang="en-US" altLang="en-US"/>
              <a:t>      int x=0;</a:t>
            </a:r>
          </a:p>
          <a:p>
            <a:r>
              <a:rPr lang="en-US" altLang="en-US"/>
              <a:t>      do{</a:t>
            </a:r>
          </a:p>
          <a:p>
            <a:r>
              <a:rPr lang="en-US" altLang="en-US"/>
              <a:t>         x++;</a:t>
            </a:r>
          </a:p>
          <a:p>
            <a:r>
              <a:rPr lang="en-US" altLang="en-US"/>
              <a:t>         out.println(x);</a:t>
            </a:r>
          </a:p>
          <a:p>
            <a:r>
              <a:rPr lang="en-US" altLang="en-US"/>
              <a:t>      }</a:t>
            </a:r>
            <a:r>
              <a:rPr lang="en-US" altLang="en-US">
                <a:solidFill>
                  <a:srgbClr val="6600FF"/>
                </a:solidFill>
              </a:rPr>
              <a:t>while(x&lt;10)</a:t>
            </a:r>
            <a:r>
              <a:rPr lang="en-US" altLang="en-US"/>
              <a:t>;	</a:t>
            </a:r>
            <a:r>
              <a:rPr lang="en-US" altLang="en-US">
                <a:solidFill>
                  <a:srgbClr val="008000"/>
                </a:solidFill>
              </a:rPr>
              <a:t>//condition</a:t>
            </a:r>
          </a:p>
          <a:p>
            <a:r>
              <a:rPr lang="en-US" altLang="en-US"/>
              <a:t>   }</a:t>
            </a:r>
          </a:p>
          <a:p>
            <a:r>
              <a:rPr lang="en-US" altLang="en-US"/>
              <a:t>   public static void main(String args[]  )</a:t>
            </a:r>
          </a:p>
          <a:p>
            <a:r>
              <a:rPr lang="en-US" altLang="en-US"/>
              <a:t>   {</a:t>
            </a:r>
          </a:p>
          <a:p>
            <a:r>
              <a:rPr lang="en-US" altLang="en-US"/>
              <a:t>      DoWhile test = new DoWhile();</a:t>
            </a:r>
          </a:p>
          <a:p>
            <a:r>
              <a:rPr lang="en-US" altLang="en-US"/>
              <a:t>      test.run( );</a:t>
            </a:r>
          </a:p>
          <a:p>
            <a:r>
              <a:rPr lang="en-US" altLang="en-US"/>
              <a:t>   }</a:t>
            </a:r>
          </a:p>
          <a:p>
            <a:r>
              <a:rPr lang="en-US" altLang="en-US"/>
              <a:t>}</a:t>
            </a:r>
          </a:p>
        </p:txBody>
      </p:sp>
      <p:sp>
        <p:nvSpPr>
          <p:cNvPr id="67594" name="WordArt 10">
            <a:extLst>
              <a:ext uri="{FF2B5EF4-FFF2-40B4-BE49-F238E27FC236}">
                <a16:creationId xmlns:a16="http://schemas.microsoft.com/office/drawing/2014/main" id="{78B97AC7-BF7E-DB90-FEBA-93194306A7F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76400" y="5638800"/>
            <a:ext cx="5791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open dowhile.java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AFC02AD-3CE2-0505-9CF3-FCD25FA6E92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40962" name="Rectangle 1026">
            <a:extLst>
              <a:ext uri="{FF2B5EF4-FFF2-40B4-BE49-F238E27FC236}">
                <a16:creationId xmlns:a16="http://schemas.microsoft.com/office/drawing/2014/main" id="{1708B687-8C9B-41D5-A9A2-C9BB86CA1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057400"/>
            <a:ext cx="70104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3200"/>
              <a:t>When you call a method, an</a:t>
            </a:r>
          </a:p>
          <a:p>
            <a:r>
              <a:rPr lang="en-US" altLang="en-US" sz="3200"/>
              <a:t>activation record for that method call is put on the stack with spots for all parameters/arguments being passed.</a:t>
            </a:r>
          </a:p>
        </p:txBody>
      </p:sp>
      <p:sp>
        <p:nvSpPr>
          <p:cNvPr id="40968" name="WordArt 1032">
            <a:extLst>
              <a:ext uri="{FF2B5EF4-FFF2-40B4-BE49-F238E27FC236}">
                <a16:creationId xmlns:a16="http://schemas.microsoft.com/office/drawing/2014/main" id="{6D0F81F1-6CAF-E616-C836-19EE6E01778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19200" y="533400"/>
            <a:ext cx="6096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173392-1F1D-A6C8-07BF-8B6C2955B8E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30733" name="Rectangle 13">
            <a:extLst>
              <a:ext uri="{FF2B5EF4-FFF2-40B4-BE49-F238E27FC236}">
                <a16:creationId xmlns:a16="http://schemas.microsoft.com/office/drawing/2014/main" id="{F965A2E6-E38A-0EFE-3B9D-0799CA6BB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953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AR1- method() call</a:t>
            </a:r>
          </a:p>
        </p:txBody>
      </p:sp>
      <p:sp>
        <p:nvSpPr>
          <p:cNvPr id="30740" name="WordArt 20">
            <a:extLst>
              <a:ext uri="{FF2B5EF4-FFF2-40B4-BE49-F238E27FC236}">
                <a16:creationId xmlns:a16="http://schemas.microsoft.com/office/drawing/2014/main" id="{746F125B-F04E-740B-549D-06F31864E87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19200" y="533400"/>
            <a:ext cx="6096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760FC14-2BD6-C607-8948-6240C1180DC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AC1E56D-7C6C-720B-D436-9C5911D6F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953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AR1- method() call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DE9E860E-EDF1-C32D-A7E1-A111005CA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810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AR2- method() call</a:t>
            </a:r>
          </a:p>
        </p:txBody>
      </p:sp>
      <p:sp>
        <p:nvSpPr>
          <p:cNvPr id="89095" name="WordArt 7">
            <a:extLst>
              <a:ext uri="{FF2B5EF4-FFF2-40B4-BE49-F238E27FC236}">
                <a16:creationId xmlns:a16="http://schemas.microsoft.com/office/drawing/2014/main" id="{CC62C3B5-3717-819F-7084-FBD40E386E1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19200" y="533400"/>
            <a:ext cx="6096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6E599D4-B8AA-DE1F-0372-3049477206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0B7DC3F-CD49-12B3-097F-8FCD2105A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953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AR1- method() call</a:t>
            </a:r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E6578A99-7F81-E1B2-D962-750ACFE3B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810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AR2- method() call</a:t>
            </a:r>
          </a:p>
        </p:txBody>
      </p:sp>
      <p:sp>
        <p:nvSpPr>
          <p:cNvPr id="90117" name="Rectangle 5">
            <a:extLst>
              <a:ext uri="{FF2B5EF4-FFF2-40B4-BE49-F238E27FC236}">
                <a16:creationId xmlns:a16="http://schemas.microsoft.com/office/drawing/2014/main" id="{2D6FBF69-ABA7-311E-0574-6BFB29502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667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AR3- method() call</a:t>
            </a:r>
          </a:p>
        </p:txBody>
      </p:sp>
      <p:sp>
        <p:nvSpPr>
          <p:cNvPr id="90119" name="WordArt 7">
            <a:extLst>
              <a:ext uri="{FF2B5EF4-FFF2-40B4-BE49-F238E27FC236}">
                <a16:creationId xmlns:a16="http://schemas.microsoft.com/office/drawing/2014/main" id="{A3D58F71-9DDB-E8A6-6438-66FDC0054C7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19200" y="533400"/>
            <a:ext cx="6096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D073F0-0D45-A6C5-CFF1-6666866E89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66BFA2E5-8814-FC66-042F-9B62A4F2C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953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AR1- method() call</a:t>
            </a:r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980D0666-DDC3-6DB9-F6F3-9409A2B86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810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AR2- method() call</a:t>
            </a:r>
          </a:p>
        </p:txBody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id="{F5B58F3A-8FD3-B71E-497D-73442E2FE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667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AR3- method() call</a:t>
            </a:r>
          </a:p>
        </p:txBody>
      </p:sp>
      <p:sp>
        <p:nvSpPr>
          <p:cNvPr id="91142" name="Rectangle 6">
            <a:extLst>
              <a:ext uri="{FF2B5EF4-FFF2-40B4-BE49-F238E27FC236}">
                <a16:creationId xmlns:a16="http://schemas.microsoft.com/office/drawing/2014/main" id="{8A6908CA-7C21-47AE-0296-7F50EF1FB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524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AR4- method() call</a:t>
            </a:r>
          </a:p>
        </p:txBody>
      </p:sp>
      <p:sp>
        <p:nvSpPr>
          <p:cNvPr id="91143" name="WordArt 7">
            <a:extLst>
              <a:ext uri="{FF2B5EF4-FFF2-40B4-BE49-F238E27FC236}">
                <a16:creationId xmlns:a16="http://schemas.microsoft.com/office/drawing/2014/main" id="{0782F47B-7FD2-AF04-B41D-4241C08471F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19200" y="533400"/>
            <a:ext cx="6096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33856A4-0B43-0DE5-0BCD-D342A77342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A93F5AD-8383-7E97-B4E7-36826AD9E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953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AR1- method() call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F6050E62-91C5-3299-C8B6-19A528417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810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AR2- method() call</a:t>
            </a:r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C4EFD0CA-1D60-351A-A34B-762D59395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667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AR3- method() call</a:t>
            </a:r>
          </a:p>
        </p:txBody>
      </p:sp>
      <p:sp>
        <p:nvSpPr>
          <p:cNvPr id="92166" name="WordArt 6">
            <a:extLst>
              <a:ext uri="{FF2B5EF4-FFF2-40B4-BE49-F238E27FC236}">
                <a16:creationId xmlns:a16="http://schemas.microsoft.com/office/drawing/2014/main" id="{5F68232E-02D0-5441-4BFF-C6D9996553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19200" y="533400"/>
            <a:ext cx="6096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3A49A61-F357-EE50-9EF2-14C425B17E3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937D3975-FB83-21D5-A852-53959075B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953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AR1- method() call</a:t>
            </a:r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id="{69E06127-15ED-E41D-9317-63F930F78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810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AR2- method() call</a:t>
            </a:r>
          </a:p>
        </p:txBody>
      </p:sp>
      <p:sp>
        <p:nvSpPr>
          <p:cNvPr id="93189" name="WordArt 5">
            <a:extLst>
              <a:ext uri="{FF2B5EF4-FFF2-40B4-BE49-F238E27FC236}">
                <a16:creationId xmlns:a16="http://schemas.microsoft.com/office/drawing/2014/main" id="{F019E460-6802-D11D-2621-3414FB53EC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19200" y="533400"/>
            <a:ext cx="6096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F8D85F9-1BB5-1D7F-F710-239B2129FF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2470D78F-FF22-6CEB-9D1D-7EF3E541B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953000"/>
            <a:ext cx="4114800" cy="1143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/>
              <a:t>AR1- method() call</a:t>
            </a:r>
          </a:p>
        </p:txBody>
      </p:sp>
      <p:sp>
        <p:nvSpPr>
          <p:cNvPr id="94212" name="Text Box 4">
            <a:extLst>
              <a:ext uri="{FF2B5EF4-FFF2-40B4-BE49-F238E27FC236}">
                <a16:creationId xmlns:a16="http://schemas.microsoft.com/office/drawing/2014/main" id="{42C3D58A-7F94-666C-94E6-0AB6817B5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752600"/>
            <a:ext cx="64770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/>
              <a:t>As each call to the method completes, the instance of </a:t>
            </a:r>
            <a:br>
              <a:rPr lang="en-US" altLang="en-US" sz="3200"/>
            </a:br>
            <a:r>
              <a:rPr lang="en-US" altLang="en-US" sz="3200"/>
              <a:t>that method is removed from</a:t>
            </a:r>
            <a:br>
              <a:rPr lang="en-US" altLang="en-US" sz="3200"/>
            </a:br>
            <a:r>
              <a:rPr lang="en-US" altLang="en-US" sz="3200"/>
              <a:t>the stack.</a:t>
            </a:r>
          </a:p>
        </p:txBody>
      </p:sp>
      <p:sp>
        <p:nvSpPr>
          <p:cNvPr id="94214" name="WordArt 6">
            <a:extLst>
              <a:ext uri="{FF2B5EF4-FFF2-40B4-BE49-F238E27FC236}">
                <a16:creationId xmlns:a16="http://schemas.microsoft.com/office/drawing/2014/main" id="{80FA2615-845E-E1EF-2FFC-8D8504F014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19200" y="533400"/>
            <a:ext cx="6096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82499B7-70CA-9139-D480-007EE39CC8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graphicFrame>
        <p:nvGraphicFramePr>
          <p:cNvPr id="134146" name="Object 2">
            <a:extLst>
              <a:ext uri="{FF2B5EF4-FFF2-40B4-BE49-F238E27FC236}">
                <a16:creationId xmlns:a16="http://schemas.microsoft.com/office/drawing/2014/main" id="{BDA43E3C-8E72-5C1E-88E5-2772239610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5257800"/>
          <a:ext cx="217170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952129" imgH="533192" progId="MS_ClipArt_Gallery.2">
                  <p:embed/>
                </p:oleObj>
              </mc:Choice>
              <mc:Fallback>
                <p:oleObj name="Clip" r:id="rId3" imgW="952129" imgH="533192" progId="MS_ClipArt_Gallery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257800"/>
                        <a:ext cx="2171700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47" name="WordArt 3">
            <a:extLst>
              <a:ext uri="{FF2B5EF4-FFF2-40B4-BE49-F238E27FC236}">
                <a16:creationId xmlns:a16="http://schemas.microsoft.com/office/drawing/2014/main" id="{16DB9BE6-9C1C-80C1-BD4C-A239445633F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648200" y="304800"/>
            <a:ext cx="3962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Recursion 2</a:t>
            </a:r>
          </a:p>
        </p:txBody>
      </p:sp>
      <p:sp>
        <p:nvSpPr>
          <p:cNvPr id="134148" name="Text Box 4">
            <a:extLst>
              <a:ext uri="{FF2B5EF4-FFF2-40B4-BE49-F238E27FC236}">
                <a16:creationId xmlns:a16="http://schemas.microsoft.com/office/drawing/2014/main" id="{66EAE0C7-EC5A-AE0B-61A7-147410BAD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88988"/>
            <a:ext cx="7289800" cy="556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public class RecursionTwo</a:t>
            </a:r>
          </a:p>
          <a:p>
            <a:r>
              <a:rPr lang="en-US" altLang="en-US"/>
              <a:t>{</a:t>
            </a:r>
          </a:p>
          <a:p>
            <a:r>
              <a:rPr lang="en-US" altLang="en-US"/>
              <a:t>   public void run(int x )</a:t>
            </a:r>
          </a:p>
          <a:p>
            <a:r>
              <a:rPr lang="en-US" altLang="en-US"/>
              <a:t>   {</a:t>
            </a:r>
          </a:p>
          <a:p>
            <a:r>
              <a:rPr lang="en-US" altLang="en-US">
                <a:solidFill>
                  <a:srgbClr val="000080"/>
                </a:solidFill>
              </a:rPr>
              <a:t>      out.println(x);</a:t>
            </a:r>
          </a:p>
          <a:p>
            <a:r>
              <a:rPr lang="en-US" altLang="en-US">
                <a:solidFill>
                  <a:srgbClr val="FF0000"/>
                </a:solidFill>
              </a:rPr>
              <a:t>      if(x&lt;5)</a:t>
            </a:r>
          </a:p>
          <a:p>
            <a:r>
              <a:rPr lang="en-US" altLang="en-US">
                <a:solidFill>
                  <a:srgbClr val="000080"/>
                </a:solidFill>
              </a:rPr>
              <a:t>         run(x+1);</a:t>
            </a:r>
          </a:p>
          <a:p>
            <a:r>
              <a:rPr lang="en-US" altLang="en-US"/>
              <a:t>   }</a:t>
            </a:r>
          </a:p>
          <a:p>
            <a:r>
              <a:rPr lang="en-US" altLang="en-US"/>
              <a:t>   public static void main(String args[]  )</a:t>
            </a:r>
          </a:p>
          <a:p>
            <a:r>
              <a:rPr lang="en-US" altLang="en-US"/>
              <a:t>   {</a:t>
            </a:r>
          </a:p>
          <a:p>
            <a:r>
              <a:rPr lang="en-US" altLang="en-US"/>
              <a:t>      RecursionTwo test = new RecursionTwo();</a:t>
            </a:r>
          </a:p>
          <a:p>
            <a:r>
              <a:rPr lang="en-US" altLang="en-US"/>
              <a:t>      test.run(1);</a:t>
            </a:r>
          </a:p>
          <a:p>
            <a:r>
              <a:rPr lang="en-US" altLang="en-US"/>
              <a:t>   }</a:t>
            </a:r>
          </a:p>
          <a:p>
            <a:r>
              <a:rPr lang="en-US" altLang="en-US"/>
              <a:t>}</a:t>
            </a:r>
          </a:p>
          <a:p>
            <a:endParaRPr lang="en-US" altLang="en-US"/>
          </a:p>
        </p:txBody>
      </p:sp>
      <p:sp>
        <p:nvSpPr>
          <p:cNvPr id="134150" name="Line 6">
            <a:extLst>
              <a:ext uri="{FF2B5EF4-FFF2-40B4-BE49-F238E27FC236}">
                <a16:creationId xmlns:a16="http://schemas.microsoft.com/office/drawing/2014/main" id="{D1294CFC-69A7-C79A-9631-BF99BD4386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14600" y="2895600"/>
            <a:ext cx="1219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1" name="Text Box 7">
            <a:extLst>
              <a:ext uri="{FF2B5EF4-FFF2-40B4-BE49-F238E27FC236}">
                <a16:creationId xmlns:a16="http://schemas.microsoft.com/office/drawing/2014/main" id="{E533660D-D0D9-96B9-DCBE-ABABBAEA4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438400"/>
            <a:ext cx="2667000" cy="10795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rgbClr val="FF0000"/>
                </a:solidFill>
              </a:rPr>
              <a:t>base case</a:t>
            </a:r>
            <a:br>
              <a:rPr lang="en-US" altLang="en-US" sz="3200">
                <a:solidFill>
                  <a:srgbClr val="FF0000"/>
                </a:solidFill>
              </a:rPr>
            </a:br>
            <a:r>
              <a:rPr lang="en-US" altLang="en-US" sz="3200">
                <a:solidFill>
                  <a:srgbClr val="FF0000"/>
                </a:solidFill>
              </a:rPr>
              <a:t>It will stop!</a:t>
            </a:r>
          </a:p>
        </p:txBody>
      </p:sp>
      <p:sp>
        <p:nvSpPr>
          <p:cNvPr id="134152" name="Text Box 8">
            <a:extLst>
              <a:ext uri="{FF2B5EF4-FFF2-40B4-BE49-F238E27FC236}">
                <a16:creationId xmlns:a16="http://schemas.microsoft.com/office/drawing/2014/main" id="{07A64CAB-A50F-4F4F-3648-3DE893D61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447800"/>
            <a:ext cx="1981200" cy="24177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  <a:r>
              <a:rPr lang="en-US" altLang="en-US"/>
              <a:t>1</a:t>
            </a:r>
            <a:br>
              <a:rPr lang="en-US" altLang="en-US"/>
            </a:br>
            <a:r>
              <a:rPr lang="en-US" altLang="en-US"/>
              <a:t>2</a:t>
            </a:r>
            <a:br>
              <a:rPr lang="en-US" altLang="en-US"/>
            </a:br>
            <a:r>
              <a:rPr lang="en-US" altLang="en-US"/>
              <a:t>3</a:t>
            </a:r>
            <a:br>
              <a:rPr lang="en-US" altLang="en-US"/>
            </a:br>
            <a:r>
              <a:rPr lang="en-US" altLang="en-US"/>
              <a:t>4</a:t>
            </a:r>
            <a:br>
              <a:rPr lang="en-US" altLang="en-US"/>
            </a:br>
            <a:r>
              <a:rPr lang="en-US" altLang="en-US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86D4697-F2D2-B12E-5458-083D24B71B0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graphicFrame>
        <p:nvGraphicFramePr>
          <p:cNvPr id="133122" name="Object 2">
            <a:extLst>
              <a:ext uri="{FF2B5EF4-FFF2-40B4-BE49-F238E27FC236}">
                <a16:creationId xmlns:a16="http://schemas.microsoft.com/office/drawing/2014/main" id="{E02997A8-1C0A-C437-51CF-A3C9F0C364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0" y="5556250"/>
          <a:ext cx="1638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952129" imgH="533192" progId="MS_ClipArt_Gallery.2">
                  <p:embed/>
                </p:oleObj>
              </mc:Choice>
              <mc:Fallback>
                <p:oleObj name="Clip" r:id="rId3" imgW="952129" imgH="533192" progId="MS_ClipArt_Gallery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556250"/>
                        <a:ext cx="1638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3" name="WordArt 3">
            <a:extLst>
              <a:ext uri="{FF2B5EF4-FFF2-40B4-BE49-F238E27FC236}">
                <a16:creationId xmlns:a16="http://schemas.microsoft.com/office/drawing/2014/main" id="{2DA3B1EB-2E08-9943-A471-6A225F3A1E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953000" y="304800"/>
            <a:ext cx="3962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Recursion 3</a:t>
            </a:r>
          </a:p>
        </p:txBody>
      </p:sp>
      <p:sp>
        <p:nvSpPr>
          <p:cNvPr id="133124" name="Text Box 4">
            <a:extLst>
              <a:ext uri="{FF2B5EF4-FFF2-40B4-BE49-F238E27FC236}">
                <a16:creationId xmlns:a16="http://schemas.microsoft.com/office/drawing/2014/main" id="{B9FE88CC-117A-15DD-F7A3-33E4865B0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7747000" cy="556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public class RecursionThree</a:t>
            </a:r>
          </a:p>
          <a:p>
            <a:r>
              <a:rPr lang="en-US" altLang="en-US"/>
              <a:t>{</a:t>
            </a:r>
          </a:p>
          <a:p>
            <a:r>
              <a:rPr lang="en-US" altLang="en-US"/>
              <a:t>   public void run(int x )</a:t>
            </a:r>
          </a:p>
          <a:p>
            <a:r>
              <a:rPr lang="en-US" altLang="en-US"/>
              <a:t>   {</a:t>
            </a:r>
          </a:p>
          <a:p>
            <a:r>
              <a:rPr lang="en-US" altLang="en-US">
                <a:solidFill>
                  <a:srgbClr val="FF0000"/>
                </a:solidFill>
              </a:rPr>
              <a:t>      if(x&lt;5)</a:t>
            </a:r>
          </a:p>
          <a:p>
            <a:r>
              <a:rPr lang="en-US" altLang="en-US">
                <a:solidFill>
                  <a:srgbClr val="000080"/>
                </a:solidFill>
              </a:rPr>
              <a:t>         run(x+1);</a:t>
            </a:r>
          </a:p>
          <a:p>
            <a:r>
              <a:rPr lang="en-US" altLang="en-US">
                <a:solidFill>
                  <a:srgbClr val="000080"/>
                </a:solidFill>
              </a:rPr>
              <a:t>      out.println(x);</a:t>
            </a:r>
          </a:p>
          <a:p>
            <a:r>
              <a:rPr lang="en-US" altLang="en-US"/>
              <a:t>   }</a:t>
            </a:r>
          </a:p>
          <a:p>
            <a:r>
              <a:rPr lang="en-US" altLang="en-US"/>
              <a:t>   public static void main(String args[]  )</a:t>
            </a:r>
          </a:p>
          <a:p>
            <a:r>
              <a:rPr lang="en-US" altLang="en-US"/>
              <a:t>   {</a:t>
            </a:r>
          </a:p>
          <a:p>
            <a:r>
              <a:rPr lang="en-US" altLang="en-US"/>
              <a:t>      RecursionThree test = new RecursionThree();</a:t>
            </a:r>
          </a:p>
          <a:p>
            <a:r>
              <a:rPr lang="en-US" altLang="en-US"/>
              <a:t>      test.run(1);</a:t>
            </a:r>
          </a:p>
          <a:p>
            <a:r>
              <a:rPr lang="en-US" altLang="en-US"/>
              <a:t>   }</a:t>
            </a:r>
          </a:p>
          <a:p>
            <a:r>
              <a:rPr lang="en-US" altLang="en-US"/>
              <a:t>}</a:t>
            </a:r>
          </a:p>
          <a:p>
            <a:endParaRPr lang="en-US" altLang="en-US"/>
          </a:p>
        </p:txBody>
      </p:sp>
      <p:sp>
        <p:nvSpPr>
          <p:cNvPr id="133126" name="Line 6">
            <a:extLst>
              <a:ext uri="{FF2B5EF4-FFF2-40B4-BE49-F238E27FC236}">
                <a16:creationId xmlns:a16="http://schemas.microsoft.com/office/drawing/2014/main" id="{19BFF6BF-CFFE-D890-4D24-7FA36267202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3600" y="2209800"/>
            <a:ext cx="1219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27" name="Text Box 7">
            <a:extLst>
              <a:ext uri="{FF2B5EF4-FFF2-40B4-BE49-F238E27FC236}">
                <a16:creationId xmlns:a16="http://schemas.microsoft.com/office/drawing/2014/main" id="{C8C99D92-A463-9615-BCF6-CED9C4BF8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905000"/>
            <a:ext cx="2362200" cy="592138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rgbClr val="FF0000"/>
                </a:solidFill>
              </a:rPr>
              <a:t>base case</a:t>
            </a:r>
          </a:p>
        </p:txBody>
      </p:sp>
      <p:sp>
        <p:nvSpPr>
          <p:cNvPr id="133128" name="Text Box 8">
            <a:extLst>
              <a:ext uri="{FF2B5EF4-FFF2-40B4-BE49-F238E27FC236}">
                <a16:creationId xmlns:a16="http://schemas.microsoft.com/office/drawing/2014/main" id="{2691F542-5A8B-CA32-EA54-476ACC270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295400"/>
            <a:ext cx="1981200" cy="24177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  <a:r>
              <a:rPr lang="en-US" altLang="en-US"/>
              <a:t>5</a:t>
            </a:r>
            <a:br>
              <a:rPr lang="en-US" altLang="en-US"/>
            </a:br>
            <a:r>
              <a:rPr lang="en-US" altLang="en-US"/>
              <a:t>4</a:t>
            </a:r>
            <a:br>
              <a:rPr lang="en-US" altLang="en-US"/>
            </a:br>
            <a:r>
              <a:rPr lang="en-US" altLang="en-US"/>
              <a:t>3</a:t>
            </a:r>
            <a:br>
              <a:rPr lang="en-US" altLang="en-US"/>
            </a:br>
            <a:r>
              <a:rPr lang="en-US" altLang="en-US"/>
              <a:t>2</a:t>
            </a:r>
            <a:br>
              <a:rPr lang="en-US" altLang="en-US"/>
            </a:br>
            <a:r>
              <a:rPr lang="en-US" altLang="en-US"/>
              <a:t>1</a:t>
            </a:r>
          </a:p>
        </p:txBody>
      </p:sp>
      <p:sp>
        <p:nvSpPr>
          <p:cNvPr id="133129" name="Text Box 9">
            <a:extLst>
              <a:ext uri="{FF2B5EF4-FFF2-40B4-BE49-F238E27FC236}">
                <a16:creationId xmlns:a16="http://schemas.microsoft.com/office/drawing/2014/main" id="{1DB79698-2AA6-9BBC-18D0-E4A1FB525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791200"/>
            <a:ext cx="6477000" cy="46990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accent2"/>
                </a:solidFill>
              </a:rPr>
              <a:t>Why does this output differ from recur2?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6F133FF-4418-9DF0-4B28-D3229C710E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71682" name="WordArt 2">
            <a:extLst>
              <a:ext uri="{FF2B5EF4-FFF2-40B4-BE49-F238E27FC236}">
                <a16:creationId xmlns:a16="http://schemas.microsoft.com/office/drawing/2014/main" id="{2A9412E1-DF5E-4DF2-5273-D50F943166C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7200" y="304800"/>
            <a:ext cx="80772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Tracing Recursive Code</a:t>
            </a:r>
          </a:p>
        </p:txBody>
      </p:sp>
      <p:sp>
        <p:nvSpPr>
          <p:cNvPr id="71683" name="Text Box 3">
            <a:extLst>
              <a:ext uri="{FF2B5EF4-FFF2-40B4-BE49-F238E27FC236}">
                <a16:creationId xmlns:a16="http://schemas.microsoft.com/office/drawing/2014/main" id="{11624CBB-91CA-20B4-D4CD-657C11948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752600"/>
            <a:ext cx="4090988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int fun(int y)</a:t>
            </a:r>
          </a:p>
          <a:p>
            <a:r>
              <a:rPr lang="en-US" altLang="en-US"/>
              <a:t>{</a:t>
            </a:r>
          </a:p>
          <a:p>
            <a:r>
              <a:rPr lang="en-US" altLang="en-US"/>
              <a:t>   if(y&lt;=1)</a:t>
            </a:r>
          </a:p>
          <a:p>
            <a:r>
              <a:rPr lang="en-US" altLang="en-US"/>
              <a:t>      return 1;</a:t>
            </a:r>
          </a:p>
          <a:p>
            <a:r>
              <a:rPr lang="en-US" altLang="en-US"/>
              <a:t>   else</a:t>
            </a:r>
          </a:p>
          <a:p>
            <a:r>
              <a:rPr lang="en-US" altLang="en-US"/>
              <a:t>      return fun(y-2) + y;</a:t>
            </a:r>
          </a:p>
          <a:p>
            <a:r>
              <a:rPr lang="en-US" altLang="en-US"/>
              <a:t>}</a:t>
            </a:r>
          </a:p>
          <a:p>
            <a:endParaRPr lang="en-US" altLang="en-US"/>
          </a:p>
          <a:p>
            <a:r>
              <a:rPr lang="en-US" altLang="en-US">
                <a:solidFill>
                  <a:srgbClr val="008000"/>
                </a:solidFill>
              </a:rPr>
              <a:t>//test code in client class</a:t>
            </a:r>
          </a:p>
          <a:p>
            <a:r>
              <a:rPr lang="en-US" altLang="en-US"/>
              <a:t>out.println(test.fun(5));</a:t>
            </a:r>
          </a:p>
        </p:txBody>
      </p:sp>
      <p:sp>
        <p:nvSpPr>
          <p:cNvPr id="71684" name="Text Box 4">
            <a:extLst>
              <a:ext uri="{FF2B5EF4-FFF2-40B4-BE49-F238E27FC236}">
                <a16:creationId xmlns:a16="http://schemas.microsoft.com/office/drawing/2014/main" id="{D0592AA6-6FDE-AB13-6F3C-25CDB1C10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447800"/>
            <a:ext cx="3027363" cy="459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AR3</a:t>
            </a:r>
          </a:p>
          <a:p>
            <a:r>
              <a:rPr lang="en-US" altLang="en-US">
                <a:latin typeface="Tahoma" panose="020B0604030504040204" pitchFamily="34" charset="0"/>
              </a:rPr>
              <a:t>y</a:t>
            </a:r>
          </a:p>
          <a:p>
            <a:r>
              <a:rPr lang="en-US" altLang="en-US">
                <a:latin typeface="Tahoma" panose="020B0604030504040204" pitchFamily="34" charset="0"/>
              </a:rPr>
              <a:t>1   return 1</a:t>
            </a:r>
          </a:p>
          <a:p>
            <a:endParaRPr lang="en-US" altLang="en-US">
              <a:latin typeface="Tahoma" panose="020B0604030504040204" pitchFamily="34" charset="0"/>
            </a:endParaRPr>
          </a:p>
          <a:p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AR2</a:t>
            </a:r>
          </a:p>
          <a:p>
            <a:r>
              <a:rPr lang="en-US" altLang="en-US">
                <a:latin typeface="Tahoma" panose="020B0604030504040204" pitchFamily="34" charset="0"/>
              </a:rPr>
              <a:t>y</a:t>
            </a:r>
          </a:p>
          <a:p>
            <a:r>
              <a:rPr lang="en-US" altLang="en-US">
                <a:latin typeface="Tahoma" panose="020B0604030504040204" pitchFamily="34" charset="0"/>
              </a:rPr>
              <a:t>3   return AR3  + 3</a:t>
            </a:r>
          </a:p>
          <a:p>
            <a:pPr>
              <a:buFontTx/>
              <a:buChar char="•"/>
            </a:pPr>
            <a:endParaRPr lang="en-US" altLang="en-US">
              <a:latin typeface="Tahoma" panose="020B0604030504040204" pitchFamily="34" charset="0"/>
            </a:endParaRPr>
          </a:p>
          <a:p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AR1</a:t>
            </a:r>
          </a:p>
          <a:p>
            <a:r>
              <a:rPr lang="en-US" altLang="en-US">
                <a:latin typeface="Tahoma" panose="020B0604030504040204" pitchFamily="34" charset="0"/>
              </a:rPr>
              <a:t>y</a:t>
            </a:r>
          </a:p>
          <a:p>
            <a:r>
              <a:rPr lang="en-US" altLang="en-US">
                <a:latin typeface="Tahoma" panose="020B0604030504040204" pitchFamily="34" charset="0"/>
              </a:rPr>
              <a:t>5   return AR2  + 5</a:t>
            </a:r>
            <a:br>
              <a:rPr lang="en-US" altLang="en-US" sz="3200">
                <a:latin typeface="Tahoma" panose="020B0604030504040204" pitchFamily="34" charset="0"/>
              </a:rPr>
            </a:br>
            <a:endParaRPr lang="en-US" altLang="en-US" sz="3200">
              <a:latin typeface="Tahoma" panose="020B0604030504040204" pitchFamily="34" charset="0"/>
            </a:endParaRPr>
          </a:p>
        </p:txBody>
      </p:sp>
      <p:sp>
        <p:nvSpPr>
          <p:cNvPr id="71685" name="Line 5">
            <a:extLst>
              <a:ext uri="{FF2B5EF4-FFF2-40B4-BE49-F238E27FC236}">
                <a16:creationId xmlns:a16="http://schemas.microsoft.com/office/drawing/2014/main" id="{8CBAF50F-7F0B-7CAE-88AA-1A7399A300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4038600"/>
            <a:ext cx="1066800" cy="11430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6" name="Line 6">
            <a:extLst>
              <a:ext uri="{FF2B5EF4-FFF2-40B4-BE49-F238E27FC236}">
                <a16:creationId xmlns:a16="http://schemas.microsoft.com/office/drawing/2014/main" id="{0D6C05FF-2F28-D5D3-4E71-B5B322D975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590800"/>
            <a:ext cx="76200" cy="9906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7" name="Text Box 7">
            <a:extLst>
              <a:ext uri="{FF2B5EF4-FFF2-40B4-BE49-F238E27FC236}">
                <a16:creationId xmlns:a16="http://schemas.microsoft.com/office/drawing/2014/main" id="{7D3F53BB-814D-DCA7-AD78-F080B982A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581400"/>
            <a:ext cx="4429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solidFill>
                  <a:srgbClr val="339933"/>
                </a:solidFill>
              </a:rPr>
              <a:t>4</a:t>
            </a:r>
          </a:p>
        </p:txBody>
      </p:sp>
      <p:sp>
        <p:nvSpPr>
          <p:cNvPr id="71688" name="Text Box 8">
            <a:extLst>
              <a:ext uri="{FF2B5EF4-FFF2-40B4-BE49-F238E27FC236}">
                <a16:creationId xmlns:a16="http://schemas.microsoft.com/office/drawing/2014/main" id="{DB225DA0-7EA9-484F-763A-CBC837F98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486400"/>
            <a:ext cx="561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solidFill>
                  <a:srgbClr val="339933"/>
                </a:solidFill>
              </a:rPr>
              <a:t> 9</a:t>
            </a:r>
          </a:p>
        </p:txBody>
      </p:sp>
      <p:sp>
        <p:nvSpPr>
          <p:cNvPr id="71690" name="Line 10">
            <a:extLst>
              <a:ext uri="{FF2B5EF4-FFF2-40B4-BE49-F238E27FC236}">
                <a16:creationId xmlns:a16="http://schemas.microsoft.com/office/drawing/2014/main" id="{B3B8F8BD-4923-18A1-32A9-6834F8398E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86200" y="5410200"/>
            <a:ext cx="2971800" cy="3810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1" name="Rectangle 11">
            <a:extLst>
              <a:ext uri="{FF2B5EF4-FFF2-40B4-BE49-F238E27FC236}">
                <a16:creationId xmlns:a16="http://schemas.microsoft.com/office/drawing/2014/main" id="{CEA2A048-227D-40EB-763C-D90030E90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524000"/>
            <a:ext cx="3581400" cy="11430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2" name="Rectangle 12">
            <a:extLst>
              <a:ext uri="{FF2B5EF4-FFF2-40B4-BE49-F238E27FC236}">
                <a16:creationId xmlns:a16="http://schemas.microsoft.com/office/drawing/2014/main" id="{C05EAE3B-6012-58B5-69E3-BD1C9E5C7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971800"/>
            <a:ext cx="3581400" cy="11430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3" name="Rectangle 13">
            <a:extLst>
              <a:ext uri="{FF2B5EF4-FFF2-40B4-BE49-F238E27FC236}">
                <a16:creationId xmlns:a16="http://schemas.microsoft.com/office/drawing/2014/main" id="{6341F5D6-8564-AD42-6FD7-EAEDB7A91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343400"/>
            <a:ext cx="3581400" cy="11430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6DF8F56-A89A-D8C6-C173-B2F0E912F4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00355" name="Text Box 3">
            <a:extLst>
              <a:ext uri="{FF2B5EF4-FFF2-40B4-BE49-F238E27FC236}">
                <a16:creationId xmlns:a16="http://schemas.microsoft.com/office/drawing/2014/main" id="{C5CF343D-3D7C-9B74-7677-1854A2B8C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52600"/>
            <a:ext cx="43211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int fun( int x, int y)</a:t>
            </a:r>
          </a:p>
          <a:p>
            <a:r>
              <a:rPr lang="en-US" altLang="en-US"/>
              <a:t>{</a:t>
            </a:r>
          </a:p>
          <a:p>
            <a:r>
              <a:rPr lang="en-US" altLang="en-US"/>
              <a:t>  if( y &lt; 1)</a:t>
            </a:r>
          </a:p>
          <a:p>
            <a:r>
              <a:rPr lang="en-US" altLang="en-US"/>
              <a:t>     return x;</a:t>
            </a:r>
          </a:p>
          <a:p>
            <a:r>
              <a:rPr lang="en-US" altLang="en-US"/>
              <a:t>  else</a:t>
            </a:r>
          </a:p>
          <a:p>
            <a:r>
              <a:rPr lang="en-US" altLang="en-US"/>
              <a:t>     return fun( x, y - 2) + x;</a:t>
            </a:r>
          </a:p>
          <a:p>
            <a:r>
              <a:rPr lang="en-US" altLang="en-US"/>
              <a:t>}</a:t>
            </a:r>
          </a:p>
          <a:p>
            <a:endParaRPr lang="en-US" altLang="en-US"/>
          </a:p>
          <a:p>
            <a:r>
              <a:rPr lang="en-US" altLang="en-US">
                <a:solidFill>
                  <a:srgbClr val="008000"/>
                </a:solidFill>
              </a:rPr>
              <a:t>//test code in client class</a:t>
            </a:r>
            <a:endParaRPr lang="en-US" altLang="en-US"/>
          </a:p>
          <a:p>
            <a:r>
              <a:rPr lang="en-US" altLang="en-US"/>
              <a:t>out.println(test.fun(4,3));</a:t>
            </a:r>
          </a:p>
        </p:txBody>
      </p:sp>
      <p:sp>
        <p:nvSpPr>
          <p:cNvPr id="100356" name="Text Box 4">
            <a:extLst>
              <a:ext uri="{FF2B5EF4-FFF2-40B4-BE49-F238E27FC236}">
                <a16:creationId xmlns:a16="http://schemas.microsoft.com/office/drawing/2014/main" id="{CF8793C3-FCE9-7626-8F4A-9EF1E2AFD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447800"/>
            <a:ext cx="3662363" cy="459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AR3</a:t>
            </a:r>
          </a:p>
          <a:p>
            <a:r>
              <a:rPr lang="en-US" altLang="en-US">
                <a:latin typeface="Tahoma" panose="020B0604030504040204" pitchFamily="34" charset="0"/>
              </a:rPr>
              <a:t>x     y</a:t>
            </a:r>
          </a:p>
          <a:p>
            <a:r>
              <a:rPr lang="en-US" altLang="en-US">
                <a:latin typeface="Tahoma" panose="020B0604030504040204" pitchFamily="34" charset="0"/>
              </a:rPr>
              <a:t>4   -1   return 4</a:t>
            </a:r>
          </a:p>
          <a:p>
            <a:endParaRPr lang="en-US" altLang="en-US">
              <a:latin typeface="Tahoma" panose="020B0604030504040204" pitchFamily="34" charset="0"/>
            </a:endParaRPr>
          </a:p>
          <a:p>
            <a:r>
              <a:rPr lang="en-US" altLang="en-US">
                <a:latin typeface="Tahoma" panose="020B0604030504040204" pitchFamily="34" charset="0"/>
              </a:rPr>
              <a:t>AR2</a:t>
            </a:r>
          </a:p>
          <a:p>
            <a:r>
              <a:rPr lang="en-US" altLang="en-US">
                <a:latin typeface="Tahoma" panose="020B0604030504040204" pitchFamily="34" charset="0"/>
              </a:rPr>
              <a:t>x     y</a:t>
            </a:r>
          </a:p>
          <a:p>
            <a:pPr>
              <a:buFontTx/>
              <a:buAutoNum type="arabicPlain" startAt="4"/>
            </a:pPr>
            <a:r>
              <a:rPr lang="en-US" altLang="en-US">
                <a:latin typeface="Tahoma" panose="020B0604030504040204" pitchFamily="34" charset="0"/>
              </a:rPr>
              <a:t>  1   return AR3  + 4</a:t>
            </a:r>
          </a:p>
          <a:p>
            <a:pPr>
              <a:buFontTx/>
              <a:buAutoNum type="arabicPlain" startAt="4"/>
            </a:pPr>
            <a:endParaRPr lang="en-US" altLang="en-US">
              <a:latin typeface="Tahoma" panose="020B0604030504040204" pitchFamily="34" charset="0"/>
            </a:endParaRPr>
          </a:p>
          <a:p>
            <a:r>
              <a:rPr lang="en-US" altLang="en-US">
                <a:latin typeface="Tahoma" panose="020B0604030504040204" pitchFamily="34" charset="0"/>
              </a:rPr>
              <a:t>AR1</a:t>
            </a:r>
          </a:p>
          <a:p>
            <a:r>
              <a:rPr lang="en-US" altLang="en-US">
                <a:latin typeface="Tahoma" panose="020B0604030504040204" pitchFamily="34" charset="0"/>
              </a:rPr>
              <a:t>x     y</a:t>
            </a:r>
          </a:p>
          <a:p>
            <a:r>
              <a:rPr lang="en-US" altLang="en-US">
                <a:latin typeface="Tahoma" panose="020B0604030504040204" pitchFamily="34" charset="0"/>
              </a:rPr>
              <a:t>4    3   return AR2  + 4</a:t>
            </a:r>
            <a:br>
              <a:rPr lang="en-US" altLang="en-US" sz="3200">
                <a:latin typeface="Tahoma" panose="020B0604030504040204" pitchFamily="34" charset="0"/>
              </a:rPr>
            </a:br>
            <a:endParaRPr lang="en-US" altLang="en-US" sz="3200">
              <a:latin typeface="Tahoma" panose="020B0604030504040204" pitchFamily="34" charset="0"/>
            </a:endParaRPr>
          </a:p>
        </p:txBody>
      </p:sp>
      <p:sp>
        <p:nvSpPr>
          <p:cNvPr id="100357" name="Line 5">
            <a:extLst>
              <a:ext uri="{FF2B5EF4-FFF2-40B4-BE49-F238E27FC236}">
                <a16:creationId xmlns:a16="http://schemas.microsoft.com/office/drawing/2014/main" id="{C610B13B-A674-4621-1D02-E56CACBDF7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3800" y="4343400"/>
            <a:ext cx="533400" cy="8382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58" name="Line 6">
            <a:extLst>
              <a:ext uri="{FF2B5EF4-FFF2-40B4-BE49-F238E27FC236}">
                <a16:creationId xmlns:a16="http://schemas.microsoft.com/office/drawing/2014/main" id="{FA11D0AC-7632-84DB-15E5-D6E8EB7A7C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514600"/>
            <a:ext cx="152400" cy="11430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59" name="Text Box 7">
            <a:extLst>
              <a:ext uri="{FF2B5EF4-FFF2-40B4-BE49-F238E27FC236}">
                <a16:creationId xmlns:a16="http://schemas.microsoft.com/office/drawing/2014/main" id="{CBF65760-71A7-2391-C4E1-A89B9E2E3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3886200"/>
            <a:ext cx="4429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solidFill>
                  <a:srgbClr val="339933"/>
                </a:solidFill>
              </a:rPr>
              <a:t>8</a:t>
            </a:r>
          </a:p>
        </p:txBody>
      </p:sp>
      <p:sp>
        <p:nvSpPr>
          <p:cNvPr id="100360" name="Text Box 8">
            <a:extLst>
              <a:ext uri="{FF2B5EF4-FFF2-40B4-BE49-F238E27FC236}">
                <a16:creationId xmlns:a16="http://schemas.microsoft.com/office/drawing/2014/main" id="{0A92D985-36E0-6989-DB90-334F11FAD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562600"/>
            <a:ext cx="8207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>
                <a:solidFill>
                  <a:srgbClr val="339933"/>
                </a:solidFill>
              </a:rPr>
              <a:t> 12</a:t>
            </a:r>
          </a:p>
        </p:txBody>
      </p:sp>
      <p:sp>
        <p:nvSpPr>
          <p:cNvPr id="100362" name="Line 10">
            <a:extLst>
              <a:ext uri="{FF2B5EF4-FFF2-40B4-BE49-F238E27FC236}">
                <a16:creationId xmlns:a16="http://schemas.microsoft.com/office/drawing/2014/main" id="{7CF7ADC9-84E0-ACDF-A243-D2EDCBABFCB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62400" y="5410200"/>
            <a:ext cx="3276600" cy="4572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63" name="Rectangle 11">
            <a:extLst>
              <a:ext uri="{FF2B5EF4-FFF2-40B4-BE49-F238E27FC236}">
                <a16:creationId xmlns:a16="http://schemas.microsoft.com/office/drawing/2014/main" id="{769DCB9D-9002-6C90-A8F2-FCE155B00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524000"/>
            <a:ext cx="3581400" cy="11430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364" name="Rectangle 12">
            <a:extLst>
              <a:ext uri="{FF2B5EF4-FFF2-40B4-BE49-F238E27FC236}">
                <a16:creationId xmlns:a16="http://schemas.microsoft.com/office/drawing/2014/main" id="{9C141BB6-D718-5A8E-8750-6D65DE4A4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971800"/>
            <a:ext cx="3581400" cy="11430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365" name="Rectangle 13">
            <a:extLst>
              <a:ext uri="{FF2B5EF4-FFF2-40B4-BE49-F238E27FC236}">
                <a16:creationId xmlns:a16="http://schemas.microsoft.com/office/drawing/2014/main" id="{0C496763-AD92-E2CD-158E-0E2C64C91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343400"/>
            <a:ext cx="3581400" cy="11430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366" name="WordArt 14">
            <a:extLst>
              <a:ext uri="{FF2B5EF4-FFF2-40B4-BE49-F238E27FC236}">
                <a16:creationId xmlns:a16="http://schemas.microsoft.com/office/drawing/2014/main" id="{D6C63C2E-98C2-949F-AD1A-6078CFFD44B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7200" y="304800"/>
            <a:ext cx="80772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Tracing Recursive Code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A07DBDA-037D-5199-70D3-E86876B46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93538" name="WordArt 2">
            <a:extLst>
              <a:ext uri="{FF2B5EF4-FFF2-40B4-BE49-F238E27FC236}">
                <a16:creationId xmlns:a16="http://schemas.microsoft.com/office/drawing/2014/main" id="{A1F79DD0-80C7-5776-DABA-59FF715971F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762000"/>
            <a:ext cx="7696200" cy="472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open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recursionfour.java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recursionfive.java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B71B9A7-1067-6211-78FD-697B1D6B6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214018" name="Text Box 2">
            <a:extLst>
              <a:ext uri="{FF2B5EF4-FFF2-40B4-BE49-F238E27FC236}">
                <a16:creationId xmlns:a16="http://schemas.microsoft.com/office/drawing/2014/main" id="{5A4EB512-2530-0F25-8536-B3365EE15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47800"/>
            <a:ext cx="511175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/>
              <a:t>int fun(int x, int y)</a:t>
            </a:r>
          </a:p>
          <a:p>
            <a:r>
              <a:rPr lang="en-US" altLang="en-US" sz="3200"/>
              <a:t>{</a:t>
            </a:r>
          </a:p>
          <a:p>
            <a:r>
              <a:rPr lang="en-US" altLang="en-US" sz="3200"/>
              <a:t>   if ( x == 0 )</a:t>
            </a:r>
          </a:p>
          <a:p>
            <a:r>
              <a:rPr lang="en-US" altLang="en-US" sz="3200"/>
              <a:t>      return x;</a:t>
            </a:r>
          </a:p>
          <a:p>
            <a:r>
              <a:rPr lang="en-US" altLang="en-US" sz="3200"/>
              <a:t>   else</a:t>
            </a:r>
          </a:p>
          <a:p>
            <a:r>
              <a:rPr lang="en-US" altLang="en-US" sz="3200"/>
              <a:t>      return x+fun(y-1,x);</a:t>
            </a:r>
          </a:p>
          <a:p>
            <a:r>
              <a:rPr lang="en-US" altLang="en-US" sz="3200"/>
              <a:t>}</a:t>
            </a:r>
          </a:p>
        </p:txBody>
      </p:sp>
      <p:sp>
        <p:nvSpPr>
          <p:cNvPr id="214019" name="WordArt 3">
            <a:extLst>
              <a:ext uri="{FF2B5EF4-FFF2-40B4-BE49-F238E27FC236}">
                <a16:creationId xmlns:a16="http://schemas.microsoft.com/office/drawing/2014/main" id="{5B93D6DB-5EC9-45B6-0952-E2A356106AE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228600"/>
            <a:ext cx="6934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Recursive Fun</a:t>
            </a:r>
          </a:p>
        </p:txBody>
      </p:sp>
      <p:sp>
        <p:nvSpPr>
          <p:cNvPr id="214020" name="Text Box 4">
            <a:extLst>
              <a:ext uri="{FF2B5EF4-FFF2-40B4-BE49-F238E27FC236}">
                <a16:creationId xmlns:a16="http://schemas.microsoft.com/office/drawing/2014/main" id="{F261366E-7F85-88E1-31BD-B18F77B0C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029200"/>
            <a:ext cx="6083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/>
              <a:t>What would fun(4,4) return?</a:t>
            </a:r>
          </a:p>
        </p:txBody>
      </p:sp>
      <p:sp>
        <p:nvSpPr>
          <p:cNvPr id="214021" name="Text Box 5">
            <a:extLst>
              <a:ext uri="{FF2B5EF4-FFF2-40B4-BE49-F238E27FC236}">
                <a16:creationId xmlns:a16="http://schemas.microsoft.com/office/drawing/2014/main" id="{0FB50B1C-C78B-95A6-AA5B-9F40A1F2E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905000"/>
            <a:ext cx="19812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</a:p>
          <a:p>
            <a:pPr>
              <a:spcBef>
                <a:spcPct val="50000"/>
              </a:spcBef>
            </a:pPr>
            <a:r>
              <a:rPr lang="en-US" altLang="en-US" sz="3200"/>
              <a:t>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4D8EC53-9DA2-93A8-75CD-FCD0F8EDC6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216066" name="WordArt 2">
            <a:extLst>
              <a:ext uri="{FF2B5EF4-FFF2-40B4-BE49-F238E27FC236}">
                <a16:creationId xmlns:a16="http://schemas.microsoft.com/office/drawing/2014/main" id="{13F7EA44-D759-D823-EF95-E329DD17A2A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1828800"/>
            <a:ext cx="7696200" cy="3048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open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recursionsix.java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EB34B79-1436-D726-4D94-FF8B70A6B44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89442" name="WordArt 2">
            <a:extLst>
              <a:ext uri="{FF2B5EF4-FFF2-40B4-BE49-F238E27FC236}">
                <a16:creationId xmlns:a16="http://schemas.microsoft.com/office/drawing/2014/main" id="{A6F78414-1619-7F2B-08B7-6C30724E6D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276600" y="228600"/>
            <a:ext cx="5486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split recursion</a:t>
            </a:r>
          </a:p>
        </p:txBody>
      </p:sp>
      <p:sp>
        <p:nvSpPr>
          <p:cNvPr id="189443" name="WordArt 3">
            <a:extLst>
              <a:ext uri="{FF2B5EF4-FFF2-40B4-BE49-F238E27FC236}">
                <a16:creationId xmlns:a16="http://schemas.microsoft.com/office/drawing/2014/main" id="{7886385A-2975-B188-481D-AF2F689777C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1000" y="1143000"/>
            <a:ext cx="50292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tail recursion</a:t>
            </a:r>
          </a:p>
        </p:txBody>
      </p:sp>
      <p:sp>
        <p:nvSpPr>
          <p:cNvPr id="189444" name="Text Box 4">
            <a:extLst>
              <a:ext uri="{FF2B5EF4-FFF2-40B4-BE49-F238E27FC236}">
                <a16:creationId xmlns:a16="http://schemas.microsoft.com/office/drawing/2014/main" id="{FF29D879-30B6-CECD-1736-DA34B125F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0"/>
            <a:ext cx="8763000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/>
              <a:t>public String recur(String s)</a:t>
            </a:r>
          </a:p>
          <a:p>
            <a:r>
              <a:rPr lang="en-US" altLang="en-US" sz="2800"/>
              <a:t>{</a:t>
            </a:r>
          </a:p>
          <a:p>
            <a:r>
              <a:rPr lang="en-US" altLang="en-US" sz="2800"/>
              <a:t>   int len = s.length();</a:t>
            </a:r>
          </a:p>
          <a:p>
            <a:r>
              <a:rPr lang="en-US" altLang="en-US" sz="2800"/>
              <a:t>   if(len&gt;0)</a:t>
            </a:r>
          </a:p>
          <a:p>
            <a:r>
              <a:rPr lang="en-US" altLang="en-US" sz="2800"/>
              <a:t>	return recur(s.substring(0,len-1)) +</a:t>
            </a:r>
          </a:p>
          <a:p>
            <a:r>
              <a:rPr lang="en-US" altLang="en-US" sz="2800"/>
              <a:t>	                                              s.charAt(len-1);</a:t>
            </a:r>
          </a:p>
          <a:p>
            <a:r>
              <a:rPr lang="en-US" altLang="en-US" sz="2800"/>
              <a:t>   return "";</a:t>
            </a:r>
          </a:p>
          <a:p>
            <a:r>
              <a:rPr lang="en-US" altLang="en-US" sz="2800"/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198C0D-1A5C-2BB5-D59E-5FFD4093C2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91490" name="WordArt 2">
            <a:extLst>
              <a:ext uri="{FF2B5EF4-FFF2-40B4-BE49-F238E27FC236}">
                <a16:creationId xmlns:a16="http://schemas.microsoft.com/office/drawing/2014/main" id="{F89CB14F-8FDD-DD87-4701-7CA6126CA34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276600" y="228600"/>
            <a:ext cx="5486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split recursion</a:t>
            </a:r>
          </a:p>
        </p:txBody>
      </p:sp>
      <p:sp>
        <p:nvSpPr>
          <p:cNvPr id="191491" name="WordArt 3">
            <a:extLst>
              <a:ext uri="{FF2B5EF4-FFF2-40B4-BE49-F238E27FC236}">
                <a16:creationId xmlns:a16="http://schemas.microsoft.com/office/drawing/2014/main" id="{818F2DE4-9447-3ECF-4DFB-F4009A517B6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1000" y="1143000"/>
            <a:ext cx="50292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tail recursion</a:t>
            </a:r>
          </a:p>
        </p:txBody>
      </p:sp>
      <p:sp>
        <p:nvSpPr>
          <p:cNvPr id="191492" name="Text Box 4">
            <a:extLst>
              <a:ext uri="{FF2B5EF4-FFF2-40B4-BE49-F238E27FC236}">
                <a16:creationId xmlns:a16="http://schemas.microsoft.com/office/drawing/2014/main" id="{BB59CBA3-B1A9-8EFB-B0B0-62D23ED2B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0"/>
            <a:ext cx="8797925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/>
              <a:t>public String recur(String s)</a:t>
            </a:r>
          </a:p>
          <a:p>
            <a:r>
              <a:rPr lang="en-US" altLang="en-US" sz="2800"/>
              <a:t>{</a:t>
            </a:r>
          </a:p>
          <a:p>
            <a:r>
              <a:rPr lang="en-US" altLang="en-US" sz="2800"/>
              <a:t>   int len = s.length();</a:t>
            </a:r>
          </a:p>
          <a:p>
            <a:r>
              <a:rPr lang="en-US" altLang="en-US" sz="2800"/>
              <a:t>   if(len&gt;0)</a:t>
            </a:r>
          </a:p>
          <a:p>
            <a:r>
              <a:rPr lang="en-US" altLang="en-US" sz="2800"/>
              <a:t>	return s.charAt(len-1) +</a:t>
            </a:r>
          </a:p>
          <a:p>
            <a:r>
              <a:rPr lang="en-US" altLang="en-US" sz="2800"/>
              <a:t>                                   recur(s.substring(0,len-1));</a:t>
            </a:r>
          </a:p>
          <a:p>
            <a:r>
              <a:rPr lang="en-US" altLang="en-US" sz="2800"/>
              <a:t>   return "";</a:t>
            </a:r>
          </a:p>
          <a:p>
            <a:r>
              <a:rPr lang="en-US" altLang="en-US" sz="2800"/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B849886-6781-3B64-0499-2ED04AB4349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39266" name="WordArt 2">
            <a:extLst>
              <a:ext uri="{FF2B5EF4-FFF2-40B4-BE49-F238E27FC236}">
                <a16:creationId xmlns:a16="http://schemas.microsoft.com/office/drawing/2014/main" id="{C74BEC95-EC62-938B-C25E-5CB00731ED9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762000"/>
            <a:ext cx="7696200" cy="472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open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recursionseven.java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recursioneight.java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44EFDDF-0CFC-220E-2FC8-B071E16AE8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95586" name="WordArt 2">
            <a:extLst>
              <a:ext uri="{FF2B5EF4-FFF2-40B4-BE49-F238E27FC236}">
                <a16:creationId xmlns:a16="http://schemas.microsoft.com/office/drawing/2014/main" id="{4D1BE42E-8F28-CEDA-94DD-6AABE1373F4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828800"/>
            <a:ext cx="5486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split recursion</a:t>
            </a:r>
          </a:p>
        </p:txBody>
      </p:sp>
      <p:sp>
        <p:nvSpPr>
          <p:cNvPr id="195587" name="WordArt 3">
            <a:extLst>
              <a:ext uri="{FF2B5EF4-FFF2-40B4-BE49-F238E27FC236}">
                <a16:creationId xmlns:a16="http://schemas.microsoft.com/office/drawing/2014/main" id="{F8BA1ACE-F977-6CED-AA7D-61EAEB7870A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200400" y="4343400"/>
            <a:ext cx="50292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tail recursion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F09C739-9BDB-6602-7429-1454000AE1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97634" name="Rectangle 2">
            <a:extLst>
              <a:ext uri="{FF2B5EF4-FFF2-40B4-BE49-F238E27FC236}">
                <a16:creationId xmlns:a16="http://schemas.microsoft.com/office/drawing/2014/main" id="{4A4C51CE-7A96-4DC9-3FC5-60B726A06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524000"/>
            <a:ext cx="647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3200">
                <a:solidFill>
                  <a:schemeClr val="accent2"/>
                </a:solidFill>
              </a:rPr>
              <a:t>call out.println(recur("abc"))</a:t>
            </a:r>
            <a:endParaRPr lang="en-US" altLang="en-US" sz="2000"/>
          </a:p>
        </p:txBody>
      </p:sp>
      <p:sp>
        <p:nvSpPr>
          <p:cNvPr id="197635" name="WordArt 3">
            <a:extLst>
              <a:ext uri="{FF2B5EF4-FFF2-40B4-BE49-F238E27FC236}">
                <a16:creationId xmlns:a16="http://schemas.microsoft.com/office/drawing/2014/main" id="{46ACE133-CF43-1926-6DB9-9610D75A92E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3600" y="228600"/>
            <a:ext cx="60960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  <p:sp>
        <p:nvSpPr>
          <p:cNvPr id="197636" name="Text Box 4">
            <a:extLst>
              <a:ext uri="{FF2B5EF4-FFF2-40B4-BE49-F238E27FC236}">
                <a16:creationId xmlns:a16="http://schemas.microsoft.com/office/drawing/2014/main" id="{82B54E3B-4833-E38C-D0B5-5D26E02B5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590800"/>
            <a:ext cx="8763000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/>
              <a:t>public String recur(String s)</a:t>
            </a:r>
          </a:p>
          <a:p>
            <a:r>
              <a:rPr lang="en-US" altLang="en-US" sz="2800"/>
              <a:t>{</a:t>
            </a:r>
          </a:p>
          <a:p>
            <a:r>
              <a:rPr lang="en-US" altLang="en-US" sz="2800"/>
              <a:t>   int len = s.length();</a:t>
            </a:r>
          </a:p>
          <a:p>
            <a:r>
              <a:rPr lang="en-US" altLang="en-US" sz="2800"/>
              <a:t>   if(len&gt;0)</a:t>
            </a:r>
          </a:p>
          <a:p>
            <a:r>
              <a:rPr lang="en-US" altLang="en-US" sz="2800"/>
              <a:t>	return recur(s.substring(0,len-1)) +</a:t>
            </a:r>
          </a:p>
          <a:p>
            <a:r>
              <a:rPr lang="en-US" altLang="en-US" sz="2800"/>
              <a:t>	                                              s.charAt(len-1);</a:t>
            </a:r>
          </a:p>
          <a:p>
            <a:r>
              <a:rPr lang="en-US" altLang="en-US" sz="2800"/>
              <a:t>   return "";</a:t>
            </a:r>
          </a:p>
          <a:p>
            <a:r>
              <a:rPr lang="en-US" altLang="en-US" sz="2800"/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091E2E3-DA88-E650-C2F9-BDC10B257E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99682" name="Rectangle 2">
            <a:extLst>
              <a:ext uri="{FF2B5EF4-FFF2-40B4-BE49-F238E27FC236}">
                <a16:creationId xmlns:a16="http://schemas.microsoft.com/office/drawing/2014/main" id="{21ACB91F-5C08-AA7C-C5FC-FFA216208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647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3200">
                <a:solidFill>
                  <a:schemeClr val="accent2"/>
                </a:solidFill>
              </a:rPr>
              <a:t>call out.println(recur("abc"))</a:t>
            </a:r>
            <a:endParaRPr lang="en-US" altLang="en-US" sz="2000"/>
          </a:p>
        </p:txBody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2D57DCBE-FC63-DA28-00B3-E6CF21A68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7244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AR1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"abc"</a:t>
            </a:r>
            <a:endParaRPr lang="en-US" altLang="en-US" sz="3200"/>
          </a:p>
          <a:p>
            <a:pPr algn="ctr"/>
            <a:r>
              <a:rPr lang="en-US" altLang="en-US" sz="3200"/>
              <a:t>return AR2 + c</a:t>
            </a:r>
          </a:p>
        </p:txBody>
      </p:sp>
      <p:sp>
        <p:nvSpPr>
          <p:cNvPr id="199684" name="WordArt 4">
            <a:extLst>
              <a:ext uri="{FF2B5EF4-FFF2-40B4-BE49-F238E27FC236}">
                <a16:creationId xmlns:a16="http://schemas.microsoft.com/office/drawing/2014/main" id="{B5113D0F-0E91-E93C-F8C2-23F15C5619B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3600" y="228600"/>
            <a:ext cx="60960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  <p:sp>
        <p:nvSpPr>
          <p:cNvPr id="199685" name="Text Box 5">
            <a:extLst>
              <a:ext uri="{FF2B5EF4-FFF2-40B4-BE49-F238E27FC236}">
                <a16:creationId xmlns:a16="http://schemas.microsoft.com/office/drawing/2014/main" id="{2F7313D4-21F7-9FCC-F25E-4354C9DCD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352800"/>
            <a:ext cx="7848600" cy="83502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AR</a:t>
            </a:r>
            <a:r>
              <a:rPr lang="en-US" altLang="en-US">
                <a:solidFill>
                  <a:schemeClr val="accent2"/>
                </a:solidFill>
              </a:rPr>
              <a:t> stands for activation record.  An </a:t>
            </a:r>
            <a:r>
              <a:rPr lang="en-US" altLang="en-US">
                <a:solidFill>
                  <a:srgbClr val="FF0000"/>
                </a:solidFill>
              </a:rPr>
              <a:t>AR</a:t>
            </a:r>
            <a:r>
              <a:rPr lang="en-US" altLang="en-US">
                <a:solidFill>
                  <a:schemeClr val="accent2"/>
                </a:solidFill>
              </a:rPr>
              <a:t> is placed on the stack every time a method is called.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A912913-0405-9E1D-717C-16BAAA8AA56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201730" name="Rectangle 2">
            <a:extLst>
              <a:ext uri="{FF2B5EF4-FFF2-40B4-BE49-F238E27FC236}">
                <a16:creationId xmlns:a16="http://schemas.microsoft.com/office/drawing/2014/main" id="{6CB829F9-6D9F-1FAC-76C0-926488994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8006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AR1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"abc"</a:t>
            </a:r>
            <a:endParaRPr lang="en-US" altLang="en-US" sz="3200"/>
          </a:p>
          <a:p>
            <a:pPr algn="ctr"/>
            <a:r>
              <a:rPr lang="en-US" altLang="en-US" sz="3200"/>
              <a:t>return AR2 + c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0AA9D6EE-AFDC-8265-B546-2242261E9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5052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AR2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"ab"</a:t>
            </a:r>
            <a:endParaRPr lang="en-US" altLang="en-US" sz="3200"/>
          </a:p>
          <a:p>
            <a:pPr algn="ctr"/>
            <a:r>
              <a:rPr lang="en-US" altLang="en-US" sz="3200"/>
              <a:t>return AR3 + b</a:t>
            </a:r>
          </a:p>
        </p:txBody>
      </p:sp>
      <p:sp>
        <p:nvSpPr>
          <p:cNvPr id="201732" name="WordArt 4">
            <a:extLst>
              <a:ext uri="{FF2B5EF4-FFF2-40B4-BE49-F238E27FC236}">
                <a16:creationId xmlns:a16="http://schemas.microsoft.com/office/drawing/2014/main" id="{B82CEEE7-025D-1208-3C8F-38F00B6930A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3600" y="228600"/>
            <a:ext cx="60960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0C477B1-5078-5F70-2C47-5E1CD2581B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203778" name="Rectangle 2">
            <a:extLst>
              <a:ext uri="{FF2B5EF4-FFF2-40B4-BE49-F238E27FC236}">
                <a16:creationId xmlns:a16="http://schemas.microsoft.com/office/drawing/2014/main" id="{2AD12173-6949-A779-9B8E-88566A4E6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8006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AR1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"abc"</a:t>
            </a:r>
            <a:r>
              <a:rPr lang="en-US" altLang="en-US" sz="3200"/>
              <a:t> </a:t>
            </a:r>
          </a:p>
          <a:p>
            <a:pPr algn="ctr"/>
            <a:r>
              <a:rPr lang="en-US" altLang="en-US" sz="3200"/>
              <a:t>return AR2 + c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F10688FB-53A3-F3F5-4D7A-4951F94CD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5052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AR2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"ab"</a:t>
            </a:r>
            <a:endParaRPr lang="en-US" altLang="en-US" sz="3200"/>
          </a:p>
          <a:p>
            <a:pPr algn="ctr"/>
            <a:r>
              <a:rPr lang="en-US" altLang="en-US" sz="3200"/>
              <a:t>return AR3 + b</a:t>
            </a:r>
          </a:p>
        </p:txBody>
      </p:sp>
      <p:sp>
        <p:nvSpPr>
          <p:cNvPr id="203780" name="Rectangle 4">
            <a:extLst>
              <a:ext uri="{FF2B5EF4-FFF2-40B4-BE49-F238E27FC236}">
                <a16:creationId xmlns:a16="http://schemas.microsoft.com/office/drawing/2014/main" id="{39FBA38B-7B1A-EFCA-8457-64EA07B44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2098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AR3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"a"</a:t>
            </a:r>
            <a:r>
              <a:rPr lang="en-US" altLang="en-US" sz="3200"/>
              <a:t> </a:t>
            </a:r>
          </a:p>
          <a:p>
            <a:pPr algn="ctr"/>
            <a:r>
              <a:rPr lang="en-US" altLang="en-US" sz="3200"/>
              <a:t>return AR4 + a</a:t>
            </a:r>
          </a:p>
        </p:txBody>
      </p:sp>
      <p:sp>
        <p:nvSpPr>
          <p:cNvPr id="203781" name="WordArt 5">
            <a:extLst>
              <a:ext uri="{FF2B5EF4-FFF2-40B4-BE49-F238E27FC236}">
                <a16:creationId xmlns:a16="http://schemas.microsoft.com/office/drawing/2014/main" id="{B3D452BE-BC40-9452-C2DA-B3D34532F98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3600" y="228600"/>
            <a:ext cx="60960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B046DB-6217-FDE1-65EC-A138F71B070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205826" name="Rectangle 2">
            <a:extLst>
              <a:ext uri="{FF2B5EF4-FFF2-40B4-BE49-F238E27FC236}">
                <a16:creationId xmlns:a16="http://schemas.microsoft.com/office/drawing/2014/main" id="{54B210AC-7358-380B-9A77-6105DC923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8006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AR1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"abc"</a:t>
            </a:r>
            <a:r>
              <a:rPr lang="en-US" altLang="en-US" sz="3200"/>
              <a:t> </a:t>
            </a:r>
          </a:p>
          <a:p>
            <a:pPr algn="ctr"/>
            <a:r>
              <a:rPr lang="en-US" altLang="en-US" sz="3200"/>
              <a:t>return AR2 + c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4562847C-18D5-A306-5A82-224DDB5C4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052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AR2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"ab"</a:t>
            </a:r>
            <a:endParaRPr lang="en-US" altLang="en-US" sz="3200"/>
          </a:p>
          <a:p>
            <a:pPr algn="ctr"/>
            <a:r>
              <a:rPr lang="en-US" altLang="en-US" sz="3200"/>
              <a:t>return AR3 + b</a:t>
            </a:r>
          </a:p>
        </p:txBody>
      </p:sp>
      <p:sp>
        <p:nvSpPr>
          <p:cNvPr id="205828" name="Rectangle 4">
            <a:extLst>
              <a:ext uri="{FF2B5EF4-FFF2-40B4-BE49-F238E27FC236}">
                <a16:creationId xmlns:a16="http://schemas.microsoft.com/office/drawing/2014/main" id="{0AE82EAD-15B2-8835-BB78-E1B536CB2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098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AR3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"a"</a:t>
            </a:r>
            <a:endParaRPr lang="en-US" altLang="en-US" sz="3200"/>
          </a:p>
          <a:p>
            <a:pPr algn="ctr"/>
            <a:r>
              <a:rPr lang="en-US" altLang="en-US" sz="3200"/>
              <a:t>return AR4 + a</a:t>
            </a:r>
          </a:p>
        </p:txBody>
      </p:sp>
      <p:sp>
        <p:nvSpPr>
          <p:cNvPr id="205829" name="WordArt 5">
            <a:extLst>
              <a:ext uri="{FF2B5EF4-FFF2-40B4-BE49-F238E27FC236}">
                <a16:creationId xmlns:a16="http://schemas.microsoft.com/office/drawing/2014/main" id="{FC78DEEA-DDFB-1219-8F45-BBBAE27B427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3600" y="228600"/>
            <a:ext cx="60960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  <p:sp>
        <p:nvSpPr>
          <p:cNvPr id="205830" name="Rectangle 6">
            <a:extLst>
              <a:ext uri="{FF2B5EF4-FFF2-40B4-BE49-F238E27FC236}">
                <a16:creationId xmlns:a16="http://schemas.microsoft.com/office/drawing/2014/main" id="{49A74DCC-7278-4889-8882-2FE17A6ED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9144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AR4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""</a:t>
            </a:r>
            <a:endParaRPr lang="en-US" altLang="en-US" sz="3200"/>
          </a:p>
          <a:p>
            <a:pPr algn="ctr"/>
            <a:r>
              <a:rPr lang="en-US" altLang="en-US" sz="3200"/>
              <a:t>return ""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08B245-1587-2B65-F6B8-30EB6F1247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207874" name="Rectangle 2">
            <a:extLst>
              <a:ext uri="{FF2B5EF4-FFF2-40B4-BE49-F238E27FC236}">
                <a16:creationId xmlns:a16="http://schemas.microsoft.com/office/drawing/2014/main" id="{9F19BCC5-4A5E-EBF3-69A3-95DDA0566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7244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AR1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"abc"</a:t>
            </a:r>
            <a:endParaRPr lang="en-US" altLang="en-US" sz="3200"/>
          </a:p>
          <a:p>
            <a:pPr algn="ctr"/>
            <a:r>
              <a:rPr lang="en-US" altLang="en-US" sz="3200"/>
              <a:t>return AR2 + c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FFC4BEE-FCDB-66E0-D8DC-60BED3746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4290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AR2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"ab"</a:t>
            </a:r>
            <a:endParaRPr lang="en-US" altLang="en-US" sz="3200"/>
          </a:p>
          <a:p>
            <a:pPr algn="ctr"/>
            <a:r>
              <a:rPr lang="en-US" altLang="en-US" sz="3200"/>
              <a:t>return AR3 + b</a:t>
            </a:r>
          </a:p>
        </p:txBody>
      </p:sp>
      <p:sp>
        <p:nvSpPr>
          <p:cNvPr id="207876" name="Rectangle 4">
            <a:extLst>
              <a:ext uri="{FF2B5EF4-FFF2-40B4-BE49-F238E27FC236}">
                <a16:creationId xmlns:a16="http://schemas.microsoft.com/office/drawing/2014/main" id="{94881BB7-5524-2BD9-8C47-6CA7612F8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1336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AR3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"a"</a:t>
            </a:r>
            <a:endParaRPr lang="en-US" altLang="en-US" sz="3200"/>
          </a:p>
          <a:p>
            <a:pPr algn="ctr"/>
            <a:r>
              <a:rPr lang="en-US" altLang="en-US" sz="3200"/>
              <a:t>return a</a:t>
            </a:r>
          </a:p>
        </p:txBody>
      </p:sp>
      <p:sp>
        <p:nvSpPr>
          <p:cNvPr id="207877" name="WordArt 5">
            <a:extLst>
              <a:ext uri="{FF2B5EF4-FFF2-40B4-BE49-F238E27FC236}">
                <a16:creationId xmlns:a16="http://schemas.microsoft.com/office/drawing/2014/main" id="{2A1522E7-E693-3347-BD06-0BF4FD3C6F6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3600" y="228600"/>
            <a:ext cx="60960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2274562-0748-9B4C-2088-F5CFC5A9ED2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209922" name="Rectangle 2">
            <a:extLst>
              <a:ext uri="{FF2B5EF4-FFF2-40B4-BE49-F238E27FC236}">
                <a16:creationId xmlns:a16="http://schemas.microsoft.com/office/drawing/2014/main" id="{881AEB19-C9F3-95C5-D6DD-E6DBFE7A0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8006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AR1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"abc"</a:t>
            </a:r>
            <a:endParaRPr lang="en-US" altLang="en-US" sz="3200"/>
          </a:p>
          <a:p>
            <a:pPr algn="ctr"/>
            <a:r>
              <a:rPr lang="en-US" altLang="en-US" sz="3200"/>
              <a:t>return AR2 + c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D0435E58-9662-D716-AFFF-1D0D35F20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052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AR2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"ab"</a:t>
            </a:r>
            <a:endParaRPr lang="en-US" altLang="en-US" sz="3200"/>
          </a:p>
          <a:p>
            <a:pPr algn="ctr"/>
            <a:r>
              <a:rPr lang="en-US" altLang="en-US" sz="3200"/>
              <a:t>return ab</a:t>
            </a:r>
          </a:p>
        </p:txBody>
      </p:sp>
      <p:sp>
        <p:nvSpPr>
          <p:cNvPr id="209924" name="WordArt 4">
            <a:extLst>
              <a:ext uri="{FF2B5EF4-FFF2-40B4-BE49-F238E27FC236}">
                <a16:creationId xmlns:a16="http://schemas.microsoft.com/office/drawing/2014/main" id="{9EBE21B2-D035-F501-EB2A-2E4D1DD4522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3600" y="228600"/>
            <a:ext cx="60960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B6FBCEC-15CB-514B-3CBE-66E87E6AB89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211970" name="Rectangle 2">
            <a:extLst>
              <a:ext uri="{FF2B5EF4-FFF2-40B4-BE49-F238E27FC236}">
                <a16:creationId xmlns:a16="http://schemas.microsoft.com/office/drawing/2014/main" id="{1110DDA0-A391-B7D6-9FC3-37BD3EDBA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724400"/>
            <a:ext cx="5562600" cy="1295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rgbClr val="FF0000"/>
                </a:solidFill>
              </a:rPr>
              <a:t>AR1</a:t>
            </a:r>
            <a:r>
              <a:rPr lang="en-US" altLang="en-US" sz="3200"/>
              <a:t> –   s=</a:t>
            </a:r>
            <a:r>
              <a:rPr lang="en-US" altLang="en-US" sz="3200">
                <a:solidFill>
                  <a:schemeClr val="accent2"/>
                </a:solidFill>
              </a:rPr>
              <a:t>"abc"</a:t>
            </a:r>
            <a:endParaRPr lang="en-US" altLang="en-US" sz="3200"/>
          </a:p>
          <a:p>
            <a:pPr algn="ctr"/>
            <a:r>
              <a:rPr lang="en-US" altLang="en-US" sz="3200"/>
              <a:t>return abc</a:t>
            </a:r>
          </a:p>
        </p:txBody>
      </p:sp>
      <p:sp>
        <p:nvSpPr>
          <p:cNvPr id="211971" name="WordArt 3">
            <a:extLst>
              <a:ext uri="{FF2B5EF4-FFF2-40B4-BE49-F238E27FC236}">
                <a16:creationId xmlns:a16="http://schemas.microsoft.com/office/drawing/2014/main" id="{388E5B64-AF9B-2D53-5B8A-EB691C263B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3600" y="228600"/>
            <a:ext cx="60960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 panose="020B0806030902050204" pitchFamily="34" charset="0"/>
              </a:rPr>
              <a:t>The Stack</a:t>
            </a:r>
          </a:p>
        </p:txBody>
      </p:sp>
      <p:sp>
        <p:nvSpPr>
          <p:cNvPr id="211972" name="Text Box 4">
            <a:extLst>
              <a:ext uri="{FF2B5EF4-FFF2-40B4-BE49-F238E27FC236}">
                <a16:creationId xmlns:a16="http://schemas.microsoft.com/office/drawing/2014/main" id="{FC8D8E6D-3A4A-1170-1017-EBE6846FC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905000"/>
            <a:ext cx="19812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</a:p>
          <a:p>
            <a:pPr>
              <a:spcBef>
                <a:spcPct val="50000"/>
              </a:spcBef>
            </a:pPr>
            <a:r>
              <a:rPr lang="en-US" altLang="en-US" sz="3200"/>
              <a:t>abc</a:t>
            </a:r>
          </a:p>
        </p:txBody>
      </p:sp>
      <p:sp>
        <p:nvSpPr>
          <p:cNvPr id="211973" name="Rectangle 5">
            <a:extLst>
              <a:ext uri="{FF2B5EF4-FFF2-40B4-BE49-F238E27FC236}">
                <a16:creationId xmlns:a16="http://schemas.microsoft.com/office/drawing/2014/main" id="{82385283-C200-E573-3730-5D0DC4A56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143000"/>
            <a:ext cx="647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3200">
                <a:solidFill>
                  <a:schemeClr val="accent2"/>
                </a:solidFill>
              </a:rPr>
              <a:t>call out.println(recur("abc"))</a:t>
            </a:r>
            <a:endParaRPr lang="en-US" altLang="en-US"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025ADC6-CEF7-1DFB-0D88-75504B61216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41314" name="Text Box 2">
            <a:extLst>
              <a:ext uri="{FF2B5EF4-FFF2-40B4-BE49-F238E27FC236}">
                <a16:creationId xmlns:a16="http://schemas.microsoft.com/office/drawing/2014/main" id="{B12AA838-659A-41D3-615B-D09A22C50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76400"/>
            <a:ext cx="7227888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/>
              <a:t>If recursion is just a loop, why</a:t>
            </a:r>
          </a:p>
          <a:p>
            <a:r>
              <a:rPr lang="en-US" altLang="en-US" sz="3200"/>
              <a:t>would you just not use a loop?</a:t>
            </a:r>
          </a:p>
          <a:p>
            <a:endParaRPr lang="en-US" altLang="en-US" sz="3200"/>
          </a:p>
          <a:p>
            <a:r>
              <a:rPr lang="en-US" altLang="en-US" sz="3200"/>
              <a:t>Recursion is a way to take a block </a:t>
            </a:r>
          </a:p>
          <a:p>
            <a:r>
              <a:rPr lang="en-US" altLang="en-US" sz="3200"/>
              <a:t>of code and spawn copies of that</a:t>
            </a:r>
          </a:p>
          <a:p>
            <a:r>
              <a:rPr lang="en-US" altLang="en-US" sz="3200"/>
              <a:t>block over and over again.  This</a:t>
            </a:r>
          </a:p>
          <a:p>
            <a:r>
              <a:rPr lang="en-US" altLang="en-US" sz="3200"/>
              <a:t>helps break a large problem down</a:t>
            </a:r>
          </a:p>
          <a:p>
            <a:r>
              <a:rPr lang="en-US" altLang="en-US" sz="3200"/>
              <a:t>into smaller pieces.</a:t>
            </a:r>
          </a:p>
        </p:txBody>
      </p:sp>
      <p:sp>
        <p:nvSpPr>
          <p:cNvPr id="141315" name="WordArt 3">
            <a:extLst>
              <a:ext uri="{FF2B5EF4-FFF2-40B4-BE49-F238E27FC236}">
                <a16:creationId xmlns:a16="http://schemas.microsoft.com/office/drawing/2014/main" id="{19C9848D-5F0E-C5DA-7241-20DB047D5F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457200"/>
            <a:ext cx="6934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the point?</a:t>
            </a:r>
          </a:p>
        </p:txBody>
      </p:sp>
      <p:pic>
        <p:nvPicPr>
          <p:cNvPr id="141316" name="Picture 4">
            <a:extLst>
              <a:ext uri="{FF2B5EF4-FFF2-40B4-BE49-F238E27FC236}">
                <a16:creationId xmlns:a16="http://schemas.microsoft.com/office/drawing/2014/main" id="{F580905B-B9D6-4D13-62C5-EE1D43292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257800"/>
            <a:ext cx="1447800" cy="131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D589F54-BB8F-F6CA-3E15-982509A54C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42338" name="Text Box 2">
            <a:extLst>
              <a:ext uri="{FF2B5EF4-FFF2-40B4-BE49-F238E27FC236}">
                <a16:creationId xmlns:a16="http://schemas.microsoft.com/office/drawing/2014/main" id="{39989F8F-F6CC-6EBD-A12B-DD866F419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49388"/>
            <a:ext cx="6584950" cy="460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/>
              <a:t>If checking 0 0, you would </a:t>
            </a:r>
            <a:br>
              <a:rPr lang="en-US" altLang="en-US" sz="3200"/>
            </a:br>
            <a:r>
              <a:rPr lang="en-US" altLang="en-US" sz="3200"/>
              <a:t>find 5 </a:t>
            </a:r>
            <a:r>
              <a:rPr lang="en-US" altLang="en-US" sz="3200">
                <a:solidFill>
                  <a:srgbClr val="FF0000"/>
                </a:solidFill>
              </a:rPr>
              <a:t>@</a:t>
            </a:r>
            <a:r>
              <a:rPr lang="en-US" altLang="en-US" sz="3200"/>
              <a:t>s are connected.</a:t>
            </a:r>
            <a:br>
              <a:rPr lang="en-US" altLang="en-US" sz="3200"/>
            </a:br>
            <a:endParaRPr lang="en-US" altLang="en-US" sz="3200"/>
          </a:p>
          <a:p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@</a:t>
            </a:r>
            <a:r>
              <a:rPr lang="en-US" altLang="en-US" sz="2000">
                <a:latin typeface="Courier New" panose="02070309020205020404" pitchFamily="49" charset="0"/>
              </a:rPr>
              <a:t> - </a:t>
            </a:r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@</a:t>
            </a:r>
            <a:r>
              <a:rPr lang="en-US" altLang="en-US" sz="2000">
                <a:latin typeface="Courier New" panose="02070309020205020404" pitchFamily="49" charset="0"/>
              </a:rPr>
              <a:t> - - @ - @ @ @				</a:t>
            </a:r>
          </a:p>
          <a:p>
            <a:r>
              <a:rPr lang="en-US" altLang="en-US" sz="2000">
                <a:solidFill>
                  <a:srgbClr val="FF0000"/>
                </a:solidFill>
                <a:latin typeface="Courier New" panose="02070309020205020404" pitchFamily="49" charset="0"/>
              </a:rPr>
              <a:t>@ @ @</a:t>
            </a:r>
            <a:r>
              <a:rPr lang="en-US" altLang="en-US" sz="2000">
                <a:latin typeface="Courier New" panose="02070309020205020404" pitchFamily="49" charset="0"/>
              </a:rPr>
              <a:t> - @ @ - @ - @				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- - - - - - - @ @ @				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- @ @ @ @ @ - @ - @				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- @ - @ - @ - @ - @ 				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@ @ @ @ @ @ - @ @ @				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- @ - @ - @ - - - @				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- @ @ @ - @ - - - -				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- @ - @ - @ - @ @ @				</a:t>
            </a:r>
          </a:p>
          <a:p>
            <a:r>
              <a:rPr lang="en-US" altLang="en-US" sz="2000">
                <a:latin typeface="Courier New" panose="02070309020205020404" pitchFamily="49" charset="0"/>
              </a:rPr>
              <a:t>- @ @ @ @ @ - @ @ @</a:t>
            </a:r>
          </a:p>
        </p:txBody>
      </p:sp>
      <p:sp>
        <p:nvSpPr>
          <p:cNvPr id="142339" name="WordArt 3">
            <a:extLst>
              <a:ext uri="{FF2B5EF4-FFF2-40B4-BE49-F238E27FC236}">
                <a16:creationId xmlns:a16="http://schemas.microsoft.com/office/drawing/2014/main" id="{4D871876-6C8F-9B8C-0CFB-447405AC5BE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934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Counting Spots</a:t>
            </a:r>
          </a:p>
        </p:txBody>
      </p:sp>
      <p:sp>
        <p:nvSpPr>
          <p:cNvPr id="142340" name="Text Box 4">
            <a:extLst>
              <a:ext uri="{FF2B5EF4-FFF2-40B4-BE49-F238E27FC236}">
                <a16:creationId xmlns:a16="http://schemas.microsoft.com/office/drawing/2014/main" id="{12225687-866C-7C43-073D-7BD85C71C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971800"/>
            <a:ext cx="3200400" cy="239077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chemeClr val="accent2"/>
                </a:solidFill>
              </a:rPr>
              <a:t>@ at spot [0,0]</a:t>
            </a:r>
            <a:br>
              <a:rPr lang="en-US" altLang="en-US" sz="2000">
                <a:solidFill>
                  <a:schemeClr val="accent2"/>
                </a:solidFill>
              </a:rPr>
            </a:br>
            <a:r>
              <a:rPr lang="en-US" altLang="en-US" sz="2000">
                <a:solidFill>
                  <a:schemeClr val="accent2"/>
                </a:solidFill>
              </a:rPr>
              <a:t>@ at spot [0,2]</a:t>
            </a:r>
            <a:br>
              <a:rPr lang="en-US" altLang="en-US" sz="2000">
                <a:solidFill>
                  <a:schemeClr val="accent2"/>
                </a:solidFill>
              </a:rPr>
            </a:br>
            <a:r>
              <a:rPr lang="en-US" altLang="en-US" sz="2000">
                <a:solidFill>
                  <a:schemeClr val="accent2"/>
                </a:solidFill>
              </a:rPr>
              <a:t>@ at spot [1,0]</a:t>
            </a:r>
            <a:br>
              <a:rPr lang="en-US" altLang="en-US" sz="2000">
                <a:solidFill>
                  <a:schemeClr val="accent2"/>
                </a:solidFill>
              </a:rPr>
            </a:br>
            <a:r>
              <a:rPr lang="en-US" altLang="en-US" sz="2000">
                <a:solidFill>
                  <a:schemeClr val="accent2"/>
                </a:solidFill>
              </a:rPr>
              <a:t>@ at spot [1,1]</a:t>
            </a:r>
            <a:br>
              <a:rPr lang="en-US" altLang="en-US" sz="2000">
                <a:solidFill>
                  <a:schemeClr val="accent2"/>
                </a:solidFill>
              </a:rPr>
            </a:br>
            <a:r>
              <a:rPr lang="en-US" altLang="en-US" sz="2000">
                <a:solidFill>
                  <a:schemeClr val="accent2"/>
                </a:solidFill>
              </a:rPr>
              <a:t>@ at spot [1,2]</a:t>
            </a:r>
          </a:p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chemeClr val="accent2"/>
                </a:solidFill>
              </a:rPr>
              <a:t>The exact same checks</a:t>
            </a:r>
            <a:br>
              <a:rPr lang="en-US" altLang="en-US" sz="2000">
                <a:solidFill>
                  <a:schemeClr val="accent2"/>
                </a:solidFill>
              </a:rPr>
            </a:br>
            <a:r>
              <a:rPr lang="en-US" altLang="en-US" sz="2000">
                <a:solidFill>
                  <a:schemeClr val="accent2"/>
                </a:solidFill>
              </a:rPr>
              <a:t>are made at each spot.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160C9C9-4B04-9EC5-18EF-5BAE2F9788C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43362" name="Text Box 2">
            <a:extLst>
              <a:ext uri="{FF2B5EF4-FFF2-40B4-BE49-F238E27FC236}">
                <a16:creationId xmlns:a16="http://schemas.microsoft.com/office/drawing/2014/main" id="{FEE3696C-663F-85A1-FA24-822E33762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6819900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/>
              <a:t>if ( r and c are in bounds and </a:t>
            </a:r>
          </a:p>
          <a:p>
            <a:r>
              <a:rPr lang="en-US" altLang="en-US" sz="2800"/>
              <a:t>                             current spot is a @ )</a:t>
            </a:r>
          </a:p>
          <a:p>
            <a:r>
              <a:rPr lang="en-US" altLang="en-US" sz="2800"/>
              <a:t>   mark spot as visited</a:t>
            </a:r>
          </a:p>
          <a:p>
            <a:r>
              <a:rPr lang="en-US" altLang="en-US" sz="2800"/>
              <a:t>   bump up current count by one</a:t>
            </a:r>
          </a:p>
          <a:p>
            <a:r>
              <a:rPr lang="en-US" altLang="en-US" sz="2800"/>
              <a:t>   recur up</a:t>
            </a:r>
          </a:p>
          <a:p>
            <a:r>
              <a:rPr lang="en-US" altLang="en-US" sz="2800"/>
              <a:t>   recur down</a:t>
            </a:r>
          </a:p>
          <a:p>
            <a:r>
              <a:rPr lang="en-US" altLang="en-US" sz="2800"/>
              <a:t>   recur left</a:t>
            </a:r>
          </a:p>
          <a:p>
            <a:r>
              <a:rPr lang="en-US" altLang="en-US" sz="2800"/>
              <a:t>   recur right</a:t>
            </a:r>
          </a:p>
        </p:txBody>
      </p:sp>
      <p:sp>
        <p:nvSpPr>
          <p:cNvPr id="143363" name="WordArt 3">
            <a:extLst>
              <a:ext uri="{FF2B5EF4-FFF2-40B4-BE49-F238E27FC236}">
                <a16:creationId xmlns:a16="http://schemas.microsoft.com/office/drawing/2014/main" id="{BE9EA951-38E0-8764-D83C-F4B9199403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934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Counting Spots</a:t>
            </a:r>
          </a:p>
        </p:txBody>
      </p:sp>
      <p:sp>
        <p:nvSpPr>
          <p:cNvPr id="143364" name="Text Box 4">
            <a:extLst>
              <a:ext uri="{FF2B5EF4-FFF2-40B4-BE49-F238E27FC236}">
                <a16:creationId xmlns:a16="http://schemas.microsoft.com/office/drawing/2014/main" id="{B8898308-7C4A-B0D6-CEBE-8DB198E88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657600"/>
            <a:ext cx="3200400" cy="193357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chemeClr val="accent2"/>
                </a:solidFill>
              </a:rPr>
              <a:t>This same block of</a:t>
            </a:r>
            <a:br>
              <a:rPr lang="en-US" altLang="en-US" sz="2000">
                <a:solidFill>
                  <a:schemeClr val="accent2"/>
                </a:solidFill>
              </a:rPr>
            </a:br>
            <a:r>
              <a:rPr lang="en-US" altLang="en-US" sz="2000">
                <a:solidFill>
                  <a:schemeClr val="accent2"/>
                </a:solidFill>
              </a:rPr>
              <a:t>code is recreated with each recursive call.  The exact same code is used to check many different locations.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544D694-4513-3E1D-E675-F6DA47B274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44386" name="Text Box 2">
            <a:extLst>
              <a:ext uri="{FF2B5EF4-FFF2-40B4-BE49-F238E27FC236}">
                <a16:creationId xmlns:a16="http://schemas.microsoft.com/office/drawing/2014/main" id="{9EAFA657-FC68-CE26-BB33-6FB2B37C6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6819900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/>
              <a:t>if ( r and c are in bounds and </a:t>
            </a:r>
          </a:p>
          <a:p>
            <a:r>
              <a:rPr lang="en-US" altLang="en-US" sz="2800"/>
              <a:t>                             current spot is a @ )</a:t>
            </a:r>
          </a:p>
          <a:p>
            <a:r>
              <a:rPr lang="en-US" altLang="en-US" sz="2800"/>
              <a:t>   mark spot as visited</a:t>
            </a:r>
          </a:p>
          <a:p>
            <a:r>
              <a:rPr lang="en-US" altLang="en-US" sz="2800"/>
              <a:t>   bump up current count by one</a:t>
            </a:r>
          </a:p>
          <a:p>
            <a:r>
              <a:rPr lang="en-US" altLang="en-US" sz="2800"/>
              <a:t>   recur up</a:t>
            </a:r>
          </a:p>
          <a:p>
            <a:r>
              <a:rPr lang="en-US" altLang="en-US" sz="2800"/>
              <a:t>   recur down</a:t>
            </a:r>
          </a:p>
          <a:p>
            <a:r>
              <a:rPr lang="en-US" altLang="en-US" sz="2800"/>
              <a:t>   recur left</a:t>
            </a:r>
          </a:p>
          <a:p>
            <a:r>
              <a:rPr lang="en-US" altLang="en-US" sz="2800"/>
              <a:t>   recur right</a:t>
            </a:r>
          </a:p>
        </p:txBody>
      </p:sp>
      <p:sp>
        <p:nvSpPr>
          <p:cNvPr id="144387" name="WordArt 3">
            <a:extLst>
              <a:ext uri="{FF2B5EF4-FFF2-40B4-BE49-F238E27FC236}">
                <a16:creationId xmlns:a16="http://schemas.microsoft.com/office/drawing/2014/main" id="{72015E2D-3751-78D8-0E34-91837AC8A36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934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Counting Spots</a:t>
            </a:r>
          </a:p>
        </p:txBody>
      </p:sp>
      <p:sp>
        <p:nvSpPr>
          <p:cNvPr id="144388" name="Text Box 4">
            <a:extLst>
              <a:ext uri="{FF2B5EF4-FFF2-40B4-BE49-F238E27FC236}">
                <a16:creationId xmlns:a16="http://schemas.microsoft.com/office/drawing/2014/main" id="{4FA4CF78-D7EF-223E-FCB7-89C1E9313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038600"/>
            <a:ext cx="3505200" cy="144462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4400">
                <a:solidFill>
                  <a:srgbClr val="FF0000"/>
                </a:solidFill>
                <a:latin typeface="Courier New" panose="02070309020205020404" pitchFamily="49" charset="0"/>
              </a:rPr>
              <a:t>@</a:t>
            </a:r>
            <a:r>
              <a:rPr lang="en-US" altLang="en-US" sz="4400">
                <a:latin typeface="Courier New" panose="02070309020205020404" pitchFamily="49" charset="0"/>
              </a:rPr>
              <a:t> - </a:t>
            </a:r>
            <a:r>
              <a:rPr lang="en-US" altLang="en-US" sz="4400">
                <a:solidFill>
                  <a:srgbClr val="FF0000"/>
                </a:solidFill>
                <a:latin typeface="Courier New" panose="02070309020205020404" pitchFamily="49" charset="0"/>
              </a:rPr>
              <a:t>@</a:t>
            </a:r>
            <a:r>
              <a:rPr lang="en-US" altLang="en-US" sz="4400">
                <a:latin typeface="Courier New" panose="02070309020205020404" pitchFamily="49" charset="0"/>
              </a:rPr>
              <a:t> - -</a:t>
            </a:r>
          </a:p>
          <a:p>
            <a:r>
              <a:rPr lang="en-US" altLang="en-US" sz="4400">
                <a:solidFill>
                  <a:srgbClr val="FF0000"/>
                </a:solidFill>
                <a:latin typeface="Courier New" panose="02070309020205020404" pitchFamily="49" charset="0"/>
              </a:rPr>
              <a:t>@ @ @</a:t>
            </a:r>
            <a:r>
              <a:rPr lang="en-US" altLang="en-US" sz="4400">
                <a:latin typeface="Courier New" panose="02070309020205020404" pitchFamily="49" charset="0"/>
              </a:rPr>
              <a:t> - @</a:t>
            </a:r>
          </a:p>
        </p:txBody>
      </p:sp>
      <p:sp>
        <p:nvSpPr>
          <p:cNvPr id="144389" name="Line 5">
            <a:extLst>
              <a:ext uri="{FF2B5EF4-FFF2-40B4-BE49-F238E27FC236}">
                <a16:creationId xmlns:a16="http://schemas.microsoft.com/office/drawing/2014/main" id="{A6E2F454-B673-F14B-24F2-9817D05B69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419600"/>
            <a:ext cx="304800" cy="0"/>
          </a:xfrm>
          <a:prstGeom prst="line">
            <a:avLst/>
          </a:prstGeom>
          <a:noFill/>
          <a:ln w="1016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90" name="Line 6">
            <a:extLst>
              <a:ext uri="{FF2B5EF4-FFF2-40B4-BE49-F238E27FC236}">
                <a16:creationId xmlns:a16="http://schemas.microsoft.com/office/drawing/2014/main" id="{DA9BA2F0-1086-0505-A011-ADE2769C3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419600"/>
            <a:ext cx="304800" cy="0"/>
          </a:xfrm>
          <a:prstGeom prst="line">
            <a:avLst/>
          </a:prstGeom>
          <a:noFill/>
          <a:ln w="1016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91" name="Line 7">
            <a:extLst>
              <a:ext uri="{FF2B5EF4-FFF2-40B4-BE49-F238E27FC236}">
                <a16:creationId xmlns:a16="http://schemas.microsoft.com/office/drawing/2014/main" id="{AB7D6AEA-EAFE-1F28-E285-180BF5305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648200"/>
            <a:ext cx="0" cy="304800"/>
          </a:xfrm>
          <a:prstGeom prst="line">
            <a:avLst/>
          </a:prstGeom>
          <a:noFill/>
          <a:ln w="1016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92" name="Line 8">
            <a:extLst>
              <a:ext uri="{FF2B5EF4-FFF2-40B4-BE49-F238E27FC236}">
                <a16:creationId xmlns:a16="http://schemas.microsoft.com/office/drawing/2014/main" id="{399CD7FF-085A-2420-B592-7A22E56500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3886200"/>
            <a:ext cx="0" cy="304800"/>
          </a:xfrm>
          <a:prstGeom prst="line">
            <a:avLst/>
          </a:prstGeom>
          <a:noFill/>
          <a:ln w="1016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93" name="Text Box 9">
            <a:extLst>
              <a:ext uri="{FF2B5EF4-FFF2-40B4-BE49-F238E27FC236}">
                <a16:creationId xmlns:a16="http://schemas.microsoft.com/office/drawing/2014/main" id="{98A845D2-3AE9-9136-6F3E-BADFB95C4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038600"/>
            <a:ext cx="3505200" cy="144462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4400">
                <a:solidFill>
                  <a:srgbClr val="FF0000"/>
                </a:solidFill>
                <a:latin typeface="Courier New" panose="02070309020205020404" pitchFamily="49" charset="0"/>
              </a:rPr>
              <a:t>-</a:t>
            </a:r>
            <a:r>
              <a:rPr lang="en-US" altLang="en-US" sz="4400">
                <a:latin typeface="Courier New" panose="02070309020205020404" pitchFamily="49" charset="0"/>
              </a:rPr>
              <a:t> - </a:t>
            </a:r>
            <a:r>
              <a:rPr lang="en-US" altLang="en-US" sz="4400">
                <a:solidFill>
                  <a:srgbClr val="FF0000"/>
                </a:solidFill>
                <a:latin typeface="Courier New" panose="02070309020205020404" pitchFamily="49" charset="0"/>
              </a:rPr>
              <a:t>@</a:t>
            </a:r>
            <a:r>
              <a:rPr lang="en-US" altLang="en-US" sz="4400">
                <a:latin typeface="Courier New" panose="02070309020205020404" pitchFamily="49" charset="0"/>
              </a:rPr>
              <a:t> - -</a:t>
            </a:r>
          </a:p>
          <a:p>
            <a:r>
              <a:rPr lang="en-US" altLang="en-US" sz="4400">
                <a:solidFill>
                  <a:srgbClr val="FF0000"/>
                </a:solidFill>
                <a:latin typeface="Courier New" panose="02070309020205020404" pitchFamily="49" charset="0"/>
              </a:rPr>
              <a:t>@ @ @</a:t>
            </a:r>
            <a:r>
              <a:rPr lang="en-US" altLang="en-US" sz="4400">
                <a:latin typeface="Courier New" panose="02070309020205020404" pitchFamily="49" charset="0"/>
              </a:rPr>
              <a:t> - @</a:t>
            </a:r>
          </a:p>
        </p:txBody>
      </p:sp>
      <p:sp>
        <p:nvSpPr>
          <p:cNvPr id="144394" name="Line 10">
            <a:extLst>
              <a:ext uri="{FF2B5EF4-FFF2-40B4-BE49-F238E27FC236}">
                <a16:creationId xmlns:a16="http://schemas.microsoft.com/office/drawing/2014/main" id="{9DE3D3FC-DB3E-872F-4CB3-980B64CC81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5181600"/>
            <a:ext cx="304800" cy="0"/>
          </a:xfrm>
          <a:prstGeom prst="line">
            <a:avLst/>
          </a:prstGeom>
          <a:noFill/>
          <a:ln w="1016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95" name="Line 11">
            <a:extLst>
              <a:ext uri="{FF2B5EF4-FFF2-40B4-BE49-F238E27FC236}">
                <a16:creationId xmlns:a16="http://schemas.microsoft.com/office/drawing/2014/main" id="{FA036039-4E90-8DCE-C7F0-D113A6FE0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5181600"/>
            <a:ext cx="304800" cy="0"/>
          </a:xfrm>
          <a:prstGeom prst="line">
            <a:avLst/>
          </a:prstGeom>
          <a:noFill/>
          <a:ln w="1016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96" name="Line 12">
            <a:extLst>
              <a:ext uri="{FF2B5EF4-FFF2-40B4-BE49-F238E27FC236}">
                <a16:creationId xmlns:a16="http://schemas.microsoft.com/office/drawing/2014/main" id="{AEFF1799-D5B1-3636-1217-9AC7C5DC7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410200"/>
            <a:ext cx="0" cy="304800"/>
          </a:xfrm>
          <a:prstGeom prst="line">
            <a:avLst/>
          </a:prstGeom>
          <a:noFill/>
          <a:ln w="1016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97" name="Line 13">
            <a:extLst>
              <a:ext uri="{FF2B5EF4-FFF2-40B4-BE49-F238E27FC236}">
                <a16:creationId xmlns:a16="http://schemas.microsoft.com/office/drawing/2014/main" id="{230DDD35-5BED-1A37-20FE-C6C61F0736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4572000"/>
            <a:ext cx="0" cy="304800"/>
          </a:xfrm>
          <a:prstGeom prst="line">
            <a:avLst/>
          </a:prstGeom>
          <a:noFill/>
          <a:ln w="1016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98" name="Text Box 14">
            <a:extLst>
              <a:ext uri="{FF2B5EF4-FFF2-40B4-BE49-F238E27FC236}">
                <a16:creationId xmlns:a16="http://schemas.microsoft.com/office/drawing/2014/main" id="{B8CD74FA-CB75-9F5A-4D01-703A91042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038600"/>
            <a:ext cx="3505200" cy="144462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4400">
                <a:solidFill>
                  <a:srgbClr val="FF0000"/>
                </a:solidFill>
                <a:latin typeface="Courier New" panose="02070309020205020404" pitchFamily="49" charset="0"/>
              </a:rPr>
              <a:t>-</a:t>
            </a:r>
            <a:r>
              <a:rPr lang="en-US" altLang="en-US" sz="4400">
                <a:latin typeface="Courier New" panose="02070309020205020404" pitchFamily="49" charset="0"/>
              </a:rPr>
              <a:t> - </a:t>
            </a:r>
            <a:r>
              <a:rPr lang="en-US" altLang="en-US" sz="4400">
                <a:solidFill>
                  <a:srgbClr val="FF0000"/>
                </a:solidFill>
                <a:latin typeface="Courier New" panose="02070309020205020404" pitchFamily="49" charset="0"/>
              </a:rPr>
              <a:t>@</a:t>
            </a:r>
            <a:r>
              <a:rPr lang="en-US" altLang="en-US" sz="4400">
                <a:latin typeface="Courier New" panose="02070309020205020404" pitchFamily="49" charset="0"/>
              </a:rPr>
              <a:t> - -</a:t>
            </a:r>
          </a:p>
          <a:p>
            <a:r>
              <a:rPr lang="en-US" altLang="en-US" sz="4400">
                <a:solidFill>
                  <a:srgbClr val="FF0000"/>
                </a:solidFill>
                <a:latin typeface="Courier New" panose="02070309020205020404" pitchFamily="49" charset="0"/>
              </a:rPr>
              <a:t>- @ @</a:t>
            </a:r>
            <a:r>
              <a:rPr lang="en-US" altLang="en-US" sz="4400">
                <a:latin typeface="Courier New" panose="02070309020205020404" pitchFamily="49" charset="0"/>
              </a:rPr>
              <a:t> - @</a:t>
            </a:r>
          </a:p>
        </p:txBody>
      </p:sp>
      <p:sp>
        <p:nvSpPr>
          <p:cNvPr id="144399" name="Line 15">
            <a:extLst>
              <a:ext uri="{FF2B5EF4-FFF2-40B4-BE49-F238E27FC236}">
                <a16:creationId xmlns:a16="http://schemas.microsoft.com/office/drawing/2014/main" id="{4E0E545A-27DB-D28A-09ED-A504DC2912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5105400"/>
            <a:ext cx="304800" cy="0"/>
          </a:xfrm>
          <a:prstGeom prst="line">
            <a:avLst/>
          </a:prstGeom>
          <a:noFill/>
          <a:ln w="1016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00" name="Line 16">
            <a:extLst>
              <a:ext uri="{FF2B5EF4-FFF2-40B4-BE49-F238E27FC236}">
                <a16:creationId xmlns:a16="http://schemas.microsoft.com/office/drawing/2014/main" id="{D4888AC7-F12C-F8CA-D733-8E8964A0B0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5105400"/>
            <a:ext cx="304800" cy="0"/>
          </a:xfrm>
          <a:prstGeom prst="line">
            <a:avLst/>
          </a:prstGeom>
          <a:noFill/>
          <a:ln w="1016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01" name="Line 17">
            <a:extLst>
              <a:ext uri="{FF2B5EF4-FFF2-40B4-BE49-F238E27FC236}">
                <a16:creationId xmlns:a16="http://schemas.microsoft.com/office/drawing/2014/main" id="{0EFC7FC0-7BA1-EA3B-C3BB-6A510B8C30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334000"/>
            <a:ext cx="0" cy="304800"/>
          </a:xfrm>
          <a:prstGeom prst="line">
            <a:avLst/>
          </a:prstGeom>
          <a:noFill/>
          <a:ln w="1016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02" name="Line 18">
            <a:extLst>
              <a:ext uri="{FF2B5EF4-FFF2-40B4-BE49-F238E27FC236}">
                <a16:creationId xmlns:a16="http://schemas.microsoft.com/office/drawing/2014/main" id="{F585FD98-0640-0235-B785-6D53EE8044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4572000"/>
            <a:ext cx="0" cy="304800"/>
          </a:xfrm>
          <a:prstGeom prst="line">
            <a:avLst/>
          </a:prstGeom>
          <a:noFill/>
          <a:ln w="1016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3" dur="20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6" dur="20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9" dur="20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2" dur="20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5" dur="20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14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14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14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57" dur="20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0" dur="2000"/>
                                        <p:tgtEl>
                                          <p:spTgt spid="144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3" dur="20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6" dur="2000"/>
                                        <p:tgtEl>
                                          <p:spTgt spid="144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9" dur="2000"/>
                                        <p:tgtEl>
                                          <p:spTgt spid="144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14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8" dur="2000"/>
                                        <p:tgtEl>
                                          <p:spTgt spid="14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14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4" dur="2000"/>
                                        <p:tgtEl>
                                          <p:spTgt spid="144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7" dur="2000"/>
                                        <p:tgtEl>
                                          <p:spTgt spid="144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1" dur="2000"/>
                                        <p:tgtEl>
                                          <p:spTgt spid="144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4" dur="2000"/>
                                        <p:tgtEl>
                                          <p:spTgt spid="144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7" dur="2000"/>
                                        <p:tgtEl>
                                          <p:spTgt spid="144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00" dur="2000"/>
                                        <p:tgtEl>
                                          <p:spTgt spid="144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03" dur="2000"/>
                                        <p:tgtEl>
                                          <p:spTgt spid="144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8" grpId="0" animBg="1"/>
      <p:bldP spid="144388" grpId="1" animBg="1"/>
      <p:bldP spid="144393" grpId="0" animBg="1"/>
      <p:bldP spid="144393" grpId="1" animBg="1"/>
      <p:bldP spid="144398" grpId="0" animBg="1"/>
      <p:bldP spid="144398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544B934-09A1-1D07-0C77-D695872C6C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23906" name="WordArt 2">
            <a:extLst>
              <a:ext uri="{FF2B5EF4-FFF2-40B4-BE49-F238E27FC236}">
                <a16:creationId xmlns:a16="http://schemas.microsoft.com/office/drawing/2014/main" id="{A2C1E77D-BC31-9E42-2F84-B94433DE956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1295400"/>
            <a:ext cx="6934200" cy="3657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Start work</a:t>
            </a:r>
          </a:p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on Lab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1526</TotalTime>
  <Words>1299</Words>
  <Application>Microsoft Office PowerPoint</Application>
  <PresentationFormat>On-screen Show (4:3)</PresentationFormat>
  <Paragraphs>333</Paragraphs>
  <Slides>42</Slides>
  <Notes>42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</dc:title>
  <dc:subject>Recursion</dc:subject>
  <dc:creator>A+ Computer Science</dc:creator>
  <cp:keywords>www.apluscompsci.com</cp:keywords>
  <dc:description>Recursion_x000d_
©A+ Computer Science_x000d_
www.apluscompsci.com</dc:description>
  <cp:lastModifiedBy>apluscompsci</cp:lastModifiedBy>
  <cp:revision>335</cp:revision>
  <cp:lastPrinted>2000-04-17T15:27:27Z</cp:lastPrinted>
  <dcterms:created xsi:type="dcterms:W3CDTF">1995-06-17T23:31:02Z</dcterms:created>
  <dcterms:modified xsi:type="dcterms:W3CDTF">2025-07-17T17:25:22Z</dcterms:modified>
  <cp:category>www.apluscomspci.com</cp:category>
</cp:coreProperties>
</file>