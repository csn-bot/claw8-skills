
<file path=[Content_Types].xml><?xml version="1.0" encoding="utf-8"?>
<Types xmlns="http://schemas.openxmlformats.org/package/2006/content-types">
  <Default Extension="bin" ContentType="audio/unknown"/>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embeddings/oleObject1.bin" ContentType="application/vnd.openxmlformats-officedocument.oleObject"/>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embeddings/oleObject2.bin" ContentType="application/vnd.openxmlformats-officedocument.oleObject"/>
  <Override PartName="/ppt/notesSlides/notesSlide41.xml" ContentType="application/vnd.openxmlformats-officedocument.presentationml.notesSlide+xml"/>
  <Override PartName="/ppt/embeddings/oleObject3.bin" ContentType="application/vnd.openxmlformats-officedocument.oleObject"/>
  <Override PartName="/ppt/embeddings/oleObject4.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trictFirstAndLastChars="0" saveSubsetFonts="1">
  <p:sldMasterIdLst>
    <p:sldMasterId id="2147483648" r:id="rId1"/>
  </p:sldMasterIdLst>
  <p:notesMasterIdLst>
    <p:notesMasterId r:id="rId63"/>
  </p:notesMasterIdLst>
  <p:handoutMasterIdLst>
    <p:handoutMasterId r:id="rId64"/>
  </p:handoutMasterIdLst>
  <p:sldIdLst>
    <p:sldId id="256" r:id="rId2"/>
    <p:sldId id="412" r:id="rId3"/>
    <p:sldId id="419" r:id="rId4"/>
    <p:sldId id="421" r:id="rId5"/>
    <p:sldId id="413" r:id="rId6"/>
    <p:sldId id="415" r:id="rId7"/>
    <p:sldId id="416" r:id="rId8"/>
    <p:sldId id="414" r:id="rId9"/>
    <p:sldId id="417" r:id="rId10"/>
    <p:sldId id="418" r:id="rId11"/>
    <p:sldId id="347" r:id="rId12"/>
    <p:sldId id="314" r:id="rId13"/>
    <p:sldId id="325" r:id="rId14"/>
    <p:sldId id="371" r:id="rId15"/>
    <p:sldId id="402" r:id="rId16"/>
    <p:sldId id="339" r:id="rId17"/>
    <p:sldId id="340" r:id="rId18"/>
    <p:sldId id="343" r:id="rId19"/>
    <p:sldId id="411" r:id="rId20"/>
    <p:sldId id="345" r:id="rId21"/>
    <p:sldId id="382" r:id="rId22"/>
    <p:sldId id="381" r:id="rId23"/>
    <p:sldId id="405" r:id="rId24"/>
    <p:sldId id="348" r:id="rId25"/>
    <p:sldId id="267" r:id="rId26"/>
    <p:sldId id="257" r:id="rId27"/>
    <p:sldId id="373" r:id="rId28"/>
    <p:sldId id="269" r:id="rId29"/>
    <p:sldId id="261" r:id="rId30"/>
    <p:sldId id="406" r:id="rId31"/>
    <p:sldId id="407" r:id="rId32"/>
    <p:sldId id="396" r:id="rId33"/>
    <p:sldId id="401" r:id="rId34"/>
    <p:sldId id="403" r:id="rId35"/>
    <p:sldId id="270" r:id="rId36"/>
    <p:sldId id="263" r:id="rId37"/>
    <p:sldId id="400" r:id="rId38"/>
    <p:sldId id="398" r:id="rId39"/>
    <p:sldId id="404" r:id="rId40"/>
    <p:sldId id="351" r:id="rId41"/>
    <p:sldId id="352" r:id="rId42"/>
    <p:sldId id="353" r:id="rId43"/>
    <p:sldId id="354" r:id="rId44"/>
    <p:sldId id="356" r:id="rId45"/>
    <p:sldId id="357" r:id="rId46"/>
    <p:sldId id="358" r:id="rId47"/>
    <p:sldId id="392" r:id="rId48"/>
    <p:sldId id="378" r:id="rId49"/>
    <p:sldId id="361" r:id="rId50"/>
    <p:sldId id="362" r:id="rId51"/>
    <p:sldId id="394" r:id="rId52"/>
    <p:sldId id="364" r:id="rId53"/>
    <p:sldId id="375" r:id="rId54"/>
    <p:sldId id="383" r:id="rId55"/>
    <p:sldId id="379" r:id="rId56"/>
    <p:sldId id="408" r:id="rId57"/>
    <p:sldId id="409" r:id="rId58"/>
    <p:sldId id="410" r:id="rId59"/>
    <p:sldId id="387" r:id="rId60"/>
    <p:sldId id="388" r:id="rId61"/>
    <p:sldId id="390" r:id="rId62"/>
  </p:sldIdLst>
  <p:sldSz cx="9144000" cy="6858000" type="screen4x3"/>
  <p:notesSz cx="6858000" cy="9144000"/>
  <p:defaultTextStyle>
    <a:defPPr>
      <a:defRPr lang="en-US"/>
    </a:defPPr>
    <a:lvl1pPr algn="ctr" rtl="0" eaLnBrk="0" fontAlgn="base" hangingPunct="0">
      <a:spcBef>
        <a:spcPct val="0"/>
      </a:spcBef>
      <a:spcAft>
        <a:spcPct val="0"/>
      </a:spcAft>
      <a:defRPr sz="2800" b="1" kern="1200">
        <a:solidFill>
          <a:schemeClr val="tx1"/>
        </a:solidFill>
        <a:latin typeface="Tahoma" panose="020B0604030504040204" pitchFamily="34" charset="0"/>
        <a:ea typeface="ＭＳ Ｐゴシック" panose="020B0600070205080204" pitchFamily="34" charset="-128"/>
        <a:cs typeface="+mn-cs"/>
      </a:defRPr>
    </a:lvl1pPr>
    <a:lvl2pPr marL="457200" algn="ctr" rtl="0" eaLnBrk="0" fontAlgn="base" hangingPunct="0">
      <a:spcBef>
        <a:spcPct val="0"/>
      </a:spcBef>
      <a:spcAft>
        <a:spcPct val="0"/>
      </a:spcAft>
      <a:defRPr sz="2800" b="1" kern="1200">
        <a:solidFill>
          <a:schemeClr val="tx1"/>
        </a:solidFill>
        <a:latin typeface="Tahoma" panose="020B0604030504040204" pitchFamily="34" charset="0"/>
        <a:ea typeface="ＭＳ Ｐゴシック" panose="020B0600070205080204" pitchFamily="34" charset="-128"/>
        <a:cs typeface="+mn-cs"/>
      </a:defRPr>
    </a:lvl2pPr>
    <a:lvl3pPr marL="914400" algn="ctr" rtl="0" eaLnBrk="0" fontAlgn="base" hangingPunct="0">
      <a:spcBef>
        <a:spcPct val="0"/>
      </a:spcBef>
      <a:spcAft>
        <a:spcPct val="0"/>
      </a:spcAft>
      <a:defRPr sz="2800" b="1" kern="1200">
        <a:solidFill>
          <a:schemeClr val="tx1"/>
        </a:solidFill>
        <a:latin typeface="Tahoma" panose="020B0604030504040204" pitchFamily="34" charset="0"/>
        <a:ea typeface="ＭＳ Ｐゴシック" panose="020B0600070205080204" pitchFamily="34" charset="-128"/>
        <a:cs typeface="+mn-cs"/>
      </a:defRPr>
    </a:lvl3pPr>
    <a:lvl4pPr marL="1371600" algn="ctr" rtl="0" eaLnBrk="0" fontAlgn="base" hangingPunct="0">
      <a:spcBef>
        <a:spcPct val="0"/>
      </a:spcBef>
      <a:spcAft>
        <a:spcPct val="0"/>
      </a:spcAft>
      <a:defRPr sz="2800" b="1" kern="1200">
        <a:solidFill>
          <a:schemeClr val="tx1"/>
        </a:solidFill>
        <a:latin typeface="Tahoma" panose="020B0604030504040204" pitchFamily="34" charset="0"/>
        <a:ea typeface="ＭＳ Ｐゴシック" panose="020B0600070205080204" pitchFamily="34" charset="-128"/>
        <a:cs typeface="+mn-cs"/>
      </a:defRPr>
    </a:lvl4pPr>
    <a:lvl5pPr marL="1828800" algn="ctr" rtl="0" eaLnBrk="0" fontAlgn="base" hangingPunct="0">
      <a:spcBef>
        <a:spcPct val="0"/>
      </a:spcBef>
      <a:spcAft>
        <a:spcPct val="0"/>
      </a:spcAft>
      <a:defRPr sz="2800" b="1" kern="1200">
        <a:solidFill>
          <a:schemeClr val="tx1"/>
        </a:solidFill>
        <a:latin typeface="Tahoma" panose="020B0604030504040204" pitchFamily="34" charset="0"/>
        <a:ea typeface="ＭＳ Ｐゴシック" panose="020B0600070205080204" pitchFamily="34" charset="-128"/>
        <a:cs typeface="+mn-cs"/>
      </a:defRPr>
    </a:lvl5pPr>
    <a:lvl6pPr marL="2286000" algn="l" defTabSz="914400" rtl="0" eaLnBrk="1" latinLnBrk="0" hangingPunct="1">
      <a:defRPr sz="2800" b="1" kern="1200">
        <a:solidFill>
          <a:schemeClr val="tx1"/>
        </a:solidFill>
        <a:latin typeface="Tahoma" panose="020B0604030504040204" pitchFamily="34" charset="0"/>
        <a:ea typeface="ＭＳ Ｐゴシック" panose="020B0600070205080204" pitchFamily="34" charset="-128"/>
        <a:cs typeface="+mn-cs"/>
      </a:defRPr>
    </a:lvl6pPr>
    <a:lvl7pPr marL="2743200" algn="l" defTabSz="914400" rtl="0" eaLnBrk="1" latinLnBrk="0" hangingPunct="1">
      <a:defRPr sz="2800" b="1" kern="1200">
        <a:solidFill>
          <a:schemeClr val="tx1"/>
        </a:solidFill>
        <a:latin typeface="Tahoma" panose="020B0604030504040204" pitchFamily="34" charset="0"/>
        <a:ea typeface="ＭＳ Ｐゴシック" panose="020B0600070205080204" pitchFamily="34" charset="-128"/>
        <a:cs typeface="+mn-cs"/>
      </a:defRPr>
    </a:lvl7pPr>
    <a:lvl8pPr marL="3200400" algn="l" defTabSz="914400" rtl="0" eaLnBrk="1" latinLnBrk="0" hangingPunct="1">
      <a:defRPr sz="2800" b="1" kern="1200">
        <a:solidFill>
          <a:schemeClr val="tx1"/>
        </a:solidFill>
        <a:latin typeface="Tahoma" panose="020B0604030504040204" pitchFamily="34" charset="0"/>
        <a:ea typeface="ＭＳ Ｐゴシック" panose="020B0600070205080204" pitchFamily="34" charset="-128"/>
        <a:cs typeface="+mn-cs"/>
      </a:defRPr>
    </a:lvl8pPr>
    <a:lvl9pPr marL="3657600" algn="l" defTabSz="914400" rtl="0" eaLnBrk="1" latinLnBrk="0" hangingPunct="1">
      <a:defRPr sz="2800" b="1" kern="1200">
        <a:solidFill>
          <a:schemeClr val="tx1"/>
        </a:solidFill>
        <a:latin typeface="Tahoma" panose="020B060403050404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8"/>
  </p:normalViewPr>
  <p:slideViewPr>
    <p:cSldViewPr>
      <p:cViewPr varScale="1">
        <p:scale>
          <a:sx n="117" d="100"/>
          <a:sy n="117" d="100"/>
        </p:scale>
        <p:origin x="2024"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0" d="100"/>
          <a:sy n="60" d="100"/>
        </p:scale>
        <p:origin x="-172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950C3E76-FF32-04D8-4E3E-D3585C26545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ahoma" pitchFamily="34" charset="0"/>
                <a:ea typeface="+mn-ea"/>
              </a:defRPr>
            </a:lvl1pPr>
          </a:lstStyle>
          <a:p>
            <a:pPr>
              <a:defRPr/>
            </a:pPr>
            <a:endParaRPr lang="en-US"/>
          </a:p>
        </p:txBody>
      </p:sp>
      <p:sp>
        <p:nvSpPr>
          <p:cNvPr id="77827" name="Rectangle 3">
            <a:extLst>
              <a:ext uri="{FF2B5EF4-FFF2-40B4-BE49-F238E27FC236}">
                <a16:creationId xmlns:a16="http://schemas.microsoft.com/office/drawing/2014/main" id="{7EAE00EE-79AC-4150-CCC8-13F5A8D1C21E}"/>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ahoma" pitchFamily="34" charset="0"/>
                <a:ea typeface="+mn-ea"/>
              </a:defRPr>
            </a:lvl1pPr>
          </a:lstStyle>
          <a:p>
            <a:pPr>
              <a:defRPr/>
            </a:pPr>
            <a:endParaRPr lang="en-US"/>
          </a:p>
        </p:txBody>
      </p:sp>
      <p:sp>
        <p:nvSpPr>
          <p:cNvPr id="77828" name="Rectangle 4">
            <a:extLst>
              <a:ext uri="{FF2B5EF4-FFF2-40B4-BE49-F238E27FC236}">
                <a16:creationId xmlns:a16="http://schemas.microsoft.com/office/drawing/2014/main" id="{1F7CDCF5-63D8-0A8E-0E56-70CDC808F3A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ahoma" pitchFamily="34" charset="0"/>
                <a:ea typeface="+mn-ea"/>
              </a:defRPr>
            </a:lvl1pPr>
          </a:lstStyle>
          <a:p>
            <a:pPr>
              <a:defRPr/>
            </a:pPr>
            <a:endParaRPr lang="en-US"/>
          </a:p>
        </p:txBody>
      </p:sp>
      <p:sp>
        <p:nvSpPr>
          <p:cNvPr id="77829" name="Rectangle 5">
            <a:extLst>
              <a:ext uri="{FF2B5EF4-FFF2-40B4-BE49-F238E27FC236}">
                <a16:creationId xmlns:a16="http://schemas.microsoft.com/office/drawing/2014/main" id="{00F04796-2AA4-C447-FE64-F67667A1E7FC}"/>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660DFF4B-6F1D-AA42-BCBD-57CCD0CC8DD9}"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1026">
            <a:extLst>
              <a:ext uri="{FF2B5EF4-FFF2-40B4-BE49-F238E27FC236}">
                <a16:creationId xmlns:a16="http://schemas.microsoft.com/office/drawing/2014/main" id="{18982A0D-CADA-A7DD-0ADF-A72F70B7066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ahoma" pitchFamily="34" charset="0"/>
                <a:ea typeface="+mn-ea"/>
              </a:defRPr>
            </a:lvl1pPr>
          </a:lstStyle>
          <a:p>
            <a:pPr>
              <a:defRPr/>
            </a:pPr>
            <a:endParaRPr lang="en-US"/>
          </a:p>
        </p:txBody>
      </p:sp>
      <p:sp>
        <p:nvSpPr>
          <p:cNvPr id="125955" name="Rectangle 1027">
            <a:extLst>
              <a:ext uri="{FF2B5EF4-FFF2-40B4-BE49-F238E27FC236}">
                <a16:creationId xmlns:a16="http://schemas.microsoft.com/office/drawing/2014/main" id="{7A2ACA51-A9BA-F9FA-0548-E6F931E6FB23}"/>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ahoma" pitchFamily="34" charset="0"/>
                <a:ea typeface="+mn-ea"/>
              </a:defRPr>
            </a:lvl1pPr>
          </a:lstStyle>
          <a:p>
            <a:pPr>
              <a:defRPr/>
            </a:pPr>
            <a:endParaRPr lang="en-US"/>
          </a:p>
        </p:txBody>
      </p:sp>
      <p:sp>
        <p:nvSpPr>
          <p:cNvPr id="14340" name="Rectangle 1028">
            <a:extLst>
              <a:ext uri="{FF2B5EF4-FFF2-40B4-BE49-F238E27FC236}">
                <a16:creationId xmlns:a16="http://schemas.microsoft.com/office/drawing/2014/main" id="{D94A297C-8351-B35A-1951-8D8B96F9A7A1}"/>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7" name="Rectangle 1029">
            <a:extLst>
              <a:ext uri="{FF2B5EF4-FFF2-40B4-BE49-F238E27FC236}">
                <a16:creationId xmlns:a16="http://schemas.microsoft.com/office/drawing/2014/main" id="{E1393654-A06C-90BA-9C5A-8689757218D0}"/>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42" name="Rectangle 1032">
            <a:extLst>
              <a:ext uri="{FF2B5EF4-FFF2-40B4-BE49-F238E27FC236}">
                <a16:creationId xmlns:a16="http://schemas.microsoft.com/office/drawing/2014/main" id="{99D6436F-9381-6D9E-F058-BC9FBB646B29}"/>
              </a:ext>
            </a:extLst>
          </p:cNvPr>
          <p:cNvSpPr>
            <a:spLocks noChangeArrowheads="1"/>
          </p:cNvSpPr>
          <p:nvPr/>
        </p:nvSpPr>
        <p:spPr bwMode="auto">
          <a:xfrm>
            <a:off x="1371600" y="86868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r"/>
            <a:r>
              <a:rPr lang="en-US" altLang="en-US" sz="1200"/>
              <a:t>©A+ Computer Science     www.apluscompsci.com                 </a:t>
            </a:r>
            <a:fld id="{C4E9AEDE-4425-8B4C-AB2B-4ACD63D5E50F}" type="slidenum">
              <a:rPr lang="en-US" altLang="en-US" sz="1200"/>
              <a:pPr algn="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AEB84A33-F1DD-5DC3-9A98-8D23070BB07B}"/>
              </a:ext>
            </a:extLst>
          </p:cNvPr>
          <p:cNvSpPr>
            <a:spLocks noChangeArrowheads="1" noTextEdit="1"/>
          </p:cNvSpPr>
          <p:nvPr>
            <p:ph type="sldImg"/>
          </p:nvPr>
        </p:nvSpPr>
        <p:spPr>
          <a:ln/>
        </p:spPr>
      </p:sp>
      <p:sp>
        <p:nvSpPr>
          <p:cNvPr id="16386" name="Rectangle 3">
            <a:extLst>
              <a:ext uri="{FF2B5EF4-FFF2-40B4-BE49-F238E27FC236}">
                <a16:creationId xmlns:a16="http://schemas.microsoft.com/office/drawing/2014/main" id="{AE6DCFCC-FCC6-D8F9-D0DC-8B7FB528EB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4019478C-32D2-0654-7F3F-E65DB1687CE8}"/>
              </a:ext>
            </a:extLst>
          </p:cNvPr>
          <p:cNvSpPr>
            <a:spLocks noChangeArrowheads="1" noTextEdit="1"/>
          </p:cNvSpPr>
          <p:nvPr>
            <p:ph type="sldImg"/>
          </p:nvPr>
        </p:nvSpPr>
        <p:spPr>
          <a:ln/>
        </p:spPr>
      </p:sp>
      <p:sp>
        <p:nvSpPr>
          <p:cNvPr id="18434" name="Rectangle 3">
            <a:extLst>
              <a:ext uri="{FF2B5EF4-FFF2-40B4-BE49-F238E27FC236}">
                <a16:creationId xmlns:a16="http://schemas.microsoft.com/office/drawing/2014/main" id="{3CCAD1B6-50A3-02AF-13EB-242FB739B4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453629FC-AA4F-2544-5471-3A2E118E0BFC}"/>
              </a:ext>
            </a:extLst>
          </p:cNvPr>
          <p:cNvSpPr>
            <a:spLocks noChangeArrowheads="1" noTextEdit="1"/>
          </p:cNvSpPr>
          <p:nvPr>
            <p:ph type="sldImg"/>
          </p:nvPr>
        </p:nvSpPr>
        <p:spPr>
          <a:ln/>
        </p:spPr>
      </p:sp>
      <p:sp>
        <p:nvSpPr>
          <p:cNvPr id="20482" name="Rectangle 3">
            <a:extLst>
              <a:ext uri="{FF2B5EF4-FFF2-40B4-BE49-F238E27FC236}">
                <a16:creationId xmlns:a16="http://schemas.microsoft.com/office/drawing/2014/main" id="{AA6E917C-8A5D-8279-70FD-14EB31DD64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a:ea typeface="ＭＳ Ｐゴシック" panose="020B0600070205080204" pitchFamily="34" charset="-128"/>
              </a:rPr>
              <a:t>The </a:t>
            </a:r>
            <a:r>
              <a:rPr lang="en-US" altLang="en-US" sz="1600">
                <a:latin typeface="Courier New" panose="02070309020205020404" pitchFamily="49" charset="0"/>
                <a:ea typeface="ＭＳ Ｐゴシック" panose="020B0600070205080204" pitchFamily="34" charset="-128"/>
              </a:rPr>
              <a:t>List interface which is implemented by the ArrayList class has many useful methods.</a:t>
            </a:r>
            <a:r>
              <a:rPr lang="en-US" altLang="en-US" sz="1600">
                <a:ea typeface="ＭＳ Ｐゴシック" panose="020B0600070205080204" pitchFamily="34" charset="-128"/>
              </a:rPr>
              <a:t>  </a:t>
            </a:r>
          </a:p>
          <a:p>
            <a:r>
              <a:rPr lang="en-US" altLang="en-US" sz="1600">
                <a:latin typeface="Courier New" panose="02070309020205020404" pitchFamily="49" charset="0"/>
                <a:ea typeface="ＭＳ Ｐゴシック" panose="020B0600070205080204" pitchFamily="34" charset="-128"/>
              </a:rPr>
              <a:t>indexOf() and contains()</a:t>
            </a:r>
            <a:r>
              <a:rPr lang="en-US" altLang="en-US" sz="1600">
                <a:ea typeface="ＭＳ Ｐゴシック" panose="020B0600070205080204" pitchFamily="34" charset="-128"/>
              </a:rPr>
              <a:t>  will search a list for a specified item.</a:t>
            </a:r>
          </a:p>
          <a:p>
            <a:r>
              <a:rPr lang="en-US" altLang="en-US" sz="1600">
                <a:latin typeface="Courier New" panose="02070309020205020404" pitchFamily="49" charset="0"/>
                <a:ea typeface="ＭＳ Ｐゴシック" panose="020B0600070205080204" pitchFamily="34" charset="-128"/>
              </a:rPr>
              <a:t>equals()</a:t>
            </a:r>
            <a:r>
              <a:rPr lang="en-US" altLang="en-US" sz="1600">
                <a:ea typeface="ＭＳ Ｐゴシック" panose="020B0600070205080204" pitchFamily="34" charset="-128"/>
              </a:rPr>
              <a:t> will see if two lists contain the exact same items in the exact same order.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01716A3B-DAB8-B991-8E4B-877AC61CE6FD}"/>
              </a:ext>
            </a:extLst>
          </p:cNvPr>
          <p:cNvSpPr>
            <a:spLocks noChangeArrowheads="1" noTextEdit="1"/>
          </p:cNvSpPr>
          <p:nvPr>
            <p:ph type="sldImg"/>
          </p:nvPr>
        </p:nvSpPr>
        <p:spPr>
          <a:ln/>
        </p:spPr>
      </p:sp>
      <p:sp>
        <p:nvSpPr>
          <p:cNvPr id="22530" name="Rectangle 3">
            <a:extLst>
              <a:ext uri="{FF2B5EF4-FFF2-40B4-BE49-F238E27FC236}">
                <a16:creationId xmlns:a16="http://schemas.microsoft.com/office/drawing/2014/main" id="{0A495EB9-7681-F9A2-D56B-0D5C8ED8C4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a:latin typeface="Courier New" panose="02070309020205020404" pitchFamily="49" charset="0"/>
                <a:ea typeface="ＭＳ Ｐゴシック" panose="020B0600070205080204" pitchFamily="34" charset="-128"/>
              </a:rPr>
              <a:t>sort()</a:t>
            </a:r>
            <a:r>
              <a:rPr lang="en-US" altLang="en-US" sz="1600">
                <a:ea typeface="ＭＳ Ｐゴシック" panose="020B0600070205080204" pitchFamily="34" charset="-128"/>
              </a:rPr>
              <a:t> will naturally order the items in the Collection.</a:t>
            </a:r>
          </a:p>
          <a:p>
            <a:endParaRPr lang="en-US" altLang="en-US">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67AE0AB3-91DE-0C52-F03A-44670F1B744E}"/>
              </a:ext>
            </a:extLst>
          </p:cNvPr>
          <p:cNvSpPr>
            <a:spLocks noChangeArrowheads="1" noTextEdit="1"/>
          </p:cNvSpPr>
          <p:nvPr>
            <p:ph type="sldImg"/>
          </p:nvPr>
        </p:nvSpPr>
        <p:spPr>
          <a:ln/>
        </p:spPr>
      </p:sp>
      <p:sp>
        <p:nvSpPr>
          <p:cNvPr id="24578" name="Rectangle 3">
            <a:extLst>
              <a:ext uri="{FF2B5EF4-FFF2-40B4-BE49-F238E27FC236}">
                <a16:creationId xmlns:a16="http://schemas.microsoft.com/office/drawing/2014/main" id="{9B2C1E6E-AF6E-D94D-475A-0C9ADE4CAA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a:ea typeface="ＭＳ Ｐゴシック" panose="020B0600070205080204" pitchFamily="34" charset="-128"/>
              </a:rPr>
              <a:t>The </a:t>
            </a:r>
            <a:r>
              <a:rPr lang="en-US" altLang="en-US" sz="1600">
                <a:latin typeface="Courier New" panose="02070309020205020404" pitchFamily="49" charset="0"/>
                <a:ea typeface="ＭＳ Ｐゴシック" panose="020B0600070205080204" pitchFamily="34" charset="-128"/>
              </a:rPr>
              <a:t>Arrays</a:t>
            </a:r>
            <a:r>
              <a:rPr lang="en-US" altLang="en-US" sz="1600">
                <a:ea typeface="ＭＳ Ｐゴシック" panose="020B0600070205080204" pitchFamily="34" charset="-128"/>
              </a:rPr>
              <a:t> class methods above are very useful methods for manipulating Java arrays.  </a:t>
            </a:r>
          </a:p>
          <a:p>
            <a:r>
              <a:rPr lang="en-US" altLang="en-US" sz="1600">
                <a:latin typeface="Courier New" panose="02070309020205020404" pitchFamily="49" charset="0"/>
                <a:ea typeface="ＭＳ Ｐゴシック" panose="020B0600070205080204" pitchFamily="34" charset="-128"/>
              </a:rPr>
              <a:t>sort()</a:t>
            </a:r>
            <a:r>
              <a:rPr lang="en-US" altLang="en-US" sz="1600">
                <a:ea typeface="ＭＳ Ｐゴシック" panose="020B0600070205080204" pitchFamily="34" charset="-128"/>
              </a:rPr>
              <a:t> will naturally order the items in an array.</a:t>
            </a:r>
          </a:p>
          <a:p>
            <a:r>
              <a:rPr lang="en-US" altLang="en-US" sz="1600">
                <a:latin typeface="Courier New" panose="02070309020205020404" pitchFamily="49" charset="0"/>
                <a:ea typeface="ＭＳ Ｐゴシック" panose="020B0600070205080204" pitchFamily="34" charset="-128"/>
              </a:rPr>
              <a:t>binarySearch()</a:t>
            </a:r>
            <a:r>
              <a:rPr lang="en-US" altLang="en-US" sz="1600">
                <a:ea typeface="ＭＳ Ｐゴシック" panose="020B0600070205080204" pitchFamily="34" charset="-128"/>
              </a:rPr>
              <a:t>  will find an item in the array and return the spot at which the item was found.</a:t>
            </a:r>
          </a:p>
          <a:p>
            <a:r>
              <a:rPr lang="en-US" altLang="en-US" sz="1600">
                <a:latin typeface="Courier New" panose="02070309020205020404" pitchFamily="49" charset="0"/>
                <a:ea typeface="ＭＳ Ｐゴシック" panose="020B0600070205080204" pitchFamily="34" charset="-128"/>
              </a:rPr>
              <a:t>equals()</a:t>
            </a:r>
            <a:r>
              <a:rPr lang="en-US" altLang="en-US" sz="1600">
                <a:ea typeface="ＭＳ Ｐゴシック" panose="020B0600070205080204" pitchFamily="34" charset="-128"/>
              </a:rPr>
              <a:t> will see if two arrays contain the exact same items in the exact same order.</a:t>
            </a:r>
          </a:p>
          <a:p>
            <a:r>
              <a:rPr lang="en-US" altLang="en-US" sz="1600">
                <a:latin typeface="Courier New" panose="02070309020205020404" pitchFamily="49" charset="0"/>
                <a:ea typeface="ＭＳ Ｐゴシック" panose="020B0600070205080204" pitchFamily="34" charset="-128"/>
              </a:rPr>
              <a:t>fill()</a:t>
            </a:r>
            <a:r>
              <a:rPr lang="en-US" altLang="en-US" sz="1600">
                <a:ea typeface="ＭＳ Ｐゴシック" panose="020B0600070205080204" pitchFamily="34" charset="-128"/>
              </a:rPr>
              <a:t> will fill in all spots in the array with a provided value.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FD0D5897-BD1A-DB97-EBB3-1A683D174DED}"/>
              </a:ext>
            </a:extLst>
          </p:cNvPr>
          <p:cNvSpPr>
            <a:spLocks noChangeArrowheads="1" noTextEdit="1"/>
          </p:cNvSpPr>
          <p:nvPr>
            <p:ph type="sldImg"/>
          </p:nvPr>
        </p:nvSpPr>
        <p:spPr>
          <a:ln/>
        </p:spPr>
      </p:sp>
      <p:sp>
        <p:nvSpPr>
          <p:cNvPr id="26626" name="Rectangle 3">
            <a:extLst>
              <a:ext uri="{FF2B5EF4-FFF2-40B4-BE49-F238E27FC236}">
                <a16:creationId xmlns:a16="http://schemas.microsoft.com/office/drawing/2014/main" id="{29FB5C0D-BB38-9DCC-4674-FFBE51F7C8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a:latin typeface="Courier New" panose="02070309020205020404" pitchFamily="49" charset="0"/>
                <a:ea typeface="ＭＳ Ｐゴシック" panose="020B0600070205080204" pitchFamily="34" charset="-128"/>
              </a:rPr>
              <a:t>indexOf()</a:t>
            </a:r>
            <a:r>
              <a:rPr lang="en-US" altLang="en-US" sz="1600">
                <a:ea typeface="ＭＳ Ｐゴシック" panose="020B0600070205080204" pitchFamily="34" charset="-128"/>
              </a:rPr>
              <a:t> and </a:t>
            </a:r>
            <a:r>
              <a:rPr lang="en-US" altLang="en-US" sz="1600">
                <a:latin typeface="Courier New" panose="02070309020205020404" pitchFamily="49" charset="0"/>
                <a:ea typeface="ＭＳ Ｐゴシック" panose="020B0600070205080204" pitchFamily="34" charset="-128"/>
              </a:rPr>
              <a:t>binarySearch()</a:t>
            </a:r>
            <a:r>
              <a:rPr lang="en-US" altLang="en-US" sz="1600">
                <a:ea typeface="ＭＳ Ｐゴシック" panose="020B0600070205080204" pitchFamily="34" charset="-128"/>
              </a:rPr>
              <a:t> seach and array for specified value.</a:t>
            </a:r>
          </a:p>
          <a:p>
            <a:r>
              <a:rPr lang="en-US" altLang="en-US" sz="1600">
                <a:latin typeface="Courier New" panose="02070309020205020404" pitchFamily="49" charset="0"/>
                <a:ea typeface="ＭＳ Ｐゴシック" panose="020B0600070205080204" pitchFamily="34" charset="-128"/>
              </a:rPr>
              <a:t>indexOf()</a:t>
            </a:r>
            <a:r>
              <a:rPr lang="en-US" altLang="en-US" sz="1600">
                <a:ea typeface="ＭＳ Ｐゴシック" panose="020B0600070205080204" pitchFamily="34" charset="-128"/>
              </a:rPr>
              <a:t> will return the spot at which the item was found.   It will return -1 if the item was not present.</a:t>
            </a:r>
          </a:p>
          <a:p>
            <a:r>
              <a:rPr lang="en-US" altLang="en-US" sz="1600">
                <a:latin typeface="Courier New" panose="02070309020205020404" pitchFamily="49" charset="0"/>
                <a:ea typeface="ＭＳ Ｐゴシック" panose="020B0600070205080204" pitchFamily="34" charset="-128"/>
              </a:rPr>
              <a:t>binarySearch()</a:t>
            </a:r>
            <a:r>
              <a:rPr lang="en-US" altLang="en-US" sz="1600">
                <a:ea typeface="ＭＳ Ｐゴシック" panose="020B0600070205080204" pitchFamily="34" charset="-128"/>
              </a:rPr>
              <a:t> will return the spot at which the item was found.   It will return -1 + -location(where the item should be) if the item was not present.</a:t>
            </a:r>
          </a:p>
          <a:p>
            <a:endParaRPr lang="en-US" altLang="en-US" sz="160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66055EB7-9D74-D1B8-F0F1-2A9C438162DA}"/>
              </a:ext>
            </a:extLst>
          </p:cNvPr>
          <p:cNvSpPr>
            <a:spLocks noChangeArrowheads="1" noTextEdit="1"/>
          </p:cNvSpPr>
          <p:nvPr>
            <p:ph type="sldImg"/>
          </p:nvPr>
        </p:nvSpPr>
        <p:spPr>
          <a:ln/>
        </p:spPr>
      </p:sp>
      <p:sp>
        <p:nvSpPr>
          <p:cNvPr id="28674" name="Rectangle 3">
            <a:extLst>
              <a:ext uri="{FF2B5EF4-FFF2-40B4-BE49-F238E27FC236}">
                <a16:creationId xmlns:a16="http://schemas.microsoft.com/office/drawing/2014/main" id="{98C2FE9C-FA39-4B30-183A-CC2FB59760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a:latin typeface="Courier New" panose="02070309020205020404" pitchFamily="49" charset="0"/>
                <a:ea typeface="ＭＳ Ｐゴシック" panose="020B0600070205080204" pitchFamily="34" charset="-128"/>
              </a:rPr>
              <a:t>sort()</a:t>
            </a:r>
            <a:r>
              <a:rPr lang="en-US" altLang="en-US" sz="1600">
                <a:ea typeface="ＭＳ Ｐゴシック" panose="020B0600070205080204" pitchFamily="34" charset="-128"/>
              </a:rPr>
              <a:t> will naturally order the items in an array.</a:t>
            </a:r>
          </a:p>
          <a:p>
            <a:endParaRPr lang="en-US" altLang="en-US">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0166283C-A870-330E-7B9A-1A3CECC537C0}"/>
              </a:ext>
            </a:extLst>
          </p:cNvPr>
          <p:cNvSpPr>
            <a:spLocks noChangeArrowheads="1" noTextEdit="1"/>
          </p:cNvSpPr>
          <p:nvPr>
            <p:ph type="sldImg"/>
          </p:nvPr>
        </p:nvSpPr>
        <p:spPr>
          <a:ln/>
        </p:spPr>
      </p:sp>
      <p:sp>
        <p:nvSpPr>
          <p:cNvPr id="30722" name="Rectangle 3">
            <a:extLst>
              <a:ext uri="{FF2B5EF4-FFF2-40B4-BE49-F238E27FC236}">
                <a16:creationId xmlns:a16="http://schemas.microsoft.com/office/drawing/2014/main" id="{D371A60D-CF7E-3114-2EB4-109EEB9A24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a:ea typeface="ＭＳ Ｐゴシック" panose="020B0600070205080204" pitchFamily="34" charset="-128"/>
              </a:rPr>
              <a:t>The </a:t>
            </a:r>
            <a:r>
              <a:rPr lang="en-US" altLang="en-US" sz="1600">
                <a:latin typeface="Courier New" panose="02070309020205020404" pitchFamily="49" charset="0"/>
                <a:ea typeface="ＭＳ Ｐゴシック" panose="020B0600070205080204" pitchFamily="34" charset="-128"/>
              </a:rPr>
              <a:t>Collections</a:t>
            </a:r>
            <a:r>
              <a:rPr lang="en-US" altLang="en-US" sz="1600">
                <a:ea typeface="ＭＳ Ｐゴシック" panose="020B0600070205080204" pitchFamily="34" charset="-128"/>
              </a:rPr>
              <a:t> class methods above are very useful methods for manipulating Java Collections.  </a:t>
            </a:r>
          </a:p>
          <a:p>
            <a:r>
              <a:rPr lang="en-US" altLang="en-US" sz="1600">
                <a:latin typeface="Courier New" panose="02070309020205020404" pitchFamily="49" charset="0"/>
                <a:ea typeface="ＭＳ Ｐゴシック" panose="020B0600070205080204" pitchFamily="34" charset="-128"/>
              </a:rPr>
              <a:t>sort()</a:t>
            </a:r>
            <a:r>
              <a:rPr lang="en-US" altLang="en-US" sz="1600">
                <a:ea typeface="ＭＳ Ｐゴシック" panose="020B0600070205080204" pitchFamily="34" charset="-128"/>
              </a:rPr>
              <a:t> will naturally order the items in the collection.</a:t>
            </a:r>
          </a:p>
          <a:p>
            <a:r>
              <a:rPr lang="en-US" altLang="en-US" sz="1600">
                <a:latin typeface="Courier New" panose="02070309020205020404" pitchFamily="49" charset="0"/>
                <a:ea typeface="ＭＳ Ｐゴシック" panose="020B0600070205080204" pitchFamily="34" charset="-128"/>
              </a:rPr>
              <a:t>binarySearch()</a:t>
            </a:r>
            <a:r>
              <a:rPr lang="en-US" altLang="en-US" sz="1600">
                <a:ea typeface="ＭＳ Ｐゴシック" panose="020B0600070205080204" pitchFamily="34" charset="-128"/>
              </a:rPr>
              <a:t>  will find an item in the array and return the spot at which the item was found.</a:t>
            </a:r>
          </a:p>
          <a:p>
            <a:r>
              <a:rPr lang="en-US" altLang="en-US" sz="1600">
                <a:latin typeface="Courier New" panose="02070309020205020404" pitchFamily="49" charset="0"/>
                <a:ea typeface="ＭＳ Ｐゴシック" panose="020B0600070205080204" pitchFamily="34" charset="-128"/>
              </a:rPr>
              <a:t>fill()</a:t>
            </a:r>
            <a:r>
              <a:rPr lang="en-US" altLang="en-US" sz="1600">
                <a:ea typeface="ＭＳ Ｐゴシック" panose="020B0600070205080204" pitchFamily="34" charset="-128"/>
              </a:rPr>
              <a:t> will fill in all spots in the array with a provided value.</a:t>
            </a:r>
          </a:p>
          <a:p>
            <a:r>
              <a:rPr lang="en-US" altLang="en-US" sz="1600">
                <a:latin typeface="Courier New" panose="02070309020205020404" pitchFamily="49" charset="0"/>
                <a:ea typeface="ＭＳ Ｐゴシック" panose="020B0600070205080204" pitchFamily="34" charset="-128"/>
              </a:rPr>
              <a:t>rotate()</a:t>
            </a:r>
            <a:r>
              <a:rPr lang="en-US" altLang="en-US" sz="1600">
                <a:ea typeface="ＭＳ Ｐゴシック" panose="020B0600070205080204" pitchFamily="34" charset="-128"/>
              </a:rPr>
              <a:t> will shift items to the left(- negative x) a specified amount or shift items to the right(+ positive x) a specified amount.</a:t>
            </a:r>
          </a:p>
          <a:p>
            <a:r>
              <a:rPr lang="en-US" altLang="en-US" sz="1600">
                <a:latin typeface="Courier New" panose="02070309020205020404" pitchFamily="49" charset="0"/>
                <a:ea typeface="ＭＳ Ｐゴシック" panose="020B0600070205080204" pitchFamily="34" charset="-128"/>
              </a:rPr>
              <a:t>reverse()</a:t>
            </a:r>
            <a:r>
              <a:rPr lang="en-US" altLang="en-US" sz="1600">
                <a:ea typeface="ＭＳ Ｐゴシック" panose="020B0600070205080204" pitchFamily="34" charset="-128"/>
              </a:rPr>
              <a:t> will reverse the order of all items.</a:t>
            </a:r>
          </a:p>
          <a:p>
            <a:endParaRPr lang="en-US" altLang="en-US">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A2C1319A-F205-78E1-66F3-DF974AA4C681}"/>
              </a:ext>
            </a:extLst>
          </p:cNvPr>
          <p:cNvSpPr>
            <a:spLocks noChangeArrowheads="1" noTextEdit="1"/>
          </p:cNvSpPr>
          <p:nvPr>
            <p:ph type="sldImg"/>
          </p:nvPr>
        </p:nvSpPr>
        <p:spPr>
          <a:ln/>
        </p:spPr>
      </p:sp>
      <p:sp>
        <p:nvSpPr>
          <p:cNvPr id="32770" name="Rectangle 3">
            <a:extLst>
              <a:ext uri="{FF2B5EF4-FFF2-40B4-BE49-F238E27FC236}">
                <a16:creationId xmlns:a16="http://schemas.microsoft.com/office/drawing/2014/main" id="{468D71A9-4845-A868-2A1B-C1C9926FBD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a:latin typeface="Courier New" panose="02070309020205020404" pitchFamily="49" charset="0"/>
                <a:ea typeface="ＭＳ Ｐゴシック" panose="020B0600070205080204" pitchFamily="34" charset="-128"/>
              </a:rPr>
              <a:t>sort()</a:t>
            </a:r>
            <a:r>
              <a:rPr lang="en-US" altLang="en-US" sz="1600">
                <a:ea typeface="ＭＳ Ｐゴシック" panose="020B0600070205080204" pitchFamily="34" charset="-128"/>
              </a:rPr>
              <a:t> will naturally order the items in the Collection.</a:t>
            </a:r>
          </a:p>
          <a:p>
            <a:endParaRPr lang="en-US" altLang="en-US">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BD22659A-8BEE-9577-FA2E-4EAF297A2F86}"/>
              </a:ext>
            </a:extLst>
          </p:cNvPr>
          <p:cNvSpPr>
            <a:spLocks noChangeArrowheads="1" noTextEdit="1"/>
          </p:cNvSpPr>
          <p:nvPr>
            <p:ph type="sldImg"/>
          </p:nvPr>
        </p:nvSpPr>
        <p:spPr>
          <a:ln/>
        </p:spPr>
      </p:sp>
      <p:sp>
        <p:nvSpPr>
          <p:cNvPr id="34818" name="Rectangle 3">
            <a:extLst>
              <a:ext uri="{FF2B5EF4-FFF2-40B4-BE49-F238E27FC236}">
                <a16:creationId xmlns:a16="http://schemas.microsoft.com/office/drawing/2014/main" id="{99B1FD49-1BAA-AC05-E319-E82D3DF8A7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FF8DF6E7-172C-BCF5-C7A1-A13BEA835CE7}"/>
              </a:ext>
            </a:extLst>
          </p:cNvPr>
          <p:cNvSpPr>
            <a:spLocks noChangeArrowheads="1" noTextEdit="1"/>
          </p:cNvSpPr>
          <p:nvPr>
            <p:ph type="sldImg"/>
          </p:nvPr>
        </p:nvSpPr>
        <p:spPr>
          <a:ln/>
        </p:spPr>
      </p:sp>
      <p:sp>
        <p:nvSpPr>
          <p:cNvPr id="36866" name="Rectangle 3">
            <a:extLst>
              <a:ext uri="{FF2B5EF4-FFF2-40B4-BE49-F238E27FC236}">
                <a16:creationId xmlns:a16="http://schemas.microsoft.com/office/drawing/2014/main" id="{01E81718-4CB0-75FC-2256-BD619465CE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BA5320EF-C484-AF8F-1D19-51B2558A37D0}"/>
              </a:ext>
            </a:extLst>
          </p:cNvPr>
          <p:cNvSpPr>
            <a:spLocks noChangeArrowheads="1" noTextEdit="1"/>
          </p:cNvSpPr>
          <p:nvPr>
            <p:ph type="sldImg"/>
          </p:nvPr>
        </p:nvSpPr>
        <p:spPr>
          <a:ln/>
        </p:spPr>
      </p:sp>
      <p:sp>
        <p:nvSpPr>
          <p:cNvPr id="38914" name="Rectangle 3">
            <a:extLst>
              <a:ext uri="{FF2B5EF4-FFF2-40B4-BE49-F238E27FC236}">
                <a16:creationId xmlns:a16="http://schemas.microsoft.com/office/drawing/2014/main" id="{127A5C0C-6765-685C-20DA-7E04EAF706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674E220-893B-FF81-C15E-C9696D0233F2}"/>
              </a:ext>
            </a:extLst>
          </p:cNvPr>
          <p:cNvSpPr>
            <a:spLocks noChangeArrowheads="1" noTextEdit="1"/>
          </p:cNvSpPr>
          <p:nvPr>
            <p:ph type="sldImg"/>
          </p:nvPr>
        </p:nvSpPr>
        <p:spPr>
          <a:ln/>
        </p:spPr>
      </p:sp>
      <p:sp>
        <p:nvSpPr>
          <p:cNvPr id="40962" name="Rectangle 3">
            <a:extLst>
              <a:ext uri="{FF2B5EF4-FFF2-40B4-BE49-F238E27FC236}">
                <a16:creationId xmlns:a16="http://schemas.microsoft.com/office/drawing/2014/main" id="{78E19DBE-C14A-C604-0955-BC0AF3F962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017880B9-6443-09DF-3412-69BBF9B18B02}"/>
              </a:ext>
            </a:extLst>
          </p:cNvPr>
          <p:cNvSpPr>
            <a:spLocks noChangeArrowheads="1" noTextEdit="1"/>
          </p:cNvSpPr>
          <p:nvPr>
            <p:ph type="sldImg"/>
          </p:nvPr>
        </p:nvSpPr>
        <p:spPr>
          <a:ln/>
        </p:spPr>
      </p:sp>
      <p:sp>
        <p:nvSpPr>
          <p:cNvPr id="43010" name="Rectangle 3">
            <a:extLst>
              <a:ext uri="{FF2B5EF4-FFF2-40B4-BE49-F238E27FC236}">
                <a16:creationId xmlns:a16="http://schemas.microsoft.com/office/drawing/2014/main" id="{2875E5EC-51A9-4A41-D0F0-A8C7E22360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25E50987-B638-B9AB-CB64-C4967769E6B2}"/>
              </a:ext>
            </a:extLst>
          </p:cNvPr>
          <p:cNvSpPr>
            <a:spLocks noChangeArrowheads="1" noTextEdit="1"/>
          </p:cNvSpPr>
          <p:nvPr>
            <p:ph type="sldImg"/>
          </p:nvPr>
        </p:nvSpPr>
        <p:spPr>
          <a:ln/>
        </p:spPr>
      </p:sp>
      <p:sp>
        <p:nvSpPr>
          <p:cNvPr id="45058" name="Rectangle 3">
            <a:extLst>
              <a:ext uri="{FF2B5EF4-FFF2-40B4-BE49-F238E27FC236}">
                <a16:creationId xmlns:a16="http://schemas.microsoft.com/office/drawing/2014/main" id="{DA1A626D-BEC1-8368-7737-5686F11499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117717F2-23F3-8555-0986-55F3523A37B6}"/>
              </a:ext>
            </a:extLst>
          </p:cNvPr>
          <p:cNvSpPr>
            <a:spLocks noChangeArrowheads="1" noTextEdit="1"/>
          </p:cNvSpPr>
          <p:nvPr>
            <p:ph type="sldImg"/>
          </p:nvPr>
        </p:nvSpPr>
        <p:spPr>
          <a:ln/>
        </p:spPr>
      </p:sp>
      <p:sp>
        <p:nvSpPr>
          <p:cNvPr id="47106" name="Rectangle 3">
            <a:extLst>
              <a:ext uri="{FF2B5EF4-FFF2-40B4-BE49-F238E27FC236}">
                <a16:creationId xmlns:a16="http://schemas.microsoft.com/office/drawing/2014/main" id="{709A2AEA-F4C6-EBE5-D335-D90099F7F5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2273B88C-8153-08DC-6ACB-780DA1AA9907}"/>
              </a:ext>
            </a:extLst>
          </p:cNvPr>
          <p:cNvSpPr>
            <a:spLocks noChangeArrowheads="1" noTextEdit="1"/>
          </p:cNvSpPr>
          <p:nvPr>
            <p:ph type="sldImg"/>
          </p:nvPr>
        </p:nvSpPr>
        <p:spPr>
          <a:ln/>
        </p:spPr>
      </p:sp>
      <p:sp>
        <p:nvSpPr>
          <p:cNvPr id="49154" name="Rectangle 3">
            <a:extLst>
              <a:ext uri="{FF2B5EF4-FFF2-40B4-BE49-F238E27FC236}">
                <a16:creationId xmlns:a16="http://schemas.microsoft.com/office/drawing/2014/main" id="{BD680966-2EF6-DE97-006C-992905DF1D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26F7BD7-E874-1FCA-4C86-1F1AFE6B373B}"/>
              </a:ext>
            </a:extLst>
          </p:cNvPr>
          <p:cNvSpPr>
            <a:spLocks noChangeArrowheads="1" noTextEdit="1"/>
          </p:cNvSpPr>
          <p:nvPr>
            <p:ph type="sldImg"/>
          </p:nvPr>
        </p:nvSpPr>
        <p:spPr>
          <a:ln/>
        </p:spPr>
      </p:sp>
      <p:sp>
        <p:nvSpPr>
          <p:cNvPr id="51202" name="Rectangle 3">
            <a:extLst>
              <a:ext uri="{FF2B5EF4-FFF2-40B4-BE49-F238E27FC236}">
                <a16:creationId xmlns:a16="http://schemas.microsoft.com/office/drawing/2014/main" id="{B784034B-B994-7EB7-9207-A7E2AA087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915D24FA-C066-AFB9-60BD-9EE4E4338ACD}"/>
              </a:ext>
            </a:extLst>
          </p:cNvPr>
          <p:cNvSpPr>
            <a:spLocks noChangeArrowheads="1" noTextEdit="1"/>
          </p:cNvSpPr>
          <p:nvPr>
            <p:ph type="sldImg"/>
          </p:nvPr>
        </p:nvSpPr>
        <p:spPr>
          <a:ln/>
        </p:spPr>
      </p:sp>
      <p:sp>
        <p:nvSpPr>
          <p:cNvPr id="53250" name="Rectangle 3">
            <a:extLst>
              <a:ext uri="{FF2B5EF4-FFF2-40B4-BE49-F238E27FC236}">
                <a16:creationId xmlns:a16="http://schemas.microsoft.com/office/drawing/2014/main" id="{CB03F77A-2860-0C37-F9BD-1F739F673A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330B8B2-4232-7605-0EB1-2EEF69E553F2}"/>
              </a:ext>
            </a:extLst>
          </p:cNvPr>
          <p:cNvSpPr>
            <a:spLocks noChangeArrowheads="1" noTextEdit="1"/>
          </p:cNvSpPr>
          <p:nvPr>
            <p:ph type="sldImg"/>
          </p:nvPr>
        </p:nvSpPr>
        <p:spPr>
          <a:ln/>
        </p:spPr>
      </p:sp>
      <p:sp>
        <p:nvSpPr>
          <p:cNvPr id="55298" name="Rectangle 3">
            <a:extLst>
              <a:ext uri="{FF2B5EF4-FFF2-40B4-BE49-F238E27FC236}">
                <a16:creationId xmlns:a16="http://schemas.microsoft.com/office/drawing/2014/main" id="{FCCD5DF9-A209-90B8-101F-DD2B764CFB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92B60E3B-89C3-46E6-F85B-E3EEF044E00E}"/>
              </a:ext>
            </a:extLst>
          </p:cNvPr>
          <p:cNvSpPr>
            <a:spLocks noChangeArrowheads="1" noTextEdit="1"/>
          </p:cNvSpPr>
          <p:nvPr>
            <p:ph type="sldImg"/>
          </p:nvPr>
        </p:nvSpPr>
        <p:spPr>
          <a:ln/>
        </p:spPr>
      </p:sp>
      <p:sp>
        <p:nvSpPr>
          <p:cNvPr id="57346" name="Rectangle 3">
            <a:extLst>
              <a:ext uri="{FF2B5EF4-FFF2-40B4-BE49-F238E27FC236}">
                <a16:creationId xmlns:a16="http://schemas.microsoft.com/office/drawing/2014/main" id="{29E15AE2-7060-7991-6A57-E775BA6E33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FADDCC22-0741-07EC-4DFF-09192074FBC6}"/>
              </a:ext>
            </a:extLst>
          </p:cNvPr>
          <p:cNvSpPr>
            <a:spLocks noChangeArrowheads="1" noTextEdit="1"/>
          </p:cNvSpPr>
          <p:nvPr>
            <p:ph type="sldImg"/>
          </p:nvPr>
        </p:nvSpPr>
        <p:spPr>
          <a:ln/>
        </p:spPr>
      </p:sp>
      <p:sp>
        <p:nvSpPr>
          <p:cNvPr id="59394" name="Rectangle 3">
            <a:extLst>
              <a:ext uri="{FF2B5EF4-FFF2-40B4-BE49-F238E27FC236}">
                <a16:creationId xmlns:a16="http://schemas.microsoft.com/office/drawing/2014/main" id="{59159988-CA16-5BF0-FDC2-1A1C0DEE83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0234A718-93A6-49DF-F2C0-937E0717CE49}"/>
              </a:ext>
            </a:extLst>
          </p:cNvPr>
          <p:cNvSpPr>
            <a:spLocks noChangeArrowheads="1" noTextEdit="1"/>
          </p:cNvSpPr>
          <p:nvPr>
            <p:ph type="sldImg"/>
          </p:nvPr>
        </p:nvSpPr>
        <p:spPr>
          <a:ln/>
        </p:spPr>
      </p:sp>
      <p:sp>
        <p:nvSpPr>
          <p:cNvPr id="61442" name="Rectangle 3">
            <a:extLst>
              <a:ext uri="{FF2B5EF4-FFF2-40B4-BE49-F238E27FC236}">
                <a16:creationId xmlns:a16="http://schemas.microsoft.com/office/drawing/2014/main" id="{A8FC80BC-B65C-D638-C307-B2A5072B45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EC7EFD0B-8596-7262-E2A1-90F83B529741}"/>
              </a:ext>
            </a:extLst>
          </p:cNvPr>
          <p:cNvSpPr>
            <a:spLocks noChangeArrowheads="1" noTextEdit="1"/>
          </p:cNvSpPr>
          <p:nvPr>
            <p:ph type="sldImg"/>
          </p:nvPr>
        </p:nvSpPr>
        <p:spPr>
          <a:ln/>
        </p:spPr>
      </p:sp>
      <p:sp>
        <p:nvSpPr>
          <p:cNvPr id="63490" name="Rectangle 3">
            <a:extLst>
              <a:ext uri="{FF2B5EF4-FFF2-40B4-BE49-F238E27FC236}">
                <a16:creationId xmlns:a16="http://schemas.microsoft.com/office/drawing/2014/main" id="{DC6C23FF-44B8-11CB-C718-3F948781DF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6F0E0DF7-5BCA-1717-D495-2FE222E71E5A}"/>
              </a:ext>
            </a:extLst>
          </p:cNvPr>
          <p:cNvSpPr>
            <a:spLocks noChangeArrowheads="1" noTextEdit="1"/>
          </p:cNvSpPr>
          <p:nvPr>
            <p:ph type="sldImg"/>
          </p:nvPr>
        </p:nvSpPr>
        <p:spPr>
          <a:ln/>
        </p:spPr>
      </p:sp>
      <p:sp>
        <p:nvSpPr>
          <p:cNvPr id="65538" name="Rectangle 3">
            <a:extLst>
              <a:ext uri="{FF2B5EF4-FFF2-40B4-BE49-F238E27FC236}">
                <a16:creationId xmlns:a16="http://schemas.microsoft.com/office/drawing/2014/main" id="{209BC23D-E439-943F-335C-692E9D4900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9099FDF6-6312-A503-26D8-CDCED45E5212}"/>
              </a:ext>
            </a:extLst>
          </p:cNvPr>
          <p:cNvSpPr>
            <a:spLocks noChangeArrowheads="1" noTextEdit="1"/>
          </p:cNvSpPr>
          <p:nvPr>
            <p:ph type="sldImg"/>
          </p:nvPr>
        </p:nvSpPr>
        <p:spPr>
          <a:ln/>
        </p:spPr>
      </p:sp>
      <p:sp>
        <p:nvSpPr>
          <p:cNvPr id="67586" name="Rectangle 3">
            <a:extLst>
              <a:ext uri="{FF2B5EF4-FFF2-40B4-BE49-F238E27FC236}">
                <a16:creationId xmlns:a16="http://schemas.microsoft.com/office/drawing/2014/main" id="{8D260541-7CE9-6ED6-31FB-B6B4D5B739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3D1EE87F-4FB8-0AD0-E777-E754887AFECA}"/>
              </a:ext>
            </a:extLst>
          </p:cNvPr>
          <p:cNvSpPr>
            <a:spLocks noChangeArrowheads="1" noTextEdit="1"/>
          </p:cNvSpPr>
          <p:nvPr>
            <p:ph type="sldImg"/>
          </p:nvPr>
        </p:nvSpPr>
        <p:spPr>
          <a:ln/>
        </p:spPr>
      </p:sp>
      <p:sp>
        <p:nvSpPr>
          <p:cNvPr id="69634" name="Rectangle 3">
            <a:extLst>
              <a:ext uri="{FF2B5EF4-FFF2-40B4-BE49-F238E27FC236}">
                <a16:creationId xmlns:a16="http://schemas.microsoft.com/office/drawing/2014/main" id="{F892B90C-DF42-A95C-DE63-14436944BC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85D4AE80-FE68-7E63-A415-7AE0F820F05A}"/>
              </a:ext>
            </a:extLst>
          </p:cNvPr>
          <p:cNvSpPr>
            <a:spLocks noChangeArrowheads="1" noTextEdit="1"/>
          </p:cNvSpPr>
          <p:nvPr>
            <p:ph type="sldImg"/>
          </p:nvPr>
        </p:nvSpPr>
        <p:spPr>
          <a:ln/>
        </p:spPr>
      </p:sp>
      <p:sp>
        <p:nvSpPr>
          <p:cNvPr id="71682" name="Rectangle 3">
            <a:extLst>
              <a:ext uri="{FF2B5EF4-FFF2-40B4-BE49-F238E27FC236}">
                <a16:creationId xmlns:a16="http://schemas.microsoft.com/office/drawing/2014/main" id="{E5580B77-B099-D5BE-2826-AE04F8AFA0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B171D9A1-C8C4-A969-4551-2AACAC39031F}"/>
              </a:ext>
            </a:extLst>
          </p:cNvPr>
          <p:cNvSpPr>
            <a:spLocks noChangeArrowheads="1" noTextEdit="1"/>
          </p:cNvSpPr>
          <p:nvPr>
            <p:ph type="sldImg"/>
          </p:nvPr>
        </p:nvSpPr>
        <p:spPr>
          <a:ln/>
        </p:spPr>
      </p:sp>
      <p:sp>
        <p:nvSpPr>
          <p:cNvPr id="73730" name="Rectangle 3">
            <a:extLst>
              <a:ext uri="{FF2B5EF4-FFF2-40B4-BE49-F238E27FC236}">
                <a16:creationId xmlns:a16="http://schemas.microsoft.com/office/drawing/2014/main" id="{A029CEAD-66B7-57D6-8FC3-0984133669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94F55D1A-51F5-EDD5-B300-B5C43DC9EB3C}"/>
              </a:ext>
            </a:extLst>
          </p:cNvPr>
          <p:cNvSpPr>
            <a:spLocks noChangeArrowheads="1" noTextEdit="1"/>
          </p:cNvSpPr>
          <p:nvPr>
            <p:ph type="sldImg"/>
          </p:nvPr>
        </p:nvSpPr>
        <p:spPr>
          <a:ln/>
        </p:spPr>
      </p:sp>
      <p:sp>
        <p:nvSpPr>
          <p:cNvPr id="75778" name="Rectangle 3">
            <a:extLst>
              <a:ext uri="{FF2B5EF4-FFF2-40B4-BE49-F238E27FC236}">
                <a16:creationId xmlns:a16="http://schemas.microsoft.com/office/drawing/2014/main" id="{B6B5F67E-612E-6F4B-71D4-DD2FE911BD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a:ea typeface="ＭＳ Ｐゴシック" panose="020B0600070205080204" pitchFamily="34" charset="-128"/>
              </a:rPr>
              <a:t>Selection sort is pretty effective for small lists, but pretty horrible is used on large lists.</a:t>
            </a:r>
          </a:p>
          <a:p>
            <a:r>
              <a:rPr lang="en-US" altLang="en-US" sz="1600">
                <a:ea typeface="ＭＳ Ｐゴシック" panose="020B0600070205080204" pitchFamily="34" charset="-128"/>
              </a:rPr>
              <a:t>Selection sort consists of two loops.   </a:t>
            </a:r>
          </a:p>
          <a:p>
            <a:r>
              <a:rPr lang="en-US" altLang="en-US" sz="1600">
                <a:ea typeface="ＭＳ Ｐゴシック" panose="020B0600070205080204" pitchFamily="34" charset="-128"/>
              </a:rPr>
              <a:t>The outer loops run based on the number of items in the list.  </a:t>
            </a:r>
          </a:p>
          <a:p>
            <a:r>
              <a:rPr lang="en-US" altLang="en-US" sz="1600">
                <a:ea typeface="ＭＳ Ｐゴシック" panose="020B0600070205080204" pitchFamily="34" charset="-128"/>
              </a:rPr>
              <a:t>The inner loop runs to find the items that need to be moved.  The inner loop either locates the spot with the smallest value or the spot with the largest value.   After the inner loop completes, a swap may occur if needed.   At most, selection sort will make one swap per pass.  A pass is one complete execution of the inner loop.</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7271A89F-2FA4-8B72-E746-DE0F7818B19F}"/>
              </a:ext>
            </a:extLst>
          </p:cNvPr>
          <p:cNvSpPr>
            <a:spLocks noChangeArrowheads="1" noTextEdit="1"/>
          </p:cNvSpPr>
          <p:nvPr>
            <p:ph type="sldImg"/>
          </p:nvPr>
        </p:nvSpPr>
        <p:spPr>
          <a:ln/>
        </p:spPr>
      </p:sp>
      <p:sp>
        <p:nvSpPr>
          <p:cNvPr id="77826" name="Rectangle 3">
            <a:extLst>
              <a:ext uri="{FF2B5EF4-FFF2-40B4-BE49-F238E27FC236}">
                <a16:creationId xmlns:a16="http://schemas.microsoft.com/office/drawing/2014/main" id="{A5C931C9-99A1-880A-5AA5-CB2E5E4E63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600">
                <a:ea typeface="ＭＳ Ｐゴシック" panose="020B0600070205080204" pitchFamily="34" charset="-128"/>
              </a:rPr>
              <a:t>Selection sort is pretty effective for small lists, but pretty horrible is used on large lists.</a:t>
            </a:r>
          </a:p>
          <a:p>
            <a:r>
              <a:rPr lang="en-US" altLang="en-US" sz="1600">
                <a:ea typeface="ＭＳ Ｐゴシック" panose="020B0600070205080204" pitchFamily="34" charset="-128"/>
              </a:rPr>
              <a:t>Selection sort consists of two loops.   </a:t>
            </a:r>
          </a:p>
          <a:p>
            <a:r>
              <a:rPr lang="en-US" altLang="en-US" sz="1600">
                <a:ea typeface="ＭＳ Ｐゴシック" panose="020B0600070205080204" pitchFamily="34" charset="-128"/>
              </a:rPr>
              <a:t>The outer loops run based on the number of items in the list.  </a:t>
            </a:r>
          </a:p>
          <a:p>
            <a:r>
              <a:rPr lang="en-US" altLang="en-US" sz="1600">
                <a:ea typeface="ＭＳ Ｐゴシック" panose="020B0600070205080204" pitchFamily="34" charset="-128"/>
              </a:rPr>
              <a:t>The inner loop runs to find the items that need to be moved.  The inner loop either locates the spot with the smallest value or the spot with the largest value.   After the inner loop completes, a swap may occur if needed.   At most, selection sort will make one swap per pass.  A pass is one complete execution of the inner loop.</a:t>
            </a:r>
          </a:p>
          <a:p>
            <a:endParaRPr lang="en-US" altLang="en-US">
              <a:ea typeface="ＭＳ Ｐゴシック"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FB5F3382-6D20-6D6E-95FE-EF2F51C23C6E}"/>
              </a:ext>
            </a:extLst>
          </p:cNvPr>
          <p:cNvSpPr>
            <a:spLocks noChangeArrowheads="1" noTextEdit="1"/>
          </p:cNvSpPr>
          <p:nvPr>
            <p:ph type="sldImg"/>
          </p:nvPr>
        </p:nvSpPr>
        <p:spPr>
          <a:ln/>
        </p:spPr>
      </p:sp>
      <p:sp>
        <p:nvSpPr>
          <p:cNvPr id="79874" name="Rectangle 3">
            <a:extLst>
              <a:ext uri="{FF2B5EF4-FFF2-40B4-BE49-F238E27FC236}">
                <a16:creationId xmlns:a16="http://schemas.microsoft.com/office/drawing/2014/main" id="{6262A803-2047-3B47-DC6B-610AB34333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8CE2BB51-6358-768D-E954-607F239BC0D2}"/>
              </a:ext>
            </a:extLst>
          </p:cNvPr>
          <p:cNvSpPr>
            <a:spLocks noChangeArrowheads="1" noTextEdit="1"/>
          </p:cNvSpPr>
          <p:nvPr>
            <p:ph type="sldImg"/>
          </p:nvPr>
        </p:nvSpPr>
        <p:spPr>
          <a:ln/>
        </p:spPr>
      </p:sp>
      <p:sp>
        <p:nvSpPr>
          <p:cNvPr id="81922" name="Rectangle 3">
            <a:extLst>
              <a:ext uri="{FF2B5EF4-FFF2-40B4-BE49-F238E27FC236}">
                <a16:creationId xmlns:a16="http://schemas.microsoft.com/office/drawing/2014/main" id="{8B68BDAB-3489-8277-2941-505D30E2A1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4077A42D-FD88-72DE-E72C-0AF3517A795F}"/>
              </a:ext>
            </a:extLst>
          </p:cNvPr>
          <p:cNvSpPr>
            <a:spLocks noChangeArrowheads="1" noTextEdit="1"/>
          </p:cNvSpPr>
          <p:nvPr>
            <p:ph type="sldImg"/>
          </p:nvPr>
        </p:nvSpPr>
        <p:spPr>
          <a:ln/>
        </p:spPr>
      </p:sp>
      <p:sp>
        <p:nvSpPr>
          <p:cNvPr id="83970" name="Rectangle 3">
            <a:extLst>
              <a:ext uri="{FF2B5EF4-FFF2-40B4-BE49-F238E27FC236}">
                <a16:creationId xmlns:a16="http://schemas.microsoft.com/office/drawing/2014/main" id="{DCFDA3FA-9925-491B-8EE1-D30A08E9B5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EF034934-5AB5-2389-E6FB-F3C02BAE4B0F}"/>
              </a:ext>
            </a:extLst>
          </p:cNvPr>
          <p:cNvSpPr>
            <a:spLocks noChangeArrowheads="1" noTextEdit="1"/>
          </p:cNvSpPr>
          <p:nvPr>
            <p:ph type="sldImg"/>
          </p:nvPr>
        </p:nvSpPr>
        <p:spPr>
          <a:ln/>
        </p:spPr>
      </p:sp>
      <p:sp>
        <p:nvSpPr>
          <p:cNvPr id="86018" name="Rectangle 3">
            <a:extLst>
              <a:ext uri="{FF2B5EF4-FFF2-40B4-BE49-F238E27FC236}">
                <a16:creationId xmlns:a16="http://schemas.microsoft.com/office/drawing/2014/main" id="{B7566473-0ED9-4085-7A5E-AC00045F36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43B16FDC-F815-ED6D-B0D7-5DA4F791BEAF}"/>
              </a:ext>
            </a:extLst>
          </p:cNvPr>
          <p:cNvSpPr>
            <a:spLocks noChangeArrowheads="1" noTextEdit="1"/>
          </p:cNvSpPr>
          <p:nvPr>
            <p:ph type="sldImg"/>
          </p:nvPr>
        </p:nvSpPr>
        <p:spPr>
          <a:ln/>
        </p:spPr>
      </p:sp>
      <p:sp>
        <p:nvSpPr>
          <p:cNvPr id="88066" name="Rectangle 3">
            <a:extLst>
              <a:ext uri="{FF2B5EF4-FFF2-40B4-BE49-F238E27FC236}">
                <a16:creationId xmlns:a16="http://schemas.microsoft.com/office/drawing/2014/main" id="{0C30A118-F683-47B5-F515-E8443B2C15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E0026673-9553-D948-3E8A-8A82A55C805F}"/>
              </a:ext>
            </a:extLst>
          </p:cNvPr>
          <p:cNvSpPr>
            <a:spLocks noChangeArrowheads="1" noTextEdit="1"/>
          </p:cNvSpPr>
          <p:nvPr>
            <p:ph type="sldImg"/>
          </p:nvPr>
        </p:nvSpPr>
        <p:spPr>
          <a:ln/>
        </p:spPr>
      </p:sp>
      <p:sp>
        <p:nvSpPr>
          <p:cNvPr id="90114" name="Rectangle 3">
            <a:extLst>
              <a:ext uri="{FF2B5EF4-FFF2-40B4-BE49-F238E27FC236}">
                <a16:creationId xmlns:a16="http://schemas.microsoft.com/office/drawing/2014/main" id="{AC97E804-3E37-DB87-BC4A-AA8E5A0607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5886BDA8-E4CC-E39D-1794-43DA854214F5}"/>
              </a:ext>
            </a:extLst>
          </p:cNvPr>
          <p:cNvSpPr>
            <a:spLocks noChangeArrowheads="1" noTextEdit="1"/>
          </p:cNvSpPr>
          <p:nvPr>
            <p:ph type="sldImg"/>
          </p:nvPr>
        </p:nvSpPr>
        <p:spPr>
          <a:ln/>
        </p:spPr>
      </p:sp>
      <p:sp>
        <p:nvSpPr>
          <p:cNvPr id="92162" name="Rectangle 3">
            <a:extLst>
              <a:ext uri="{FF2B5EF4-FFF2-40B4-BE49-F238E27FC236}">
                <a16:creationId xmlns:a16="http://schemas.microsoft.com/office/drawing/2014/main" id="{D2A2601D-BC7D-CA2F-C80A-D86A88E1EE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1B3269D6-56EE-2C56-4876-B54C2F9165DD}"/>
              </a:ext>
            </a:extLst>
          </p:cNvPr>
          <p:cNvSpPr>
            <a:spLocks noChangeArrowheads="1" noTextEdit="1"/>
          </p:cNvSpPr>
          <p:nvPr>
            <p:ph type="sldImg"/>
          </p:nvPr>
        </p:nvSpPr>
        <p:spPr>
          <a:ln/>
        </p:spPr>
      </p:sp>
      <p:sp>
        <p:nvSpPr>
          <p:cNvPr id="94210" name="Rectangle 3">
            <a:extLst>
              <a:ext uri="{FF2B5EF4-FFF2-40B4-BE49-F238E27FC236}">
                <a16:creationId xmlns:a16="http://schemas.microsoft.com/office/drawing/2014/main" id="{D53BCC70-AABB-8287-999B-89F4AB5653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51DE64BE-F143-3EC5-2BD3-12691379D7FF}"/>
              </a:ext>
            </a:extLst>
          </p:cNvPr>
          <p:cNvSpPr>
            <a:spLocks noChangeArrowheads="1" noTextEdit="1"/>
          </p:cNvSpPr>
          <p:nvPr>
            <p:ph type="sldImg"/>
          </p:nvPr>
        </p:nvSpPr>
        <p:spPr>
          <a:ln/>
        </p:spPr>
      </p:sp>
      <p:sp>
        <p:nvSpPr>
          <p:cNvPr id="96258" name="Rectangle 3">
            <a:extLst>
              <a:ext uri="{FF2B5EF4-FFF2-40B4-BE49-F238E27FC236}">
                <a16:creationId xmlns:a16="http://schemas.microsoft.com/office/drawing/2014/main" id="{BA5CA6E0-A289-6362-CD92-B39E76B245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314F4EA3-4C8F-537E-6177-62364105333A}"/>
              </a:ext>
            </a:extLst>
          </p:cNvPr>
          <p:cNvSpPr>
            <a:spLocks noChangeArrowheads="1" noTextEdit="1"/>
          </p:cNvSpPr>
          <p:nvPr>
            <p:ph type="sldImg"/>
          </p:nvPr>
        </p:nvSpPr>
        <p:spPr>
          <a:ln/>
        </p:spPr>
      </p:sp>
      <p:sp>
        <p:nvSpPr>
          <p:cNvPr id="103426" name="Rectangle 3">
            <a:extLst>
              <a:ext uri="{FF2B5EF4-FFF2-40B4-BE49-F238E27FC236}">
                <a16:creationId xmlns:a16="http://schemas.microsoft.com/office/drawing/2014/main" id="{54E69F40-F3B4-8A15-8E59-FA2B8209E1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D60099C2-EFCC-2DA2-117D-E1601FC89598}"/>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83FBA28C-3563-A947-1D05-8F02464B20FA}"/>
              </a:ext>
            </a:extLst>
          </p:cNvPr>
          <p:cNvSpPr>
            <a:spLocks noGrp="1"/>
          </p:cNvSpPr>
          <p:nvPr>
            <p:ph type="sldNum" sz="quarter" idx="11"/>
          </p:nvPr>
        </p:nvSpPr>
        <p:spPr/>
        <p:txBody>
          <a:bodyPr/>
          <a:lstStyle>
            <a:lvl1pPr>
              <a:defRPr/>
            </a:lvl1pPr>
          </a:lstStyle>
          <a:p>
            <a:fld id="{BDD3F91D-9688-874E-B216-E099270B29D9}" type="slidenum">
              <a:rPr lang="en-US" altLang="en-US"/>
              <a:pPr/>
              <a:t>‹#›</a:t>
            </a:fld>
            <a:endParaRPr lang="en-US" altLang="en-US"/>
          </a:p>
        </p:txBody>
      </p:sp>
      <p:sp>
        <p:nvSpPr>
          <p:cNvPr id="6" name="Footer Placeholder 5">
            <a:extLst>
              <a:ext uri="{FF2B5EF4-FFF2-40B4-BE49-F238E27FC236}">
                <a16:creationId xmlns:a16="http://schemas.microsoft.com/office/drawing/2014/main" id="{08829316-B3A0-2911-CFC7-DD1BADB9D96C}"/>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268773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BD9CD4-1ACD-88A3-E1B4-674C8BB2F5F7}"/>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A31BD2AB-F068-C0C2-38EE-5765D724B415}"/>
              </a:ext>
            </a:extLst>
          </p:cNvPr>
          <p:cNvSpPr>
            <a:spLocks noGrp="1"/>
          </p:cNvSpPr>
          <p:nvPr>
            <p:ph type="sldNum" sz="quarter" idx="11"/>
          </p:nvPr>
        </p:nvSpPr>
        <p:spPr/>
        <p:txBody>
          <a:bodyPr/>
          <a:lstStyle>
            <a:lvl1pPr>
              <a:defRPr/>
            </a:lvl1pPr>
          </a:lstStyle>
          <a:p>
            <a:fld id="{FCDA0EF6-E8CA-4747-BECC-93C8688ED6C8}" type="slidenum">
              <a:rPr lang="en-US" altLang="en-US"/>
              <a:pPr/>
              <a:t>‹#›</a:t>
            </a:fld>
            <a:endParaRPr lang="en-US" altLang="en-US"/>
          </a:p>
        </p:txBody>
      </p:sp>
      <p:sp>
        <p:nvSpPr>
          <p:cNvPr id="6" name="Footer Placeholder 5">
            <a:extLst>
              <a:ext uri="{FF2B5EF4-FFF2-40B4-BE49-F238E27FC236}">
                <a16:creationId xmlns:a16="http://schemas.microsoft.com/office/drawing/2014/main" id="{3AB038BC-FF39-615C-C58C-973D6A1BA5A4}"/>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3493306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E5E62809-CBD5-BEF4-11A5-30FC6696DEFF}"/>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61B4F1DF-25E3-DBAE-0B0B-63A50301FA3A}"/>
              </a:ext>
            </a:extLst>
          </p:cNvPr>
          <p:cNvSpPr>
            <a:spLocks noGrp="1"/>
          </p:cNvSpPr>
          <p:nvPr>
            <p:ph type="sldNum" sz="quarter" idx="11"/>
          </p:nvPr>
        </p:nvSpPr>
        <p:spPr/>
        <p:txBody>
          <a:bodyPr/>
          <a:lstStyle>
            <a:lvl1pPr>
              <a:defRPr/>
            </a:lvl1pPr>
          </a:lstStyle>
          <a:p>
            <a:fld id="{8307E3C5-02D2-D74E-8C0B-1E749920467D}" type="slidenum">
              <a:rPr lang="en-US" altLang="en-US"/>
              <a:pPr/>
              <a:t>‹#›</a:t>
            </a:fld>
            <a:endParaRPr lang="en-US" altLang="en-US"/>
          </a:p>
        </p:txBody>
      </p:sp>
      <p:sp>
        <p:nvSpPr>
          <p:cNvPr id="6" name="Footer Placeholder 5">
            <a:extLst>
              <a:ext uri="{FF2B5EF4-FFF2-40B4-BE49-F238E27FC236}">
                <a16:creationId xmlns:a16="http://schemas.microsoft.com/office/drawing/2014/main" id="{06DAF231-313C-4F03-1FC3-2D20059122D7}"/>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2493371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9E4E7A-8917-9EBE-C7DD-0F67D1D5D9C6}"/>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DE6D27AE-C616-8B01-D48C-6524ABD40B6B}"/>
              </a:ext>
            </a:extLst>
          </p:cNvPr>
          <p:cNvSpPr>
            <a:spLocks noGrp="1"/>
          </p:cNvSpPr>
          <p:nvPr>
            <p:ph type="sldNum" sz="quarter" idx="11"/>
          </p:nvPr>
        </p:nvSpPr>
        <p:spPr/>
        <p:txBody>
          <a:bodyPr/>
          <a:lstStyle>
            <a:lvl1pPr>
              <a:defRPr/>
            </a:lvl1pPr>
          </a:lstStyle>
          <a:p>
            <a:fld id="{16698826-4322-DA4D-8689-334727E20F7F}" type="slidenum">
              <a:rPr lang="en-US" altLang="en-US"/>
              <a:pPr/>
              <a:t>‹#›</a:t>
            </a:fld>
            <a:endParaRPr lang="en-US" altLang="en-US"/>
          </a:p>
        </p:txBody>
      </p:sp>
      <p:sp>
        <p:nvSpPr>
          <p:cNvPr id="7" name="Footer Placeholder 6">
            <a:extLst>
              <a:ext uri="{FF2B5EF4-FFF2-40B4-BE49-F238E27FC236}">
                <a16:creationId xmlns:a16="http://schemas.microsoft.com/office/drawing/2014/main" id="{EA3BA258-FAF8-CE4A-5EAE-D2F2DF165D07}"/>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163762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4FAE36-50D5-48B5-D030-F63338862158}"/>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8" name="Slide Number Placeholder 7">
            <a:extLst>
              <a:ext uri="{FF2B5EF4-FFF2-40B4-BE49-F238E27FC236}">
                <a16:creationId xmlns:a16="http://schemas.microsoft.com/office/drawing/2014/main" id="{C677014E-51CD-5979-BDFF-5D12315A5262}"/>
              </a:ext>
            </a:extLst>
          </p:cNvPr>
          <p:cNvSpPr>
            <a:spLocks noGrp="1"/>
          </p:cNvSpPr>
          <p:nvPr>
            <p:ph type="sldNum" sz="quarter" idx="11"/>
          </p:nvPr>
        </p:nvSpPr>
        <p:spPr/>
        <p:txBody>
          <a:bodyPr/>
          <a:lstStyle>
            <a:lvl1pPr>
              <a:defRPr/>
            </a:lvl1pPr>
          </a:lstStyle>
          <a:p>
            <a:fld id="{FF91D38E-4EEB-A347-B788-8E2531302B64}" type="slidenum">
              <a:rPr lang="en-US" altLang="en-US"/>
              <a:pPr/>
              <a:t>‹#›</a:t>
            </a:fld>
            <a:endParaRPr lang="en-US" altLang="en-US"/>
          </a:p>
        </p:txBody>
      </p:sp>
      <p:sp>
        <p:nvSpPr>
          <p:cNvPr id="9" name="Footer Placeholder 8">
            <a:extLst>
              <a:ext uri="{FF2B5EF4-FFF2-40B4-BE49-F238E27FC236}">
                <a16:creationId xmlns:a16="http://schemas.microsoft.com/office/drawing/2014/main" id="{98FA9AF0-A1F2-895A-72DA-023C9B4F90F2}"/>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1198199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958010-F47B-4A0D-0DD0-0EB6FE150B4F}"/>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4" name="Slide Number Placeholder 3">
            <a:extLst>
              <a:ext uri="{FF2B5EF4-FFF2-40B4-BE49-F238E27FC236}">
                <a16:creationId xmlns:a16="http://schemas.microsoft.com/office/drawing/2014/main" id="{A8DB8329-779B-98DF-7BA9-AF71B57DB983}"/>
              </a:ext>
            </a:extLst>
          </p:cNvPr>
          <p:cNvSpPr>
            <a:spLocks noGrp="1"/>
          </p:cNvSpPr>
          <p:nvPr>
            <p:ph type="sldNum" sz="quarter" idx="11"/>
          </p:nvPr>
        </p:nvSpPr>
        <p:spPr/>
        <p:txBody>
          <a:bodyPr/>
          <a:lstStyle>
            <a:lvl1pPr>
              <a:defRPr/>
            </a:lvl1pPr>
          </a:lstStyle>
          <a:p>
            <a:fld id="{3DB2C6EF-7945-C84B-B0FE-B64680D434C4}" type="slidenum">
              <a:rPr lang="en-US" altLang="en-US"/>
              <a:pPr/>
              <a:t>‹#›</a:t>
            </a:fld>
            <a:endParaRPr lang="en-US" altLang="en-US"/>
          </a:p>
        </p:txBody>
      </p:sp>
      <p:sp>
        <p:nvSpPr>
          <p:cNvPr id="5" name="Footer Placeholder 4">
            <a:extLst>
              <a:ext uri="{FF2B5EF4-FFF2-40B4-BE49-F238E27FC236}">
                <a16:creationId xmlns:a16="http://schemas.microsoft.com/office/drawing/2014/main" id="{CF3CFC1D-415E-4656-842C-8C7C1622E124}"/>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806099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235068-079B-E1F7-C60B-26D58B76B726}"/>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3" name="Slide Number Placeholder 2">
            <a:extLst>
              <a:ext uri="{FF2B5EF4-FFF2-40B4-BE49-F238E27FC236}">
                <a16:creationId xmlns:a16="http://schemas.microsoft.com/office/drawing/2014/main" id="{DB34DCE9-C8A7-4375-10DF-DEB8201C56DB}"/>
              </a:ext>
            </a:extLst>
          </p:cNvPr>
          <p:cNvSpPr>
            <a:spLocks noGrp="1"/>
          </p:cNvSpPr>
          <p:nvPr>
            <p:ph type="sldNum" sz="quarter" idx="11"/>
          </p:nvPr>
        </p:nvSpPr>
        <p:spPr/>
        <p:txBody>
          <a:bodyPr/>
          <a:lstStyle>
            <a:lvl1pPr>
              <a:defRPr/>
            </a:lvl1pPr>
          </a:lstStyle>
          <a:p>
            <a:fld id="{15971F02-29CA-1244-9D65-29B8488D8110}" type="slidenum">
              <a:rPr lang="en-US" altLang="en-US"/>
              <a:pPr/>
              <a:t>‹#›</a:t>
            </a:fld>
            <a:endParaRPr lang="en-US" altLang="en-US"/>
          </a:p>
        </p:txBody>
      </p:sp>
      <p:sp>
        <p:nvSpPr>
          <p:cNvPr id="4" name="Footer Placeholder 3">
            <a:extLst>
              <a:ext uri="{FF2B5EF4-FFF2-40B4-BE49-F238E27FC236}">
                <a16:creationId xmlns:a16="http://schemas.microsoft.com/office/drawing/2014/main" id="{5E24A2D2-64E6-32E8-E6B4-29DB70C6A3D1}"/>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592322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B71B01D6-862C-81A4-8281-F9E0C190872D}"/>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77F021E4-B104-DCF3-8D30-007DD7F9E645}"/>
              </a:ext>
            </a:extLst>
          </p:cNvPr>
          <p:cNvSpPr>
            <a:spLocks noGrp="1"/>
          </p:cNvSpPr>
          <p:nvPr>
            <p:ph type="sldNum" sz="quarter" idx="11"/>
          </p:nvPr>
        </p:nvSpPr>
        <p:spPr/>
        <p:txBody>
          <a:bodyPr/>
          <a:lstStyle>
            <a:lvl1pPr>
              <a:defRPr/>
            </a:lvl1pPr>
          </a:lstStyle>
          <a:p>
            <a:fld id="{FF7E4E31-330A-5F43-ABA1-C75C339DDAE8}" type="slidenum">
              <a:rPr lang="en-US" altLang="en-US"/>
              <a:pPr/>
              <a:t>‹#›</a:t>
            </a:fld>
            <a:endParaRPr lang="en-US" altLang="en-US"/>
          </a:p>
        </p:txBody>
      </p:sp>
      <p:sp>
        <p:nvSpPr>
          <p:cNvPr id="7" name="Footer Placeholder 6">
            <a:extLst>
              <a:ext uri="{FF2B5EF4-FFF2-40B4-BE49-F238E27FC236}">
                <a16:creationId xmlns:a16="http://schemas.microsoft.com/office/drawing/2014/main" id="{71D77FAE-5F24-1F3F-9A11-DE70FD666718}"/>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3631439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A3DDDAE9-44BF-4B9A-39A8-1F7CB1B034CA}"/>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51E26E87-3775-5181-A237-3DE4D1F85F16}"/>
              </a:ext>
            </a:extLst>
          </p:cNvPr>
          <p:cNvSpPr>
            <a:spLocks noGrp="1"/>
          </p:cNvSpPr>
          <p:nvPr>
            <p:ph type="sldNum" sz="quarter" idx="11"/>
          </p:nvPr>
        </p:nvSpPr>
        <p:spPr/>
        <p:txBody>
          <a:bodyPr/>
          <a:lstStyle>
            <a:lvl1pPr>
              <a:defRPr/>
            </a:lvl1pPr>
          </a:lstStyle>
          <a:p>
            <a:fld id="{3C08B9D2-A365-E64C-9F32-9E8C11BCF271}" type="slidenum">
              <a:rPr lang="en-US" altLang="en-US"/>
              <a:pPr/>
              <a:t>‹#›</a:t>
            </a:fld>
            <a:endParaRPr lang="en-US" altLang="en-US"/>
          </a:p>
        </p:txBody>
      </p:sp>
      <p:sp>
        <p:nvSpPr>
          <p:cNvPr id="7" name="Footer Placeholder 6">
            <a:extLst>
              <a:ext uri="{FF2B5EF4-FFF2-40B4-BE49-F238E27FC236}">
                <a16:creationId xmlns:a16="http://schemas.microsoft.com/office/drawing/2014/main" id="{3C835496-991B-757D-7575-2DF05872C235}"/>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1870084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CD9BA5-7BCB-EC54-D3BB-1F7BD7DC1EF2}"/>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ACE43806-AFD3-383C-EDF0-F1507CC74D8D}"/>
              </a:ext>
            </a:extLst>
          </p:cNvPr>
          <p:cNvSpPr>
            <a:spLocks noGrp="1"/>
          </p:cNvSpPr>
          <p:nvPr>
            <p:ph type="sldNum" sz="quarter" idx="11"/>
          </p:nvPr>
        </p:nvSpPr>
        <p:spPr/>
        <p:txBody>
          <a:bodyPr/>
          <a:lstStyle>
            <a:lvl1pPr>
              <a:defRPr/>
            </a:lvl1pPr>
          </a:lstStyle>
          <a:p>
            <a:fld id="{E1F6D65E-E7C2-444F-9BD8-6D291C11C81B}" type="slidenum">
              <a:rPr lang="en-US" altLang="en-US"/>
              <a:pPr/>
              <a:t>‹#›</a:t>
            </a:fld>
            <a:endParaRPr lang="en-US" altLang="en-US"/>
          </a:p>
        </p:txBody>
      </p:sp>
      <p:sp>
        <p:nvSpPr>
          <p:cNvPr id="6" name="Footer Placeholder 5">
            <a:extLst>
              <a:ext uri="{FF2B5EF4-FFF2-40B4-BE49-F238E27FC236}">
                <a16:creationId xmlns:a16="http://schemas.microsoft.com/office/drawing/2014/main" id="{917842F9-D978-06B1-029B-76BB3B54EE1A}"/>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2653352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25F077-68EE-EA87-E3D6-3A27001D8326}"/>
              </a:ext>
            </a:extLst>
          </p:cNvPr>
          <p:cNvSpPr>
            <a:spLocks noGrp="1"/>
          </p:cNvSpPr>
          <p:nvPr>
            <p:ph type="dt" sz="half" idx="10"/>
          </p:nvPr>
        </p:nvSpPr>
        <p:spPr>
          <a:xfrm>
            <a:off x="685800" y="6248400"/>
            <a:ext cx="1905000" cy="457200"/>
          </a:xfrm>
          <a:prstGeom prst="rect">
            <a:avLst/>
          </a:prstGeom>
        </p:spPr>
        <p:txBody>
          <a:bodyPr/>
          <a:lstStyle>
            <a:lvl1pPr>
              <a:defRPr>
                <a:latin typeface="Tahoma" charset="0"/>
                <a:ea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6600378F-1446-C0F8-4C15-E57B9C153325}"/>
              </a:ext>
            </a:extLst>
          </p:cNvPr>
          <p:cNvSpPr>
            <a:spLocks noGrp="1"/>
          </p:cNvSpPr>
          <p:nvPr>
            <p:ph type="sldNum" sz="quarter" idx="11"/>
          </p:nvPr>
        </p:nvSpPr>
        <p:spPr/>
        <p:txBody>
          <a:bodyPr/>
          <a:lstStyle>
            <a:lvl1pPr>
              <a:defRPr/>
            </a:lvl1pPr>
          </a:lstStyle>
          <a:p>
            <a:fld id="{B546D07E-7890-5043-B731-93AD0C252885}" type="slidenum">
              <a:rPr lang="en-US" altLang="en-US"/>
              <a:pPr/>
              <a:t>‹#›</a:t>
            </a:fld>
            <a:endParaRPr lang="en-US" altLang="en-US"/>
          </a:p>
        </p:txBody>
      </p:sp>
      <p:sp>
        <p:nvSpPr>
          <p:cNvPr id="6" name="Footer Placeholder 5">
            <a:extLst>
              <a:ext uri="{FF2B5EF4-FFF2-40B4-BE49-F238E27FC236}">
                <a16:creationId xmlns:a16="http://schemas.microsoft.com/office/drawing/2014/main" id="{4949472E-04F4-289E-CCF8-FD5DA6ABDB8A}"/>
              </a:ext>
            </a:extLst>
          </p:cNvPr>
          <p:cNvSpPr>
            <a:spLocks noGrp="1"/>
          </p:cNvSpPr>
          <p:nvPr>
            <p:ph type="ftr" sz="quarter" idx="12"/>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ltLang="en-US"/>
          </a:p>
          <a:p>
            <a:endParaRPr lang="en-US" altLang="en-US"/>
          </a:p>
          <a:p>
            <a:endParaRPr lang="en-US" altLang="en-US"/>
          </a:p>
          <a:p>
            <a:r>
              <a:rPr lang="en-US" altLang="en-US"/>
              <a:t>© A+ Computer Science  -  www.apluscompsci.com</a:t>
            </a:r>
          </a:p>
        </p:txBody>
      </p:sp>
    </p:spTree>
    <p:extLst>
      <p:ext uri="{BB962C8B-B14F-4D97-AF65-F5344CB8AC3E}">
        <p14:creationId xmlns:p14="http://schemas.microsoft.com/office/powerpoint/2010/main" val="784701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922140F-4C31-1FEC-D31D-4BC67C2B1268}"/>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A30882A-9960-AB01-A4EA-6982E765B137}"/>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a:extLst>
              <a:ext uri="{FF2B5EF4-FFF2-40B4-BE49-F238E27FC236}">
                <a16:creationId xmlns:a16="http://schemas.microsoft.com/office/drawing/2014/main" id="{9CCCC712-A3F5-B02F-FFA6-698B926420A8}"/>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fld id="{2FBF3A9C-04B1-D441-838A-8451C6A3101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hf sldNum="0" hdr="0" dt="0"/>
  <p:txStyles>
    <p:titleStyle>
      <a:lvl1pPr algn="ctr" rtl="0" eaLnBrk="0" fontAlgn="base" hangingPunct="0">
        <a:spcBef>
          <a:spcPct val="0"/>
        </a:spcBef>
        <a:spcAft>
          <a:spcPct val="0"/>
        </a:spcAft>
        <a:defRPr sz="4400">
          <a:solidFill>
            <a:schemeClr val="tx2"/>
          </a:solidFill>
          <a:latin typeface="+mj-lt"/>
          <a:ea typeface="ＭＳ Ｐゴシック" charset="0"/>
          <a:cs typeface="+mj-cs"/>
        </a:defRPr>
      </a:lvl1pPr>
      <a:lvl2pPr algn="ctr" rtl="0" eaLnBrk="0" fontAlgn="base" hangingPunct="0">
        <a:spcBef>
          <a:spcPct val="0"/>
        </a:spcBef>
        <a:spcAft>
          <a:spcPct val="0"/>
        </a:spcAft>
        <a:defRPr sz="4400">
          <a:solidFill>
            <a:schemeClr val="tx2"/>
          </a:solidFill>
          <a:latin typeface="Times New Roman" pitchFamily="18" charset="0"/>
          <a:ea typeface="ＭＳ Ｐゴシック" charset="0"/>
        </a:defRPr>
      </a:lvl2pPr>
      <a:lvl3pPr algn="ctr" rtl="0" eaLnBrk="0" fontAlgn="base" hangingPunct="0">
        <a:spcBef>
          <a:spcPct val="0"/>
        </a:spcBef>
        <a:spcAft>
          <a:spcPct val="0"/>
        </a:spcAft>
        <a:defRPr sz="4400">
          <a:solidFill>
            <a:schemeClr val="tx2"/>
          </a:solidFill>
          <a:latin typeface="Times New Roman" pitchFamily="18" charset="0"/>
          <a:ea typeface="ＭＳ Ｐゴシック" charset="0"/>
        </a:defRPr>
      </a:lvl3pPr>
      <a:lvl4pPr algn="ctr" rtl="0" eaLnBrk="0" fontAlgn="base" hangingPunct="0">
        <a:spcBef>
          <a:spcPct val="0"/>
        </a:spcBef>
        <a:spcAft>
          <a:spcPct val="0"/>
        </a:spcAft>
        <a:defRPr sz="4400">
          <a:solidFill>
            <a:schemeClr val="tx2"/>
          </a:solidFill>
          <a:latin typeface="Times New Roman" pitchFamily="18" charset="0"/>
          <a:ea typeface="ＭＳ Ｐゴシック" charset="0"/>
        </a:defRPr>
      </a:lvl4pPr>
      <a:lvl5pPr algn="ctr" rtl="0" eaLnBrk="0" fontAlgn="base" hangingPunct="0">
        <a:spcBef>
          <a:spcPct val="0"/>
        </a:spcBef>
        <a:spcAft>
          <a:spcPct val="0"/>
        </a:spcAft>
        <a:defRPr sz="4400">
          <a:solidFill>
            <a:schemeClr val="tx2"/>
          </a:solidFill>
          <a:latin typeface="Times New Roman" pitchFamily="18" charset="0"/>
          <a:ea typeface="ＭＳ Ｐゴシック"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audio" Target="../media/audio2.bin"/><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audio" Target="../media/audio2.bin"/><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3">
            <a:extLst>
              <a:ext uri="{FF2B5EF4-FFF2-40B4-BE49-F238E27FC236}">
                <a16:creationId xmlns:a16="http://schemas.microsoft.com/office/drawing/2014/main" id="{CD8D1E2D-7AB8-17D2-6F21-F456F18DD195}"/>
              </a:ext>
            </a:extLst>
          </p:cNvPr>
          <p:cNvSpPr>
            <a:spLocks noGrp="1"/>
          </p:cNvSpPr>
          <p:nvPr>
            <p:ph type="ftr"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800">
              <a:latin typeface="Times New Roman" panose="02020603050405020304" pitchFamily="18" charset="0"/>
            </a:endParaRPr>
          </a:p>
          <a:p>
            <a:endParaRPr lang="en-US" altLang="en-US" sz="800" b="0"/>
          </a:p>
          <a:p>
            <a:endParaRPr lang="en-US" altLang="en-US" sz="800"/>
          </a:p>
          <a:p>
            <a:r>
              <a:rPr lang="en-US" altLang="en-US" sz="800"/>
              <a:t>© A+ Computer Science  -  www.apluscompsci.com</a:t>
            </a:r>
          </a:p>
        </p:txBody>
      </p:sp>
      <p:sp>
        <p:nvSpPr>
          <p:cNvPr id="2050" name="WordArt 2">
            <a:extLst>
              <a:ext uri="{FF2B5EF4-FFF2-40B4-BE49-F238E27FC236}">
                <a16:creationId xmlns:a16="http://schemas.microsoft.com/office/drawing/2014/main" id="{17C54CDD-338F-EE39-FD8F-9AD58765B6E4}"/>
              </a:ext>
            </a:extLst>
          </p:cNvPr>
          <p:cNvSpPr>
            <a:spLocks noChangeArrowheads="1" noChangeShapeType="1" noTextEdit="1"/>
          </p:cNvSpPr>
          <p:nvPr/>
        </p:nvSpPr>
        <p:spPr bwMode="auto">
          <a:xfrm>
            <a:off x="609600" y="1143000"/>
            <a:ext cx="8001000" cy="3962400"/>
          </a:xfrm>
          <a:prstGeom prst="rect">
            <a:avLst/>
          </a:prstGeom>
        </p:spPr>
        <p:txBody>
          <a:bodyPr wrap="none" fromWordArt="1">
            <a:prstTxWarp prst="textPlain">
              <a:avLst>
                <a:gd name="adj" fmla="val 50000"/>
              </a:avLst>
            </a:prstTxWarp>
          </a:bodyPr>
          <a:lstStyle/>
          <a:p>
            <a:r>
              <a:rPr lang="en-US" sz="3600" kern="10">
                <a:ln w="19050">
                  <a:solidFill>
                    <a:srgbClr val="99CCFF"/>
                  </a:solidFill>
                  <a:round/>
                  <a:headEnd/>
                  <a:tailEnd/>
                </a:ln>
                <a:solidFill>
                  <a:srgbClr val="0066CC"/>
                </a:solidFill>
                <a:effectLst>
                  <a:outerShdw dist="35921" dir="2700000" algn="ctr" rotWithShape="0">
                    <a:srgbClr val="990000">
                      <a:alpha val="74997"/>
                    </a:srgbClr>
                  </a:outerShdw>
                </a:effectLst>
                <a:latin typeface="Impact" panose="020B0806030902050204" pitchFamily="34" charset="0"/>
              </a:rPr>
              <a:t>SORTING AND</a:t>
            </a:r>
          </a:p>
          <a:p>
            <a:r>
              <a:rPr lang="en-US" sz="3600" kern="10">
                <a:ln w="19050">
                  <a:solidFill>
                    <a:srgbClr val="99CCFF"/>
                  </a:solidFill>
                  <a:round/>
                  <a:headEnd/>
                  <a:tailEnd/>
                </a:ln>
                <a:solidFill>
                  <a:srgbClr val="0066CC"/>
                </a:solidFill>
                <a:effectLst>
                  <a:outerShdw dist="35921" dir="2700000" algn="ctr" rotWithShape="0">
                    <a:srgbClr val="990000">
                      <a:alpha val="74997"/>
                    </a:srgbClr>
                  </a:outerShdw>
                </a:effectLst>
                <a:latin typeface="Impact" panose="020B0806030902050204" pitchFamily="34" charset="0"/>
              </a:rPr>
              <a:t>SEARCHING</a:t>
            </a:r>
          </a:p>
        </p:txBody>
      </p:sp>
      <p:sp>
        <p:nvSpPr>
          <p:cNvPr id="15363" name="WordArt 5">
            <a:extLst>
              <a:ext uri="{FF2B5EF4-FFF2-40B4-BE49-F238E27FC236}">
                <a16:creationId xmlns:a16="http://schemas.microsoft.com/office/drawing/2014/main" id="{E2F43452-A473-C46E-4F63-890430F0F181}"/>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000080"/>
                </a:solidFill>
                <a:effectLst>
                  <a:outerShdw dist="35921" dir="2700000" algn="ctr" rotWithShape="0">
                    <a:srgbClr val="C0C0C0">
                      <a:alpha val="74997"/>
                    </a:srgbClr>
                  </a:outerShdw>
                </a:effectLst>
                <a:latin typeface="Impact" panose="020B0806030902050204" pitchFamily="34" charset="0"/>
              </a:rPr>
              <a:t>Lab 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1000" fill="hold"/>
                                        <p:tgtEl>
                                          <p:spTgt spid="2050"/>
                                        </p:tgtEl>
                                        <p:attrNameLst>
                                          <p:attrName>ppt_w</p:attrName>
                                        </p:attrNameLst>
                                      </p:cBhvr>
                                      <p:tavLst>
                                        <p:tav tm="0">
                                          <p:val>
                                            <p:fltVal val="0"/>
                                          </p:val>
                                        </p:tav>
                                        <p:tav tm="100000">
                                          <p:val>
                                            <p:strVal val="#ppt_w"/>
                                          </p:val>
                                        </p:tav>
                                      </p:tavLst>
                                    </p:anim>
                                    <p:anim calcmode="lin" valueType="num">
                                      <p:cBhvr>
                                        <p:cTn id="8" dur="1000" fill="hold"/>
                                        <p:tgtEl>
                                          <p:spTgt spid="2050"/>
                                        </p:tgtEl>
                                        <p:attrNameLst>
                                          <p:attrName>ppt_h</p:attrName>
                                        </p:attrNameLst>
                                      </p:cBhvr>
                                      <p:tavLst>
                                        <p:tav tm="0">
                                          <p:val>
                                            <p:fltVal val="0"/>
                                          </p:val>
                                        </p:tav>
                                        <p:tav tm="100000">
                                          <p:val>
                                            <p:strVal val="#ppt_h"/>
                                          </p:val>
                                        </p:tav>
                                      </p:tavLst>
                                    </p:anim>
                                    <p:anim calcmode="lin" valueType="num">
                                      <p:cBhvr>
                                        <p:cTn id="9" dur="1000" fill="hold"/>
                                        <p:tgtEl>
                                          <p:spTgt spid="205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050"/>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WordArt 2">
            <a:extLst>
              <a:ext uri="{FF2B5EF4-FFF2-40B4-BE49-F238E27FC236}">
                <a16:creationId xmlns:a16="http://schemas.microsoft.com/office/drawing/2014/main" id="{AD8977C0-B9C9-E081-757A-A4C6D6EE8489}"/>
              </a:ext>
            </a:extLst>
          </p:cNvPr>
          <p:cNvSpPr>
            <a:spLocks noChangeArrowheads="1" noChangeShapeType="1" noTextEdit="1"/>
          </p:cNvSpPr>
          <p:nvPr/>
        </p:nvSpPr>
        <p:spPr bwMode="auto">
          <a:xfrm>
            <a:off x="609600" y="990600"/>
            <a:ext cx="7848600" cy="3886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Java</a:t>
            </a:r>
          </a:p>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Sorts and Searches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475" name="Group 27">
            <a:extLst>
              <a:ext uri="{FF2B5EF4-FFF2-40B4-BE49-F238E27FC236}">
                <a16:creationId xmlns:a16="http://schemas.microsoft.com/office/drawing/2014/main" id="{B0313E68-C907-FF7A-99E4-81D471E10128}"/>
              </a:ext>
            </a:extLst>
          </p:cNvPr>
          <p:cNvGraphicFramePr>
            <a:graphicFrameLocks noGrp="1"/>
          </p:cNvGraphicFramePr>
          <p:nvPr/>
        </p:nvGraphicFramePr>
        <p:xfrm>
          <a:off x="609600" y="533400"/>
          <a:ext cx="8077200" cy="4013200"/>
        </p:xfrm>
        <a:graphic>
          <a:graphicData uri="http://schemas.openxmlformats.org/drawingml/2006/table">
            <a:tbl>
              <a:tblPr/>
              <a:tblGrid>
                <a:gridCol w="25146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1476223">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List</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methods</a:t>
                      </a:r>
                    </a:p>
                  </a:txBody>
                  <a:tcPr marT="45715" marB="4571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14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marT="45715" marB="4571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marT="45715" marB="4571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70101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chemeClr val="accent2"/>
                          </a:solidFill>
                          <a:effectLst/>
                          <a:latin typeface="Tahoma" pitchFamily="34" charset="0"/>
                        </a:rPr>
                        <a:t>indexOf</a:t>
                      </a:r>
                      <a:r>
                        <a:rPr kumimoji="0" lang="en-US" sz="2000" b="1" i="0" u="none" strike="noStrike" cap="none" normalizeH="0" baseline="0" dirty="0">
                          <a:ln>
                            <a:noFill/>
                          </a:ln>
                          <a:solidFill>
                            <a:schemeClr val="accent2"/>
                          </a:solidFill>
                          <a:effectLst/>
                          <a:latin typeface="Tahoma" pitchFamily="34" charset="0"/>
                        </a:rPr>
                        <a:t>(x)</a:t>
                      </a:r>
                    </a:p>
                  </a:txBody>
                  <a:tcPr marT="45715" marB="4571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returns -1 if not found</a:t>
                      </a:r>
                      <a:br>
                        <a:rPr kumimoji="0" lang="en-US" sz="2000" b="1" i="0" u="none" strike="noStrike" cap="none" normalizeH="0" baseline="0" dirty="0">
                          <a:ln>
                            <a:noFill/>
                          </a:ln>
                          <a:solidFill>
                            <a:schemeClr val="accent2"/>
                          </a:solidFill>
                          <a:effectLst/>
                          <a:latin typeface="Tahoma" pitchFamily="34" charset="0"/>
                        </a:rPr>
                      </a:br>
                      <a:r>
                        <a:rPr kumimoji="0" lang="en-US" sz="2000" b="1" i="0" u="none" strike="noStrike" cap="none" normalizeH="0" baseline="0" dirty="0">
                          <a:ln>
                            <a:noFill/>
                          </a:ln>
                          <a:solidFill>
                            <a:schemeClr val="accent2"/>
                          </a:solidFill>
                          <a:effectLst/>
                          <a:latin typeface="Tahoma" pitchFamily="34" charset="0"/>
                        </a:rPr>
                        <a:t>returns loc in list if found</a:t>
                      </a:r>
                    </a:p>
                  </a:txBody>
                  <a:tcPr marT="45715" marB="4571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70101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contains(x)</a:t>
                      </a:r>
                    </a:p>
                  </a:txBody>
                  <a:tcPr marT="45715" marB="4571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returns true if x exists in list</a:t>
                      </a:r>
                      <a:br>
                        <a:rPr kumimoji="0" lang="en-US" sz="2000" b="1" i="0" u="none" strike="noStrike" cap="none" normalizeH="0" baseline="0" dirty="0">
                          <a:ln>
                            <a:noFill/>
                          </a:ln>
                          <a:solidFill>
                            <a:schemeClr val="accent2"/>
                          </a:solidFill>
                          <a:effectLst/>
                          <a:latin typeface="Tahoma" pitchFamily="34" charset="0"/>
                        </a:rPr>
                      </a:br>
                      <a:r>
                        <a:rPr kumimoji="0" lang="en-US" sz="2000" b="1" i="0" u="none" strike="noStrike" cap="none" normalizeH="0" baseline="0" dirty="0">
                          <a:ln>
                            <a:noFill/>
                          </a:ln>
                          <a:solidFill>
                            <a:schemeClr val="accent2"/>
                          </a:solidFill>
                          <a:effectLst/>
                          <a:latin typeface="Tahoma" pitchFamily="34" charset="0"/>
                        </a:rPr>
                        <a:t>returns false if x does not exist in list</a:t>
                      </a:r>
                    </a:p>
                  </a:txBody>
                  <a:tcPr marT="45715" marB="4571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5080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equals(x)</a:t>
                      </a:r>
                    </a:p>
                  </a:txBody>
                  <a:tcPr marT="45715" marB="4571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returns true if this list is equal to x</a:t>
                      </a:r>
                    </a:p>
                  </a:txBody>
                  <a:tcPr marT="45715" marB="4571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9476" name="Text Box 28">
            <a:extLst>
              <a:ext uri="{FF2B5EF4-FFF2-40B4-BE49-F238E27FC236}">
                <a16:creationId xmlns:a16="http://schemas.microsoft.com/office/drawing/2014/main" id="{17C1579F-3B57-B162-1160-C89A3238552C}"/>
              </a:ext>
            </a:extLst>
          </p:cNvPr>
          <p:cNvSpPr txBox="1">
            <a:spLocks noChangeArrowheads="1"/>
          </p:cNvSpPr>
          <p:nvPr/>
        </p:nvSpPr>
        <p:spPr bwMode="auto">
          <a:xfrm>
            <a:off x="2133600" y="5562600"/>
            <a:ext cx="4495800" cy="531813"/>
          </a:xfrm>
          <a:prstGeom prst="rect">
            <a:avLst/>
          </a:prstGeom>
          <a:noFill/>
          <a:ln w="12700">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eaLnBrk="1" hangingPunct="1"/>
            <a:r>
              <a:rPr lang="en-US" altLang="en-US">
                <a:solidFill>
                  <a:schemeClr val="accent2"/>
                </a:solidFill>
              </a:rPr>
              <a:t>import  java.util.List;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WordArt 2">
            <a:extLst>
              <a:ext uri="{FF2B5EF4-FFF2-40B4-BE49-F238E27FC236}">
                <a16:creationId xmlns:a16="http://schemas.microsoft.com/office/drawing/2014/main" id="{3D300E1C-1EEB-DFB5-CE0B-E1CE66CB619F}"/>
              </a:ext>
            </a:extLst>
          </p:cNvPr>
          <p:cNvSpPr>
            <a:spLocks noChangeArrowheads="1" noChangeShapeType="1" noTextEdit="1"/>
          </p:cNvSpPr>
          <p:nvPr/>
        </p:nvSpPr>
        <p:spPr bwMode="auto">
          <a:xfrm>
            <a:off x="1066800" y="381000"/>
            <a:ext cx="7010400" cy="914400"/>
          </a:xfrm>
          <a:prstGeom prst="rect">
            <a:avLst/>
          </a:prstGeom>
        </p:spPr>
        <p:txBody>
          <a:bodyPr wrap="none" fromWordArt="1">
            <a:prstTxWarp prst="textPlain">
              <a:avLst>
                <a:gd name="adj" fmla="val 50000"/>
              </a:avLst>
            </a:prstTxWarp>
          </a:bodyPr>
          <a:lstStyle/>
          <a:p>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604020202020204" pitchFamily="34" charset="0"/>
                <a:cs typeface="Arial Black" panose="020B0604020202020204" pitchFamily="34" charset="0"/>
              </a:rPr>
              <a:t>List Searches</a:t>
            </a:r>
          </a:p>
        </p:txBody>
      </p:sp>
      <p:sp>
        <p:nvSpPr>
          <p:cNvPr id="21506" name="Rectangle 3">
            <a:extLst>
              <a:ext uri="{FF2B5EF4-FFF2-40B4-BE49-F238E27FC236}">
                <a16:creationId xmlns:a16="http://schemas.microsoft.com/office/drawing/2014/main" id="{DC02E139-9E98-063F-37FB-C5591D76F1C6}"/>
              </a:ext>
            </a:extLst>
          </p:cNvPr>
          <p:cNvSpPr>
            <a:spLocks noChangeArrowheads="1"/>
          </p:cNvSpPr>
          <p:nvPr/>
        </p:nvSpPr>
        <p:spPr bwMode="auto">
          <a:xfrm>
            <a:off x="457200" y="1600200"/>
            <a:ext cx="71628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t>ArrayList&lt;Integer&gt; ray; </a:t>
            </a:r>
          </a:p>
          <a:p>
            <a:pPr algn="l"/>
            <a:r>
              <a:rPr lang="en-US" altLang="en-US"/>
              <a:t>ray=new ArrayList&lt;Integer&gt;();</a:t>
            </a:r>
          </a:p>
          <a:p>
            <a:pPr algn="l"/>
            <a:r>
              <a:rPr lang="en-US" altLang="en-US"/>
              <a:t>ray.add(21);</a:t>
            </a:r>
          </a:p>
          <a:p>
            <a:pPr algn="l"/>
            <a:r>
              <a:rPr lang="en-US" altLang="en-US"/>
              <a:t>ray.add(14);</a:t>
            </a:r>
          </a:p>
          <a:p>
            <a:pPr algn="l"/>
            <a:r>
              <a:rPr lang="en-US" altLang="en-US"/>
              <a:t>ray.add(0,13);</a:t>
            </a:r>
          </a:p>
          <a:p>
            <a:pPr algn="l"/>
            <a:r>
              <a:rPr lang="en-US" altLang="en-US"/>
              <a:t>ray.add(25);</a:t>
            </a:r>
          </a:p>
          <a:p>
            <a:pPr algn="l"/>
            <a:r>
              <a:rPr lang="en-US" altLang="en-US"/>
              <a:t>out.println( ray.indexOf( 21 ) );</a:t>
            </a:r>
          </a:p>
          <a:p>
            <a:pPr algn="l"/>
            <a:r>
              <a:rPr lang="en-US" altLang="en-US"/>
              <a:t>out.println( ray.indexOf( 17 ) );</a:t>
            </a:r>
          </a:p>
          <a:p>
            <a:pPr algn="l"/>
            <a:r>
              <a:rPr lang="en-US" altLang="en-US"/>
              <a:t>out.println( ray.contains(25 ) );</a:t>
            </a:r>
          </a:p>
          <a:p>
            <a:pPr algn="l"/>
            <a:r>
              <a:rPr lang="en-US" altLang="en-US"/>
              <a:t>out.println( ray.contains( 63 ) );</a:t>
            </a:r>
          </a:p>
        </p:txBody>
      </p:sp>
      <p:sp>
        <p:nvSpPr>
          <p:cNvPr id="21507" name="Text Box 4">
            <a:extLst>
              <a:ext uri="{FF2B5EF4-FFF2-40B4-BE49-F238E27FC236}">
                <a16:creationId xmlns:a16="http://schemas.microsoft.com/office/drawing/2014/main" id="{FA4FB138-73AB-8F0D-6692-F4DA37FF048C}"/>
              </a:ext>
            </a:extLst>
          </p:cNvPr>
          <p:cNvSpPr txBox="1">
            <a:spLocks noChangeArrowheads="1"/>
          </p:cNvSpPr>
          <p:nvPr/>
        </p:nvSpPr>
        <p:spPr bwMode="auto">
          <a:xfrm>
            <a:off x="7010400" y="2286000"/>
            <a:ext cx="1905000" cy="2554288"/>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spcBef>
                <a:spcPct val="50000"/>
              </a:spcBef>
            </a:pPr>
            <a:r>
              <a:rPr lang="en-US" altLang="en-US" sz="3200" u="sng">
                <a:solidFill>
                  <a:srgbClr val="FF0000"/>
                </a:solidFill>
              </a:rPr>
              <a:t>OUTPU0</a:t>
            </a:r>
            <a:br>
              <a:rPr lang="en-US" altLang="en-US" sz="3200"/>
            </a:br>
            <a:r>
              <a:rPr lang="en-US" altLang="en-US" sz="3200"/>
              <a:t>1</a:t>
            </a:r>
            <a:br>
              <a:rPr lang="en-US" altLang="en-US" sz="3200"/>
            </a:br>
            <a:r>
              <a:rPr lang="en-US" altLang="en-US" sz="3200"/>
              <a:t>-1</a:t>
            </a:r>
            <a:br>
              <a:rPr lang="en-US" altLang="en-US" sz="3200"/>
            </a:br>
            <a:r>
              <a:rPr lang="en-US" altLang="en-US" sz="3200"/>
              <a:t>true</a:t>
            </a:r>
            <a:br>
              <a:rPr lang="en-US" altLang="en-US" sz="3200"/>
            </a:br>
            <a:r>
              <a:rPr lang="en-US" altLang="en-US" sz="3200"/>
              <a:t>false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475" name="Group 27">
            <a:extLst>
              <a:ext uri="{FF2B5EF4-FFF2-40B4-BE49-F238E27FC236}">
                <a16:creationId xmlns:a16="http://schemas.microsoft.com/office/drawing/2014/main" id="{3E4656BD-4ED4-6ADA-EDFD-9AB108580A84}"/>
              </a:ext>
            </a:extLst>
          </p:cNvPr>
          <p:cNvGraphicFramePr>
            <a:graphicFrameLocks noGrp="1"/>
          </p:cNvGraphicFramePr>
          <p:nvPr/>
        </p:nvGraphicFramePr>
        <p:xfrm>
          <a:off x="609600" y="533400"/>
          <a:ext cx="8077200" cy="3983038"/>
        </p:xfrm>
        <a:graphic>
          <a:graphicData uri="http://schemas.openxmlformats.org/drawingml/2006/table">
            <a:tbl>
              <a:tblPr/>
              <a:tblGrid>
                <a:gridCol w="25146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1476375">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a:ln>
                            <a:noFill/>
                          </a:ln>
                          <a:solidFill>
                            <a:srgbClr val="FF0000"/>
                          </a:solidFill>
                          <a:effectLst/>
                          <a:latin typeface="Tahoma" pitchFamily="34" charset="0"/>
                        </a:rPr>
                        <a:t>Arrays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sort(x)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puts all items in x in ascending order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binarySearch(x,y)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checks x for the location of 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equals(x,y)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checks if x and y have the same values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fill(x, 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fills all spots in x with value 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575" name="Text Box 28">
            <a:extLst>
              <a:ext uri="{FF2B5EF4-FFF2-40B4-BE49-F238E27FC236}">
                <a16:creationId xmlns:a16="http://schemas.microsoft.com/office/drawing/2014/main" id="{E8695F49-BCF8-669D-DF80-6D6861D2A9E7}"/>
              </a:ext>
            </a:extLst>
          </p:cNvPr>
          <p:cNvSpPr txBox="1">
            <a:spLocks noChangeArrowheads="1"/>
          </p:cNvSpPr>
          <p:nvPr/>
        </p:nvSpPr>
        <p:spPr bwMode="auto">
          <a:xfrm>
            <a:off x="2133600" y="5562600"/>
            <a:ext cx="4495800" cy="531813"/>
          </a:xfrm>
          <a:prstGeom prst="rect">
            <a:avLst/>
          </a:prstGeom>
          <a:noFill/>
          <a:ln w="12700">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eaLnBrk="1" hangingPunct="1"/>
            <a:r>
              <a:rPr lang="en-US" altLang="en-US">
                <a:solidFill>
                  <a:schemeClr val="accent2"/>
                </a:solidFill>
              </a:rPr>
              <a:t>import  java.util.Arrays;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WordArt 2">
            <a:extLst>
              <a:ext uri="{FF2B5EF4-FFF2-40B4-BE49-F238E27FC236}">
                <a16:creationId xmlns:a16="http://schemas.microsoft.com/office/drawing/2014/main" id="{BC8C107B-3806-88DF-67FB-0693481EF01F}"/>
              </a:ext>
            </a:extLst>
          </p:cNvPr>
          <p:cNvSpPr>
            <a:spLocks noChangeArrowheads="1" noChangeShapeType="1" noTextEdit="1"/>
          </p:cNvSpPr>
          <p:nvPr/>
        </p:nvSpPr>
        <p:spPr bwMode="auto">
          <a:xfrm>
            <a:off x="1066800" y="381000"/>
            <a:ext cx="7010400" cy="914400"/>
          </a:xfrm>
          <a:prstGeom prst="rect">
            <a:avLst/>
          </a:prstGeom>
        </p:spPr>
        <p:txBody>
          <a:bodyPr wrap="none" fromWordArt="1">
            <a:prstTxWarp prst="textPlain">
              <a:avLst>
                <a:gd name="adj" fmla="val 50000"/>
              </a:avLst>
            </a:prstTxWarp>
          </a:bodyPr>
          <a:lstStyle/>
          <a:p>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604020202020204" pitchFamily="34" charset="0"/>
                <a:cs typeface="Arial Black" panose="020B0604020202020204" pitchFamily="34" charset="0"/>
              </a:rPr>
              <a:t>Java Searches</a:t>
            </a:r>
          </a:p>
        </p:txBody>
      </p:sp>
      <p:sp>
        <p:nvSpPr>
          <p:cNvPr id="25602" name="Text Box 3">
            <a:extLst>
              <a:ext uri="{FF2B5EF4-FFF2-40B4-BE49-F238E27FC236}">
                <a16:creationId xmlns:a16="http://schemas.microsoft.com/office/drawing/2014/main" id="{428B722B-724C-277E-27ED-41706256ED9B}"/>
              </a:ext>
            </a:extLst>
          </p:cNvPr>
          <p:cNvSpPr txBox="1">
            <a:spLocks noChangeArrowheads="1"/>
          </p:cNvSpPr>
          <p:nvPr/>
        </p:nvSpPr>
        <p:spPr bwMode="auto">
          <a:xfrm>
            <a:off x="1371600" y="2057400"/>
            <a:ext cx="6096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3200">
              <a:solidFill>
                <a:srgbClr val="0000FF"/>
              </a:solidFill>
            </a:endParaRPr>
          </a:p>
        </p:txBody>
      </p:sp>
      <p:sp>
        <p:nvSpPr>
          <p:cNvPr id="25603" name="Text Box 4">
            <a:extLst>
              <a:ext uri="{FF2B5EF4-FFF2-40B4-BE49-F238E27FC236}">
                <a16:creationId xmlns:a16="http://schemas.microsoft.com/office/drawing/2014/main" id="{B441B76D-8134-81C0-5DB5-27672C1C78BC}"/>
              </a:ext>
            </a:extLst>
          </p:cNvPr>
          <p:cNvSpPr txBox="1">
            <a:spLocks noChangeArrowheads="1"/>
          </p:cNvSpPr>
          <p:nvPr/>
        </p:nvSpPr>
        <p:spPr bwMode="auto">
          <a:xfrm>
            <a:off x="533400" y="2057400"/>
            <a:ext cx="83058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2400"/>
              <a:t>String s  = </a:t>
            </a:r>
            <a:r>
              <a:rPr lang="en-US" altLang="en-US"/>
              <a:t>"</a:t>
            </a:r>
            <a:r>
              <a:rPr lang="en-US" altLang="en-US" sz="2400"/>
              <a:t>abcdefghijklmnop</a:t>
            </a:r>
            <a:r>
              <a:rPr lang="en-US" altLang="en-US"/>
              <a:t>"</a:t>
            </a:r>
            <a:r>
              <a:rPr lang="en-US" altLang="en-US" sz="2400"/>
              <a:t>;</a:t>
            </a:r>
          </a:p>
          <a:p>
            <a:pPr algn="l"/>
            <a:r>
              <a:rPr lang="en-US" altLang="en-US" sz="2400"/>
              <a:t>out.println(s.indexOf(</a:t>
            </a:r>
            <a:r>
              <a:rPr lang="en-US" altLang="en-US"/>
              <a:t>"</a:t>
            </a:r>
            <a:r>
              <a:rPr lang="en-US" altLang="en-US" sz="2400"/>
              <a:t>3</a:t>
            </a:r>
            <a:r>
              <a:rPr lang="en-US" altLang="en-US"/>
              <a:t>"</a:t>
            </a:r>
            <a:r>
              <a:rPr lang="en-US" altLang="en-US" sz="2400"/>
              <a:t>));     </a:t>
            </a:r>
          </a:p>
          <a:p>
            <a:pPr algn="l"/>
            <a:endParaRPr lang="en-US" altLang="en-US" sz="2400"/>
          </a:p>
          <a:p>
            <a:pPr algn="l"/>
            <a:endParaRPr lang="en-US" altLang="en-US" sz="2400"/>
          </a:p>
          <a:p>
            <a:pPr algn="l"/>
            <a:r>
              <a:rPr lang="en-US" altLang="en-US" sz="2400"/>
              <a:t>int[] ray = {3,4,5,6,11,18,91};</a:t>
            </a:r>
          </a:p>
          <a:p>
            <a:pPr algn="l"/>
            <a:r>
              <a:rPr lang="en-US" altLang="en-US" sz="2400"/>
              <a:t>out.println(Arrays.binarySearch(ray,5));    </a:t>
            </a:r>
          </a:p>
          <a:p>
            <a:pPr algn="l"/>
            <a:endParaRPr lang="en-US" altLang="en-US" sz="2400"/>
          </a:p>
          <a:p>
            <a:pPr algn="l"/>
            <a:endParaRPr lang="en-US" altLang="en-US" sz="2400"/>
          </a:p>
          <a:p>
            <a:pPr algn="l"/>
            <a:r>
              <a:rPr lang="en-US" altLang="en-US" sz="2400"/>
              <a:t>int[] ray = {3,4,5,6,11,18,91};</a:t>
            </a:r>
          </a:p>
          <a:p>
            <a:pPr algn="l"/>
            <a:r>
              <a:rPr lang="en-US" altLang="en-US" sz="2400"/>
              <a:t>out.println(Arrays.binarySearch(ray,15));   </a:t>
            </a:r>
          </a:p>
        </p:txBody>
      </p:sp>
      <p:sp>
        <p:nvSpPr>
          <p:cNvPr id="25604" name="Text Box 5">
            <a:extLst>
              <a:ext uri="{FF2B5EF4-FFF2-40B4-BE49-F238E27FC236}">
                <a16:creationId xmlns:a16="http://schemas.microsoft.com/office/drawing/2014/main" id="{626458E1-AF99-1E69-256F-C640D3E0D401}"/>
              </a:ext>
            </a:extLst>
          </p:cNvPr>
          <p:cNvSpPr txBox="1">
            <a:spLocks noChangeArrowheads="1"/>
          </p:cNvSpPr>
          <p:nvPr/>
        </p:nvSpPr>
        <p:spPr bwMode="auto">
          <a:xfrm>
            <a:off x="7010400" y="1905000"/>
            <a:ext cx="1905000" cy="2298700"/>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spcBef>
                <a:spcPct val="50000"/>
              </a:spcBef>
            </a:pPr>
            <a:r>
              <a:rPr lang="en-US" altLang="en-US" sz="3200" u="sng">
                <a:solidFill>
                  <a:srgbClr val="FF0000"/>
                </a:solidFill>
              </a:rPr>
              <a:t>OUTPUT</a:t>
            </a:r>
          </a:p>
          <a:p>
            <a:pPr>
              <a:spcBef>
                <a:spcPct val="50000"/>
              </a:spcBef>
            </a:pPr>
            <a:r>
              <a:rPr lang="en-US" altLang="en-US" sz="3200"/>
              <a:t>-1</a:t>
            </a:r>
            <a:br>
              <a:rPr lang="en-US" altLang="en-US" sz="3200"/>
            </a:br>
            <a:r>
              <a:rPr lang="en-US" altLang="en-US" sz="3200"/>
              <a:t>2</a:t>
            </a:r>
            <a:br>
              <a:rPr lang="en-US" altLang="en-US" sz="3200"/>
            </a:br>
            <a:r>
              <a:rPr lang="en-US" altLang="en-US" sz="320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WordArt 2">
            <a:extLst>
              <a:ext uri="{FF2B5EF4-FFF2-40B4-BE49-F238E27FC236}">
                <a16:creationId xmlns:a16="http://schemas.microsoft.com/office/drawing/2014/main" id="{60FD66C7-DB60-9A6F-E4D6-C9EFD7927056}"/>
              </a:ext>
            </a:extLst>
          </p:cNvPr>
          <p:cNvSpPr>
            <a:spLocks noChangeArrowheads="1" noChangeShapeType="1" noTextEdit="1"/>
          </p:cNvSpPr>
          <p:nvPr/>
        </p:nvSpPr>
        <p:spPr bwMode="auto">
          <a:xfrm>
            <a:off x="1066800" y="381000"/>
            <a:ext cx="7010400" cy="914400"/>
          </a:xfrm>
          <a:prstGeom prst="rect">
            <a:avLst/>
          </a:prstGeom>
        </p:spPr>
        <p:txBody>
          <a:bodyPr wrap="none" fromWordArt="1">
            <a:prstTxWarp prst="textPlain">
              <a:avLst>
                <a:gd name="adj" fmla="val 50000"/>
              </a:avLst>
            </a:prstTxWarp>
          </a:bodyPr>
          <a:lstStyle/>
          <a:p>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604020202020204" pitchFamily="34" charset="0"/>
                <a:cs typeface="Arial Black" panose="020B0604020202020204" pitchFamily="34" charset="0"/>
              </a:rPr>
              <a:t>Java Sorts</a:t>
            </a:r>
          </a:p>
        </p:txBody>
      </p:sp>
      <p:sp>
        <p:nvSpPr>
          <p:cNvPr id="27650" name="Rectangle 4">
            <a:extLst>
              <a:ext uri="{FF2B5EF4-FFF2-40B4-BE49-F238E27FC236}">
                <a16:creationId xmlns:a16="http://schemas.microsoft.com/office/drawing/2014/main" id="{36D5F487-80AE-711E-077E-8C75DD412286}"/>
              </a:ext>
            </a:extLst>
          </p:cNvPr>
          <p:cNvSpPr>
            <a:spLocks noChangeArrowheads="1"/>
          </p:cNvSpPr>
          <p:nvPr/>
        </p:nvSpPr>
        <p:spPr bwMode="auto">
          <a:xfrm>
            <a:off x="609600" y="1600200"/>
            <a:ext cx="69342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endParaRPr lang="en-US" altLang="en-US"/>
          </a:p>
          <a:p>
            <a:pPr algn="l"/>
            <a:r>
              <a:rPr lang="en-US" altLang="en-US"/>
              <a:t>int[] ray = {13,6,17,18,2,-5};</a:t>
            </a:r>
          </a:p>
          <a:p>
            <a:pPr algn="l"/>
            <a:r>
              <a:rPr lang="en-US" altLang="en-US"/>
              <a:t>Arrays.sort(ray);   </a:t>
            </a:r>
            <a:endParaRPr lang="en-US" altLang="en-US" sz="2000"/>
          </a:p>
          <a:p>
            <a:pPr algn="l"/>
            <a:endParaRPr lang="en-US" altLang="en-US"/>
          </a:p>
          <a:p>
            <a:pPr algn="l"/>
            <a:r>
              <a:rPr lang="en-US" altLang="en-US"/>
              <a:t>for(int i = 0; i &lt; ray.length; i++)</a:t>
            </a:r>
          </a:p>
          <a:p>
            <a:pPr algn="l"/>
            <a:r>
              <a:rPr lang="en-US" altLang="en-US"/>
              <a:t>{</a:t>
            </a:r>
          </a:p>
          <a:p>
            <a:pPr algn="l"/>
            <a:r>
              <a:rPr lang="en-US" altLang="en-US"/>
              <a:t>     out.println(ray[i]);</a:t>
            </a:r>
          </a:p>
          <a:p>
            <a:pPr algn="l"/>
            <a:r>
              <a:rPr lang="en-US" altLang="en-US"/>
              <a:t>}</a:t>
            </a:r>
          </a:p>
        </p:txBody>
      </p:sp>
      <p:sp>
        <p:nvSpPr>
          <p:cNvPr id="27651" name="Text Box 5">
            <a:extLst>
              <a:ext uri="{FF2B5EF4-FFF2-40B4-BE49-F238E27FC236}">
                <a16:creationId xmlns:a16="http://schemas.microsoft.com/office/drawing/2014/main" id="{6D82ECC3-3690-2175-66E5-5CE0DA6C86E3}"/>
              </a:ext>
            </a:extLst>
          </p:cNvPr>
          <p:cNvSpPr txBox="1">
            <a:spLocks noChangeArrowheads="1"/>
          </p:cNvSpPr>
          <p:nvPr/>
        </p:nvSpPr>
        <p:spPr bwMode="auto">
          <a:xfrm>
            <a:off x="7010400" y="1905000"/>
            <a:ext cx="1905000" cy="3516313"/>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spcBef>
                <a:spcPct val="50000"/>
              </a:spcBef>
            </a:pPr>
            <a:r>
              <a:rPr lang="en-US" altLang="en-US" sz="3200" u="sng">
                <a:solidFill>
                  <a:srgbClr val="FF0000"/>
                </a:solidFill>
              </a:rPr>
              <a:t>OUTPUT</a:t>
            </a:r>
            <a:r>
              <a:rPr lang="en-US" altLang="en-US" sz="3200"/>
              <a:t>-5</a:t>
            </a:r>
            <a:br>
              <a:rPr lang="en-US" altLang="en-US" sz="3200"/>
            </a:br>
            <a:r>
              <a:rPr lang="en-US" altLang="en-US" sz="3200"/>
              <a:t>2</a:t>
            </a:r>
            <a:br>
              <a:rPr lang="en-US" altLang="en-US" sz="3200"/>
            </a:br>
            <a:r>
              <a:rPr lang="en-US" altLang="en-US" sz="3200"/>
              <a:t>6</a:t>
            </a:r>
            <a:br>
              <a:rPr lang="en-US" altLang="en-US" sz="3200"/>
            </a:br>
            <a:r>
              <a:rPr lang="en-US" altLang="en-US" sz="3200"/>
              <a:t>13</a:t>
            </a:r>
            <a:br>
              <a:rPr lang="en-US" altLang="en-US" sz="3200"/>
            </a:br>
            <a:r>
              <a:rPr lang="en-US" altLang="en-US" sz="3200"/>
              <a:t>17</a:t>
            </a:r>
            <a:br>
              <a:rPr lang="en-US" altLang="en-US" sz="3200"/>
            </a:br>
            <a:r>
              <a:rPr lang="en-US" altLang="en-US" sz="3200"/>
              <a:t>18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570" name="Group 2">
            <a:extLst>
              <a:ext uri="{FF2B5EF4-FFF2-40B4-BE49-F238E27FC236}">
                <a16:creationId xmlns:a16="http://schemas.microsoft.com/office/drawing/2014/main" id="{AA873BE8-C2E0-C700-934D-52ADF2E52B26}"/>
              </a:ext>
            </a:extLst>
          </p:cNvPr>
          <p:cNvGraphicFramePr>
            <a:graphicFrameLocks noGrp="1"/>
          </p:cNvGraphicFramePr>
          <p:nvPr/>
        </p:nvGraphicFramePr>
        <p:xfrm>
          <a:off x="609600" y="533400"/>
          <a:ext cx="8077200" cy="4430713"/>
        </p:xfrm>
        <a:graphic>
          <a:graphicData uri="http://schemas.openxmlformats.org/drawingml/2006/table">
            <a:tbl>
              <a:tblPr/>
              <a:tblGrid>
                <a:gridCol w="2720975">
                  <a:extLst>
                    <a:ext uri="{9D8B030D-6E8A-4147-A177-3AD203B41FA5}">
                      <a16:colId xmlns:a16="http://schemas.microsoft.com/office/drawing/2014/main" val="20000"/>
                    </a:ext>
                  </a:extLst>
                </a:gridCol>
                <a:gridCol w="5356225">
                  <a:extLst>
                    <a:ext uri="{9D8B030D-6E8A-4147-A177-3AD203B41FA5}">
                      <a16:colId xmlns:a16="http://schemas.microsoft.com/office/drawing/2014/main" val="20001"/>
                    </a:ext>
                  </a:extLst>
                </a:gridCol>
              </a:tblGrid>
              <a:tr h="1476375">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a:ln>
                            <a:noFill/>
                          </a:ln>
                          <a:solidFill>
                            <a:srgbClr val="FF0000"/>
                          </a:solidFill>
                          <a:effectLst/>
                          <a:latin typeface="Tahoma" pitchFamily="34" charset="0"/>
                        </a:rPr>
                        <a:t>Collections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sort(x)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puts all items in x in ascending order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binarySearch(x,y)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checks x for the location of 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fill(x,y)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fills all spots in x with value 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rotate(x)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shifts items in x left or right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reverse(x)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reverses the order of the items in x</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9722" name="Text Box 27">
            <a:extLst>
              <a:ext uri="{FF2B5EF4-FFF2-40B4-BE49-F238E27FC236}">
                <a16:creationId xmlns:a16="http://schemas.microsoft.com/office/drawing/2014/main" id="{85DD6F09-A7EB-06E6-EDCE-23F052971B10}"/>
              </a:ext>
            </a:extLst>
          </p:cNvPr>
          <p:cNvSpPr txBox="1">
            <a:spLocks noChangeArrowheads="1"/>
          </p:cNvSpPr>
          <p:nvPr/>
        </p:nvSpPr>
        <p:spPr bwMode="auto">
          <a:xfrm>
            <a:off x="1828800" y="5715000"/>
            <a:ext cx="5257800" cy="531813"/>
          </a:xfrm>
          <a:prstGeom prst="rect">
            <a:avLst/>
          </a:prstGeom>
          <a:noFill/>
          <a:ln w="12700">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eaLnBrk="1" hangingPunct="1"/>
            <a:r>
              <a:rPr lang="en-US" altLang="en-US">
                <a:solidFill>
                  <a:schemeClr val="accent2"/>
                </a:solidFill>
              </a:rPr>
              <a:t>import  java.util.Collections;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WordArt 2">
            <a:extLst>
              <a:ext uri="{FF2B5EF4-FFF2-40B4-BE49-F238E27FC236}">
                <a16:creationId xmlns:a16="http://schemas.microsoft.com/office/drawing/2014/main" id="{2499ED5C-DAB8-72DB-7250-EEDCA7C38C68}"/>
              </a:ext>
            </a:extLst>
          </p:cNvPr>
          <p:cNvSpPr>
            <a:spLocks noChangeArrowheads="1" noChangeShapeType="1" noTextEdit="1"/>
          </p:cNvSpPr>
          <p:nvPr/>
        </p:nvSpPr>
        <p:spPr bwMode="auto">
          <a:xfrm>
            <a:off x="1066800" y="381000"/>
            <a:ext cx="7010400" cy="914400"/>
          </a:xfrm>
          <a:prstGeom prst="rect">
            <a:avLst/>
          </a:prstGeom>
        </p:spPr>
        <p:txBody>
          <a:bodyPr wrap="none" fromWordArt="1">
            <a:prstTxWarp prst="textPlain">
              <a:avLst>
                <a:gd name="adj" fmla="val 50000"/>
              </a:avLst>
            </a:prstTxWarp>
          </a:bodyPr>
          <a:lstStyle/>
          <a:p>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604020202020204" pitchFamily="34" charset="0"/>
                <a:cs typeface="Arial Black" panose="020B0604020202020204" pitchFamily="34" charset="0"/>
              </a:rPr>
              <a:t>Java Sorts</a:t>
            </a:r>
          </a:p>
        </p:txBody>
      </p:sp>
      <p:sp>
        <p:nvSpPr>
          <p:cNvPr id="31746" name="Rectangle 3">
            <a:extLst>
              <a:ext uri="{FF2B5EF4-FFF2-40B4-BE49-F238E27FC236}">
                <a16:creationId xmlns:a16="http://schemas.microsoft.com/office/drawing/2014/main" id="{3574AEA6-43ED-6400-3D24-C56ADDCFBF49}"/>
              </a:ext>
            </a:extLst>
          </p:cNvPr>
          <p:cNvSpPr>
            <a:spLocks noChangeArrowheads="1"/>
          </p:cNvSpPr>
          <p:nvPr/>
        </p:nvSpPr>
        <p:spPr bwMode="auto">
          <a:xfrm>
            <a:off x="457200" y="1600200"/>
            <a:ext cx="71628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t>ArrayList&lt;Integer&gt; ray; </a:t>
            </a:r>
          </a:p>
          <a:p>
            <a:pPr algn="l"/>
            <a:r>
              <a:rPr lang="en-US" altLang="en-US"/>
              <a:t>ray=new ArrayList&lt;Integer&gt;();</a:t>
            </a:r>
          </a:p>
          <a:p>
            <a:pPr algn="l"/>
            <a:r>
              <a:rPr lang="en-US" altLang="en-US"/>
              <a:t>ray.add(21);</a:t>
            </a:r>
          </a:p>
          <a:p>
            <a:pPr algn="l"/>
            <a:r>
              <a:rPr lang="en-US" altLang="en-US"/>
              <a:t>ray.add(2);</a:t>
            </a:r>
          </a:p>
          <a:p>
            <a:pPr algn="l"/>
            <a:r>
              <a:rPr lang="en-US" altLang="en-US"/>
              <a:t>ray.add(13);</a:t>
            </a:r>
          </a:p>
          <a:p>
            <a:pPr algn="l"/>
            <a:r>
              <a:rPr lang="en-US" altLang="en-US"/>
              <a:t>ray.add(-1);</a:t>
            </a:r>
          </a:p>
          <a:p>
            <a:pPr algn="l"/>
            <a:r>
              <a:rPr lang="en-US" altLang="en-US"/>
              <a:t>ray.add(3);</a:t>
            </a:r>
          </a:p>
          <a:p>
            <a:pPr algn="l"/>
            <a:r>
              <a:rPr lang="en-US" altLang="en-US"/>
              <a:t>Collections.sort(ray);</a:t>
            </a:r>
          </a:p>
          <a:p>
            <a:pPr algn="l"/>
            <a:endParaRPr lang="en-US" altLang="en-US"/>
          </a:p>
          <a:p>
            <a:pPr algn="l"/>
            <a:r>
              <a:rPr lang="en-US" altLang="en-US"/>
              <a:t>for(int  num  :  ray )</a:t>
            </a:r>
          </a:p>
          <a:p>
            <a:pPr algn="l"/>
            <a:r>
              <a:rPr lang="en-US" altLang="en-US"/>
              <a:t>   out.println(num);</a:t>
            </a:r>
          </a:p>
        </p:txBody>
      </p:sp>
      <p:sp>
        <p:nvSpPr>
          <p:cNvPr id="31747" name="Text Box 4">
            <a:extLst>
              <a:ext uri="{FF2B5EF4-FFF2-40B4-BE49-F238E27FC236}">
                <a16:creationId xmlns:a16="http://schemas.microsoft.com/office/drawing/2014/main" id="{F8D9407E-64C0-6A8F-C09A-5C4934419516}"/>
              </a:ext>
            </a:extLst>
          </p:cNvPr>
          <p:cNvSpPr txBox="1">
            <a:spLocks noChangeArrowheads="1"/>
          </p:cNvSpPr>
          <p:nvPr/>
        </p:nvSpPr>
        <p:spPr bwMode="auto">
          <a:xfrm>
            <a:off x="7010400" y="2286000"/>
            <a:ext cx="1905000" cy="3028950"/>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spcBef>
                <a:spcPct val="50000"/>
              </a:spcBef>
            </a:pPr>
            <a:r>
              <a:rPr lang="en-US" altLang="en-US" sz="3200" u="sng">
                <a:solidFill>
                  <a:srgbClr val="FF0000"/>
                </a:solidFill>
              </a:rPr>
              <a:t>OUTPUT</a:t>
            </a:r>
            <a:r>
              <a:rPr lang="en-US" altLang="en-US" sz="3200"/>
              <a:t>-1</a:t>
            </a:r>
            <a:br>
              <a:rPr lang="en-US" altLang="en-US" sz="3200"/>
            </a:br>
            <a:r>
              <a:rPr lang="en-US" altLang="en-US" sz="3200"/>
              <a:t>2</a:t>
            </a:r>
            <a:br>
              <a:rPr lang="en-US" altLang="en-US" sz="3200"/>
            </a:br>
            <a:r>
              <a:rPr lang="en-US" altLang="en-US" sz="3200"/>
              <a:t>3</a:t>
            </a:r>
            <a:br>
              <a:rPr lang="en-US" altLang="en-US" sz="3200"/>
            </a:br>
            <a:r>
              <a:rPr lang="en-US" altLang="en-US" sz="3200"/>
              <a:t>13</a:t>
            </a:r>
            <a:br>
              <a:rPr lang="en-US" altLang="en-US" sz="3200"/>
            </a:br>
            <a:r>
              <a:rPr lang="en-US" altLang="en-US" sz="3200"/>
              <a:t>21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WordArt 2">
            <a:extLst>
              <a:ext uri="{FF2B5EF4-FFF2-40B4-BE49-F238E27FC236}">
                <a16:creationId xmlns:a16="http://schemas.microsoft.com/office/drawing/2014/main" id="{2D4153D4-064C-E572-9DFC-3EE5E2BA264B}"/>
              </a:ext>
            </a:extLst>
          </p:cNvPr>
          <p:cNvSpPr>
            <a:spLocks noChangeArrowheads="1" noChangeShapeType="1" noTextEdit="1"/>
          </p:cNvSpPr>
          <p:nvPr/>
        </p:nvSpPr>
        <p:spPr bwMode="auto">
          <a:xfrm>
            <a:off x="228600" y="1524000"/>
            <a:ext cx="8686800" cy="3505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CollectionsFun.java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Search.java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WordArt 1026">
            <a:extLst>
              <a:ext uri="{FF2B5EF4-FFF2-40B4-BE49-F238E27FC236}">
                <a16:creationId xmlns:a16="http://schemas.microsoft.com/office/drawing/2014/main" id="{BA41B4C1-3C88-FE00-4B2B-3DDD2E019DA9}"/>
              </a:ext>
            </a:extLst>
          </p:cNvPr>
          <p:cNvSpPr>
            <a:spLocks noChangeArrowheads="1" noChangeShapeType="1" noTextEdit="1"/>
          </p:cNvSpPr>
          <p:nvPr/>
        </p:nvSpPr>
        <p:spPr bwMode="auto">
          <a:xfrm>
            <a:off x="1371600" y="2286000"/>
            <a:ext cx="6096000" cy="1828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Searching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ext Box 2">
            <a:extLst>
              <a:ext uri="{FF2B5EF4-FFF2-40B4-BE49-F238E27FC236}">
                <a16:creationId xmlns:a16="http://schemas.microsoft.com/office/drawing/2014/main" id="{DC1CA8FF-082F-7FF6-7AA6-F26685473FCD}"/>
              </a:ext>
            </a:extLst>
          </p:cNvPr>
          <p:cNvSpPr txBox="1">
            <a:spLocks noChangeArrowheads="1"/>
          </p:cNvSpPr>
          <p:nvPr/>
        </p:nvSpPr>
        <p:spPr bwMode="auto">
          <a:xfrm>
            <a:off x="728663" y="1066800"/>
            <a:ext cx="7600950"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2400" b="0">
              <a:latin typeface="Courier New" panose="02070309020205020404" pitchFamily="49" charset="0"/>
            </a:endParaRPr>
          </a:p>
          <a:p>
            <a:endParaRPr lang="en-US" altLang="en-US" sz="2400">
              <a:latin typeface="Arial" panose="020B0604020202020204" pitchFamily="34" charset="0"/>
            </a:endParaRPr>
          </a:p>
          <a:p>
            <a:endParaRPr lang="en-US" altLang="en-US" sz="3200" b="0"/>
          </a:p>
          <a:p>
            <a:endParaRPr lang="en-US" altLang="en-US" sz="3200">
              <a:solidFill>
                <a:srgbClr val="000099"/>
              </a:solidFill>
            </a:endParaRPr>
          </a:p>
          <a:p>
            <a:r>
              <a:rPr lang="en-US" altLang="en-US">
                <a:latin typeface="Arial" panose="020B0604020202020204" pitchFamily="34" charset="0"/>
              </a:rPr>
              <a:t>The Linear Search searches through a </a:t>
            </a:r>
          </a:p>
          <a:p>
            <a:r>
              <a:rPr lang="en-US" altLang="en-US">
                <a:latin typeface="Arial" panose="020B0604020202020204" pitchFamily="34" charset="0"/>
              </a:rPr>
              <a:t>list one element at time looking for a match.</a:t>
            </a:r>
          </a:p>
          <a:p>
            <a:r>
              <a:rPr lang="en-US" altLang="en-US">
                <a:latin typeface="Arial" panose="020B0604020202020204" pitchFamily="34" charset="0"/>
              </a:rPr>
              <a:t>The index position of a match is returned if</a:t>
            </a:r>
          </a:p>
          <a:p>
            <a:r>
              <a:rPr lang="en-US" altLang="en-US">
                <a:latin typeface="Arial" panose="020B0604020202020204" pitchFamily="34" charset="0"/>
              </a:rPr>
              <a:t>found or -1 is returned if no match is found.</a:t>
            </a:r>
            <a:endParaRPr lang="en-US" altLang="en-US" sz="2400" b="0">
              <a:latin typeface="Arial" panose="020B0604020202020204" pitchFamily="34" charset="0"/>
            </a:endParaRPr>
          </a:p>
          <a:p>
            <a:endParaRPr lang="en-US" altLang="en-US" sz="2400" b="0">
              <a:latin typeface="Arial" panose="020B0604020202020204" pitchFamily="34" charset="0"/>
            </a:endParaRPr>
          </a:p>
        </p:txBody>
      </p:sp>
      <p:sp>
        <p:nvSpPr>
          <p:cNvPr id="37890" name="WordArt 3">
            <a:extLst>
              <a:ext uri="{FF2B5EF4-FFF2-40B4-BE49-F238E27FC236}">
                <a16:creationId xmlns:a16="http://schemas.microsoft.com/office/drawing/2014/main" id="{52260252-0A02-FAE6-F068-DA16448717A2}"/>
              </a:ext>
            </a:extLst>
          </p:cNvPr>
          <p:cNvSpPr>
            <a:spLocks noChangeArrowheads="1" noChangeShapeType="1" noTextEdit="1"/>
          </p:cNvSpPr>
          <p:nvPr/>
        </p:nvSpPr>
        <p:spPr bwMode="auto">
          <a:xfrm>
            <a:off x="1600200" y="914400"/>
            <a:ext cx="5867400" cy="9906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Linear / Sequential</a:t>
            </a:r>
          </a:p>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Search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026">
            <a:extLst>
              <a:ext uri="{FF2B5EF4-FFF2-40B4-BE49-F238E27FC236}">
                <a16:creationId xmlns:a16="http://schemas.microsoft.com/office/drawing/2014/main" id="{B67C8EB0-9CFF-53C9-2669-C710A438957F}"/>
              </a:ext>
            </a:extLst>
          </p:cNvPr>
          <p:cNvSpPr>
            <a:spLocks noChangeArrowheads="1"/>
          </p:cNvSpPr>
          <p:nvPr/>
        </p:nvSpPr>
        <p:spPr bwMode="auto">
          <a:xfrm>
            <a:off x="1143000" y="1676400"/>
            <a:ext cx="6932613"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t>int linearSearch(int[] stuff, int val)</a:t>
            </a:r>
          </a:p>
          <a:p>
            <a:pPr algn="l"/>
            <a:r>
              <a:rPr lang="en-US" altLang="en-US"/>
              <a:t>{</a:t>
            </a:r>
          </a:p>
          <a:p>
            <a:pPr algn="l"/>
            <a:r>
              <a:rPr lang="en-US" altLang="en-US"/>
              <a:t>   for(int i=0; i&lt; stuff.length; i++)</a:t>
            </a:r>
          </a:p>
          <a:p>
            <a:pPr algn="l"/>
            <a:r>
              <a:rPr lang="en-US" altLang="en-US"/>
              <a:t>   {</a:t>
            </a:r>
          </a:p>
          <a:p>
            <a:pPr algn="l"/>
            <a:r>
              <a:rPr lang="en-US" altLang="en-US"/>
              <a:t>      if (stuff[i] == val )</a:t>
            </a:r>
          </a:p>
          <a:p>
            <a:pPr algn="l"/>
            <a:r>
              <a:rPr lang="en-US" altLang="en-US"/>
              <a:t>         return i;</a:t>
            </a:r>
          </a:p>
          <a:p>
            <a:pPr algn="l"/>
            <a:r>
              <a:rPr lang="en-US" altLang="en-US"/>
              <a:t>   }</a:t>
            </a:r>
          </a:p>
          <a:p>
            <a:pPr algn="l"/>
            <a:r>
              <a:rPr lang="en-US" altLang="en-US"/>
              <a:t>   return -1;   </a:t>
            </a:r>
            <a:r>
              <a:rPr lang="en-US" altLang="en-US">
                <a:solidFill>
                  <a:srgbClr val="006600"/>
                </a:solidFill>
              </a:rPr>
              <a:t>//returns -1 if not found</a:t>
            </a:r>
          </a:p>
          <a:p>
            <a:pPr algn="l"/>
            <a:r>
              <a:rPr lang="en-US" altLang="en-US"/>
              <a:t>}	</a:t>
            </a:r>
          </a:p>
        </p:txBody>
      </p:sp>
      <p:sp>
        <p:nvSpPr>
          <p:cNvPr id="39938" name="WordArt 1028">
            <a:extLst>
              <a:ext uri="{FF2B5EF4-FFF2-40B4-BE49-F238E27FC236}">
                <a16:creationId xmlns:a16="http://schemas.microsoft.com/office/drawing/2014/main" id="{0D911FF7-986B-A9B5-9F98-9CA9D0D6C1F5}"/>
              </a:ext>
            </a:extLst>
          </p:cNvPr>
          <p:cNvSpPr>
            <a:spLocks noChangeArrowheads="1" noChangeShapeType="1" noTextEdit="1"/>
          </p:cNvSpPr>
          <p:nvPr/>
        </p:nvSpPr>
        <p:spPr bwMode="auto">
          <a:xfrm>
            <a:off x="1371600" y="457200"/>
            <a:ext cx="6400800" cy="685800"/>
          </a:xfrm>
          <a:prstGeom prst="rect">
            <a:avLst/>
          </a:prstGeom>
        </p:spPr>
        <p:txBody>
          <a:bodyPr wrap="none" fromWordArt="1">
            <a:prstTxWarp prst="textPlain">
              <a:avLst>
                <a:gd name="adj" fmla="val 50000"/>
              </a:avLst>
            </a:prstTxWarp>
          </a:bodyPr>
          <a:lstStyle/>
          <a:p>
            <a:r>
              <a:rPr lang="en-US" sz="3600" kern="10">
                <a:ln w="9525">
                  <a:solidFill>
                    <a:srgbClr val="FF6600"/>
                  </a:solidFill>
                  <a:round/>
                  <a:headEnd/>
                  <a:tailEnd/>
                </a:ln>
                <a:solidFill>
                  <a:srgbClr val="FFFF00"/>
                </a:solidFill>
                <a:effectLst>
                  <a:outerShdw dist="35921" dir="2700000" algn="ctr" rotWithShape="0">
                    <a:srgbClr val="C0C0C0">
                      <a:alpha val="74997"/>
                    </a:srgbClr>
                  </a:outerShdw>
                </a:effectLst>
                <a:latin typeface="Impact" panose="020B0806030902050204" pitchFamily="34" charset="0"/>
              </a:rPr>
              <a:t>Linear with Primitives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8D47FAF-A21B-385D-B51B-85D538470CAC}"/>
              </a:ext>
            </a:extLst>
          </p:cNvPr>
          <p:cNvSpPr>
            <a:spLocks noChangeArrowheads="1"/>
          </p:cNvSpPr>
          <p:nvPr/>
        </p:nvSpPr>
        <p:spPr bwMode="auto">
          <a:xfrm>
            <a:off x="609600" y="1447800"/>
            <a:ext cx="7974013"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t>int linearSearch(Comparable[] stuff, </a:t>
            </a:r>
          </a:p>
          <a:p>
            <a:pPr algn="l"/>
            <a:r>
              <a:rPr lang="en-US" altLang="en-US"/>
              <a:t>					Comparable item)</a:t>
            </a:r>
          </a:p>
          <a:p>
            <a:pPr algn="l"/>
            <a:r>
              <a:rPr lang="en-US" altLang="en-US"/>
              <a:t>{</a:t>
            </a:r>
          </a:p>
          <a:p>
            <a:pPr algn="l"/>
            <a:r>
              <a:rPr lang="en-US" altLang="en-US"/>
              <a:t>    for(int i=0; i&lt;stuff.length; i++)</a:t>
            </a:r>
          </a:p>
          <a:p>
            <a:pPr algn="l"/>
            <a:r>
              <a:rPr lang="en-US" altLang="en-US"/>
              <a:t>    {</a:t>
            </a:r>
          </a:p>
          <a:p>
            <a:pPr algn="l"/>
            <a:r>
              <a:rPr lang="en-US" altLang="en-US"/>
              <a:t>        if (stuff[i].</a:t>
            </a:r>
            <a:r>
              <a:rPr lang="en-US" altLang="en-US">
                <a:solidFill>
                  <a:srgbClr val="FF3300"/>
                </a:solidFill>
              </a:rPr>
              <a:t>compareTo</a:t>
            </a:r>
            <a:r>
              <a:rPr lang="en-US" altLang="en-US"/>
              <a:t>(item)==0)</a:t>
            </a:r>
          </a:p>
          <a:p>
            <a:pPr algn="l"/>
            <a:r>
              <a:rPr lang="en-US" altLang="en-US"/>
              <a:t>	   	return i;</a:t>
            </a:r>
          </a:p>
          <a:p>
            <a:pPr algn="l"/>
            <a:r>
              <a:rPr lang="en-US" altLang="en-US"/>
              <a:t>    }</a:t>
            </a:r>
          </a:p>
          <a:p>
            <a:pPr algn="l"/>
            <a:r>
              <a:rPr lang="en-US" altLang="en-US"/>
              <a:t>    return -1;   </a:t>
            </a:r>
            <a:r>
              <a:rPr lang="en-US" altLang="en-US">
                <a:solidFill>
                  <a:srgbClr val="006600"/>
                </a:solidFill>
              </a:rPr>
              <a:t>//returns -1 if not found</a:t>
            </a:r>
          </a:p>
          <a:p>
            <a:pPr algn="l"/>
            <a:r>
              <a:rPr lang="en-US" altLang="en-US"/>
              <a:t>}	</a:t>
            </a:r>
          </a:p>
        </p:txBody>
      </p:sp>
      <p:sp>
        <p:nvSpPr>
          <p:cNvPr id="41986" name="WordArt 4">
            <a:extLst>
              <a:ext uri="{FF2B5EF4-FFF2-40B4-BE49-F238E27FC236}">
                <a16:creationId xmlns:a16="http://schemas.microsoft.com/office/drawing/2014/main" id="{8DE290C0-3A91-C50E-6A84-1C085001EF84}"/>
              </a:ext>
            </a:extLst>
          </p:cNvPr>
          <p:cNvSpPr>
            <a:spLocks noChangeArrowheads="1" noChangeShapeType="1" noTextEdit="1"/>
          </p:cNvSpPr>
          <p:nvPr/>
        </p:nvSpPr>
        <p:spPr bwMode="auto">
          <a:xfrm>
            <a:off x="1371600" y="457200"/>
            <a:ext cx="6400800" cy="685800"/>
          </a:xfrm>
          <a:prstGeom prst="rect">
            <a:avLst/>
          </a:prstGeom>
        </p:spPr>
        <p:txBody>
          <a:bodyPr wrap="none" fromWordArt="1">
            <a:prstTxWarp prst="textPlain">
              <a:avLst>
                <a:gd name="adj" fmla="val 50000"/>
              </a:avLst>
            </a:prstTxWarp>
          </a:bodyPr>
          <a:lstStyle/>
          <a:p>
            <a:r>
              <a:rPr lang="en-US" sz="3600" kern="10">
                <a:ln w="9525">
                  <a:solidFill>
                    <a:srgbClr val="FF6600"/>
                  </a:solidFill>
                  <a:round/>
                  <a:headEnd/>
                  <a:tailEnd/>
                </a:ln>
                <a:solidFill>
                  <a:srgbClr val="FFFF00"/>
                </a:solidFill>
                <a:effectLst>
                  <a:outerShdw dist="35921" dir="2700000" algn="ctr" rotWithShape="0">
                    <a:srgbClr val="C0C0C0">
                      <a:alpha val="74997"/>
                    </a:srgbClr>
                  </a:outerShdw>
                </a:effectLst>
                <a:latin typeface="Impact" panose="020B0806030902050204" pitchFamily="34" charset="0"/>
              </a:rPr>
              <a:t>Linear with Objects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3">
            <a:extLst>
              <a:ext uri="{FF2B5EF4-FFF2-40B4-BE49-F238E27FC236}">
                <a16:creationId xmlns:a16="http://schemas.microsoft.com/office/drawing/2014/main" id="{822331F1-04C4-05E6-76F3-BEF90FA3B37A}"/>
              </a:ext>
            </a:extLst>
          </p:cNvPr>
          <p:cNvSpPr>
            <a:spLocks noGrp="1"/>
          </p:cNvSpPr>
          <p:nvPr>
            <p:ph type="ftr"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800">
              <a:latin typeface="Times New Roman" panose="02020603050405020304" pitchFamily="18" charset="0"/>
            </a:endParaRPr>
          </a:p>
          <a:p>
            <a:endParaRPr lang="en-US" altLang="en-US" sz="800" b="0"/>
          </a:p>
          <a:p>
            <a:endParaRPr lang="en-US" altLang="en-US" sz="800"/>
          </a:p>
          <a:p>
            <a:r>
              <a:rPr lang="en-US" altLang="en-US" sz="800"/>
              <a:t>© A+ Computer Science  -  www.apluscompsci.com</a:t>
            </a:r>
          </a:p>
        </p:txBody>
      </p:sp>
      <p:sp>
        <p:nvSpPr>
          <p:cNvPr id="44034" name="WordArt 2">
            <a:extLst>
              <a:ext uri="{FF2B5EF4-FFF2-40B4-BE49-F238E27FC236}">
                <a16:creationId xmlns:a16="http://schemas.microsoft.com/office/drawing/2014/main" id="{FA9227ED-74A5-4E91-AC45-E33969DDD20A}"/>
              </a:ext>
            </a:extLst>
          </p:cNvPr>
          <p:cNvSpPr>
            <a:spLocks noChangeArrowheads="1" noChangeShapeType="1" noTextEdit="1"/>
          </p:cNvSpPr>
          <p:nvPr/>
        </p:nvSpPr>
        <p:spPr bwMode="auto">
          <a:xfrm>
            <a:off x="228600" y="1524000"/>
            <a:ext cx="8686800" cy="3505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linearsearch.java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linearsearchtester.java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WordArt 2">
            <a:extLst>
              <a:ext uri="{FF2B5EF4-FFF2-40B4-BE49-F238E27FC236}">
                <a16:creationId xmlns:a16="http://schemas.microsoft.com/office/drawing/2014/main" id="{7492728A-11CE-D957-6631-68E94FC02671}"/>
              </a:ext>
            </a:extLst>
          </p:cNvPr>
          <p:cNvSpPr>
            <a:spLocks noChangeArrowheads="1" noChangeShapeType="1" noTextEdit="1"/>
          </p:cNvSpPr>
          <p:nvPr/>
        </p:nvSpPr>
        <p:spPr bwMode="auto">
          <a:xfrm>
            <a:off x="1371600" y="838200"/>
            <a:ext cx="6248400" cy="3581400"/>
          </a:xfrm>
          <a:prstGeom prst="rect">
            <a:avLst/>
          </a:prstGeom>
        </p:spPr>
        <p:txBody>
          <a:bodyPr wrap="none" fromWordArt="1">
            <a:prstTxWarp prst="textSlantUp">
              <a:avLst>
                <a:gd name="adj" fmla="val 32056"/>
              </a:avLst>
            </a:prstTxWarp>
          </a:bodyPr>
          <a:lstStyle/>
          <a:p>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4997"/>
                    </a:srgbClr>
                  </a:outerShdw>
                </a:effectLst>
                <a:latin typeface="Impact" panose="020B0806030902050204" pitchFamily="34" charset="0"/>
              </a:rPr>
              <a:t>Binary Search</a:t>
            </a:r>
          </a:p>
        </p:txBody>
      </p:sp>
      <p:sp>
        <p:nvSpPr>
          <p:cNvPr id="46082" name="Text Box 3">
            <a:extLst>
              <a:ext uri="{FF2B5EF4-FFF2-40B4-BE49-F238E27FC236}">
                <a16:creationId xmlns:a16="http://schemas.microsoft.com/office/drawing/2014/main" id="{5872F3DB-5EA3-73AF-79E0-CBD346F404AA}"/>
              </a:ext>
            </a:extLst>
          </p:cNvPr>
          <p:cNvSpPr txBox="1">
            <a:spLocks noChangeArrowheads="1"/>
          </p:cNvSpPr>
          <p:nvPr/>
        </p:nvSpPr>
        <p:spPr bwMode="auto">
          <a:xfrm>
            <a:off x="4572000" y="4572000"/>
            <a:ext cx="2771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3200"/>
              <a:t>0100100101</a:t>
            </a:r>
          </a:p>
        </p:txBody>
      </p:sp>
      <p:sp>
        <p:nvSpPr>
          <p:cNvPr id="46083" name="Text Box 4">
            <a:extLst>
              <a:ext uri="{FF2B5EF4-FFF2-40B4-BE49-F238E27FC236}">
                <a16:creationId xmlns:a16="http://schemas.microsoft.com/office/drawing/2014/main" id="{0F980EA7-3BF3-6B17-1D25-10F5270CCE69}"/>
              </a:ext>
            </a:extLst>
          </p:cNvPr>
          <p:cNvSpPr txBox="1">
            <a:spLocks noChangeArrowheads="1"/>
          </p:cNvSpPr>
          <p:nvPr/>
        </p:nvSpPr>
        <p:spPr bwMode="auto">
          <a:xfrm>
            <a:off x="1295400" y="609600"/>
            <a:ext cx="9366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3200"/>
              <a:t>1/2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ext Box 2">
            <a:extLst>
              <a:ext uri="{FF2B5EF4-FFF2-40B4-BE49-F238E27FC236}">
                <a16:creationId xmlns:a16="http://schemas.microsoft.com/office/drawing/2014/main" id="{F77216A3-E2ED-9559-310C-79547AA6E993}"/>
              </a:ext>
            </a:extLst>
          </p:cNvPr>
          <p:cNvSpPr txBox="1">
            <a:spLocks noChangeArrowheads="1"/>
          </p:cNvSpPr>
          <p:nvPr/>
        </p:nvSpPr>
        <p:spPr bwMode="auto">
          <a:xfrm>
            <a:off x="1066800" y="1219200"/>
            <a:ext cx="6935788" cy="399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2400">
              <a:latin typeface="Arial" panose="020B0604020202020204" pitchFamily="34" charset="0"/>
            </a:endParaRPr>
          </a:p>
          <a:p>
            <a:endParaRPr lang="en-US" altLang="en-US" sz="3200"/>
          </a:p>
          <a:p>
            <a:endParaRPr lang="en-US" altLang="en-US" sz="3200">
              <a:solidFill>
                <a:schemeClr val="accent2"/>
              </a:solidFill>
            </a:endParaRPr>
          </a:p>
          <a:p>
            <a:r>
              <a:rPr lang="en-US" altLang="en-US"/>
              <a:t>The Binary Search works best with</a:t>
            </a:r>
          </a:p>
          <a:p>
            <a:r>
              <a:rPr lang="en-US" altLang="en-US"/>
              <a:t>sorted lists.  The Binary search cuts</a:t>
            </a:r>
          </a:p>
          <a:p>
            <a:r>
              <a:rPr lang="en-US" altLang="en-US"/>
              <a:t>the list in half each time it checks for</a:t>
            </a:r>
          </a:p>
          <a:p>
            <a:r>
              <a:rPr lang="en-US" altLang="en-US"/>
              <a:t>for the specified value.  If the value is</a:t>
            </a:r>
          </a:p>
          <a:p>
            <a:r>
              <a:rPr lang="en-US" altLang="en-US"/>
              <a:t>not found, the search continue in the</a:t>
            </a:r>
          </a:p>
          <a:p>
            <a:r>
              <a:rPr lang="en-US" altLang="en-US"/>
              <a:t>half most likely to contain the value.</a:t>
            </a:r>
            <a:endParaRPr lang="en-US" altLang="en-US" sz="2400" b="0">
              <a:latin typeface="Arial" panose="020B0604020202020204" pitchFamily="34" charset="0"/>
            </a:endParaRPr>
          </a:p>
        </p:txBody>
      </p:sp>
      <p:sp>
        <p:nvSpPr>
          <p:cNvPr id="48130" name="WordArt 3">
            <a:extLst>
              <a:ext uri="{FF2B5EF4-FFF2-40B4-BE49-F238E27FC236}">
                <a16:creationId xmlns:a16="http://schemas.microsoft.com/office/drawing/2014/main" id="{4E2940E6-006F-2B1A-33C4-076A47BEA48A}"/>
              </a:ext>
            </a:extLst>
          </p:cNvPr>
          <p:cNvSpPr>
            <a:spLocks noChangeArrowheads="1" noChangeShapeType="1" noTextEdit="1"/>
          </p:cNvSpPr>
          <p:nvPr/>
        </p:nvSpPr>
        <p:spPr bwMode="auto">
          <a:xfrm>
            <a:off x="1752600" y="914400"/>
            <a:ext cx="5867400" cy="6858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BinarySearch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2">
            <a:extLst>
              <a:ext uri="{FF2B5EF4-FFF2-40B4-BE49-F238E27FC236}">
                <a16:creationId xmlns:a16="http://schemas.microsoft.com/office/drawing/2014/main" id="{F70712F9-728C-3C42-4A95-43CF46BDC22C}"/>
              </a:ext>
            </a:extLst>
          </p:cNvPr>
          <p:cNvSpPr txBox="1">
            <a:spLocks noChangeArrowheads="1"/>
          </p:cNvSpPr>
          <p:nvPr/>
        </p:nvSpPr>
        <p:spPr bwMode="auto">
          <a:xfrm>
            <a:off x="574675" y="236538"/>
            <a:ext cx="7467600" cy="604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2600"/>
              <a:t>int binarySearch (int [] stuff, int val )</a:t>
            </a:r>
          </a:p>
          <a:p>
            <a:pPr algn="l"/>
            <a:r>
              <a:rPr lang="en-US" altLang="en-US" sz="2600"/>
              <a:t>{</a:t>
            </a:r>
          </a:p>
          <a:p>
            <a:pPr algn="l"/>
            <a:r>
              <a:rPr lang="en-US" altLang="en-US" sz="2600"/>
              <a:t>   int bot= 0, top = stuff.length-1;</a:t>
            </a:r>
          </a:p>
          <a:p>
            <a:pPr algn="l"/>
            <a:r>
              <a:rPr lang="en-US" altLang="en-US" sz="2600"/>
              <a:t>   while(bot&lt;=top)  </a:t>
            </a:r>
          </a:p>
          <a:p>
            <a:pPr algn="l"/>
            <a:r>
              <a:rPr lang="en-US" altLang="en-US" sz="2600"/>
              <a:t>   {</a:t>
            </a:r>
          </a:p>
          <a:p>
            <a:pPr algn="l"/>
            <a:r>
              <a:rPr lang="en-US" altLang="en-US" sz="2600"/>
              <a:t>      int middle = (bot + top) / 2;</a:t>
            </a:r>
          </a:p>
          <a:p>
            <a:pPr algn="l"/>
            <a:r>
              <a:rPr lang="en-US" altLang="en-US" sz="2600"/>
              <a:t>      if (stuff[middle] == val)  return middle;</a:t>
            </a:r>
          </a:p>
          <a:p>
            <a:pPr algn="l"/>
            <a:r>
              <a:rPr lang="en-US" altLang="en-US" sz="2600"/>
              <a:t>      else</a:t>
            </a:r>
          </a:p>
          <a:p>
            <a:pPr algn="l"/>
            <a:r>
              <a:rPr lang="en-US" altLang="en-US" sz="2600"/>
              <a:t>         if (stuff[middle] &gt; val)</a:t>
            </a:r>
          </a:p>
          <a:p>
            <a:pPr algn="l"/>
            <a:r>
              <a:rPr lang="en-US" altLang="en-US" sz="2600"/>
              <a:t>            top = middle-1;</a:t>
            </a:r>
          </a:p>
          <a:p>
            <a:pPr algn="l"/>
            <a:r>
              <a:rPr lang="en-US" altLang="en-US" sz="2600"/>
              <a:t>         else</a:t>
            </a:r>
          </a:p>
          <a:p>
            <a:pPr algn="l"/>
            <a:r>
              <a:rPr lang="en-US" altLang="en-US" sz="2600"/>
              <a:t>            bot = middle+1;</a:t>
            </a:r>
          </a:p>
          <a:p>
            <a:pPr algn="l"/>
            <a:r>
              <a:rPr lang="en-US" altLang="en-US" sz="2600"/>
              <a:t>   }</a:t>
            </a:r>
          </a:p>
          <a:p>
            <a:pPr algn="l"/>
            <a:r>
              <a:rPr lang="en-US" altLang="en-US" sz="2600"/>
              <a:t>   return -1;</a:t>
            </a:r>
          </a:p>
          <a:p>
            <a:pPr algn="l"/>
            <a:r>
              <a:rPr lang="en-US" altLang="en-US" sz="2600"/>
              <a:t>}</a:t>
            </a:r>
          </a:p>
        </p:txBody>
      </p:sp>
      <p:sp>
        <p:nvSpPr>
          <p:cNvPr id="50178" name="WordArt 3">
            <a:extLst>
              <a:ext uri="{FF2B5EF4-FFF2-40B4-BE49-F238E27FC236}">
                <a16:creationId xmlns:a16="http://schemas.microsoft.com/office/drawing/2014/main" id="{8D5E6322-55EC-4096-7DB5-BE27D988CEF3}"/>
              </a:ext>
            </a:extLst>
          </p:cNvPr>
          <p:cNvSpPr>
            <a:spLocks noChangeArrowheads="1" noChangeShapeType="1" noTextEdit="1"/>
          </p:cNvSpPr>
          <p:nvPr/>
        </p:nvSpPr>
        <p:spPr bwMode="auto">
          <a:xfrm>
            <a:off x="4572000" y="5181600"/>
            <a:ext cx="4038600" cy="9906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BinarySearch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ext Box 2">
            <a:extLst>
              <a:ext uri="{FF2B5EF4-FFF2-40B4-BE49-F238E27FC236}">
                <a16:creationId xmlns:a16="http://schemas.microsoft.com/office/drawing/2014/main" id="{4029A75E-08A3-C3D7-FA41-339355C4E6C8}"/>
              </a:ext>
            </a:extLst>
          </p:cNvPr>
          <p:cNvSpPr txBox="1">
            <a:spLocks noChangeArrowheads="1"/>
          </p:cNvSpPr>
          <p:nvPr/>
        </p:nvSpPr>
        <p:spPr bwMode="auto">
          <a:xfrm>
            <a:off x="304800" y="685800"/>
            <a:ext cx="8610600"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2600"/>
              <a:t>public static int binarySearch (int [] s, int v, </a:t>
            </a:r>
          </a:p>
          <a:p>
            <a:pPr algn="l"/>
            <a:r>
              <a:rPr lang="en-US" altLang="en-US" sz="2600"/>
              <a:t>                                                                  int b, int t )</a:t>
            </a:r>
          </a:p>
          <a:p>
            <a:pPr algn="l"/>
            <a:r>
              <a:rPr lang="en-US" altLang="en-US" sz="2600"/>
              <a:t>{</a:t>
            </a:r>
          </a:p>
          <a:p>
            <a:pPr algn="l"/>
            <a:r>
              <a:rPr lang="en-US" altLang="en-US" sz="2600"/>
              <a:t>   if(b&lt;=t)</a:t>
            </a:r>
          </a:p>
          <a:p>
            <a:pPr algn="l"/>
            <a:r>
              <a:rPr lang="en-US" altLang="en-US" sz="2600"/>
              <a:t>   {</a:t>
            </a:r>
          </a:p>
          <a:p>
            <a:pPr algn="l"/>
            <a:r>
              <a:rPr lang="en-US" altLang="en-US" sz="2600"/>
              <a:t>      int m = (b + t) / 2;</a:t>
            </a:r>
          </a:p>
          <a:p>
            <a:pPr algn="l"/>
            <a:r>
              <a:rPr lang="en-US" altLang="en-US" sz="2600"/>
              <a:t>      if (s[m] == v)</a:t>
            </a:r>
          </a:p>
          <a:p>
            <a:pPr algn="l"/>
            <a:r>
              <a:rPr lang="en-US" altLang="en-US" sz="2600"/>
              <a:t>          return m;</a:t>
            </a:r>
          </a:p>
          <a:p>
            <a:pPr algn="l"/>
            <a:r>
              <a:rPr lang="en-US" altLang="en-US" sz="2600"/>
              <a:t>      if (s[m] &gt; v)</a:t>
            </a:r>
          </a:p>
          <a:p>
            <a:pPr algn="l"/>
            <a:r>
              <a:rPr lang="en-US" altLang="en-US" sz="2600"/>
              <a:t>            return binarySearch(s, v, b, m-1);</a:t>
            </a:r>
          </a:p>
          <a:p>
            <a:pPr algn="l"/>
            <a:r>
              <a:rPr lang="en-US" altLang="en-US" sz="2600"/>
              <a:t>      return binarySearch(s, v, m+1, t);</a:t>
            </a:r>
          </a:p>
          <a:p>
            <a:pPr algn="l"/>
            <a:r>
              <a:rPr lang="en-US" altLang="en-US" sz="2600"/>
              <a:t>   }</a:t>
            </a:r>
          </a:p>
          <a:p>
            <a:pPr algn="l"/>
            <a:r>
              <a:rPr lang="en-US" altLang="en-US" sz="2600"/>
              <a:t>   return -1;</a:t>
            </a:r>
          </a:p>
          <a:p>
            <a:pPr algn="l"/>
            <a:r>
              <a:rPr lang="en-US" altLang="en-US" sz="2600"/>
              <a:t>}</a:t>
            </a:r>
          </a:p>
        </p:txBody>
      </p:sp>
      <p:sp>
        <p:nvSpPr>
          <p:cNvPr id="52226" name="WordArt 3">
            <a:extLst>
              <a:ext uri="{FF2B5EF4-FFF2-40B4-BE49-F238E27FC236}">
                <a16:creationId xmlns:a16="http://schemas.microsoft.com/office/drawing/2014/main" id="{88D145FB-79FE-166A-2B8A-E15F26267D7A}"/>
              </a:ext>
            </a:extLst>
          </p:cNvPr>
          <p:cNvSpPr>
            <a:spLocks noChangeArrowheads="1" noChangeShapeType="1" noTextEdit="1"/>
          </p:cNvSpPr>
          <p:nvPr/>
        </p:nvSpPr>
        <p:spPr bwMode="auto">
          <a:xfrm>
            <a:off x="4648200" y="2286000"/>
            <a:ext cx="4114800" cy="9144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BinarySearch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9852616-9F66-FEF5-29D1-FC2B30053F26}"/>
              </a:ext>
            </a:extLst>
          </p:cNvPr>
          <p:cNvSpPr>
            <a:spLocks noChangeArrowheads="1"/>
          </p:cNvSpPr>
          <p:nvPr/>
        </p:nvSpPr>
        <p:spPr bwMode="auto">
          <a:xfrm>
            <a:off x="685800" y="838200"/>
            <a:ext cx="6242050" cy="534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2600"/>
              <a:t>int[] stuff = {1,6,8,10,14,22,30,50};</a:t>
            </a:r>
          </a:p>
          <a:p>
            <a:pPr algn="l"/>
            <a:endParaRPr lang="en-US" altLang="en-US" sz="2600"/>
          </a:p>
          <a:p>
            <a:pPr algn="l"/>
            <a:r>
              <a:rPr lang="en-US" altLang="en-US" sz="2600"/>
              <a:t>0 + 7 = 7 / 2 = 3</a:t>
            </a:r>
          </a:p>
          <a:p>
            <a:pPr algn="l"/>
            <a:r>
              <a:rPr lang="en-US" altLang="en-US" sz="2600"/>
              <a:t>stuff[3] = 10</a:t>
            </a:r>
          </a:p>
          <a:p>
            <a:pPr algn="l"/>
            <a:endParaRPr lang="en-US" altLang="en-US" sz="2600"/>
          </a:p>
          <a:p>
            <a:pPr algn="l"/>
            <a:r>
              <a:rPr lang="en-US" altLang="en-US" sz="2600"/>
              <a:t>4 + 7 = 11 div 2 = 5</a:t>
            </a:r>
          </a:p>
          <a:p>
            <a:pPr algn="l"/>
            <a:r>
              <a:rPr lang="en-US" altLang="en-US" sz="2600"/>
              <a:t>stuff[5] = 22</a:t>
            </a:r>
          </a:p>
          <a:p>
            <a:pPr algn="l"/>
            <a:endParaRPr lang="en-US" altLang="en-US" sz="2600"/>
          </a:p>
          <a:p>
            <a:pPr algn="l"/>
            <a:r>
              <a:rPr lang="en-US" altLang="en-US" sz="2600"/>
              <a:t>6 + 7 = 13 div 2 = 6</a:t>
            </a:r>
          </a:p>
          <a:p>
            <a:pPr algn="l"/>
            <a:r>
              <a:rPr lang="en-US" altLang="en-US" sz="2600"/>
              <a:t>stuff[6] = 30</a:t>
            </a:r>
          </a:p>
          <a:p>
            <a:pPr algn="l"/>
            <a:endParaRPr lang="en-US" altLang="en-US" sz="2600"/>
          </a:p>
          <a:p>
            <a:pPr algn="l"/>
            <a:endParaRPr lang="en-US" altLang="en-US" sz="2600"/>
          </a:p>
          <a:p>
            <a:pPr algn="l"/>
            <a:endParaRPr lang="en-US" altLang="en-US" sz="3200"/>
          </a:p>
        </p:txBody>
      </p:sp>
      <p:sp>
        <p:nvSpPr>
          <p:cNvPr id="54274" name="Text Box 3">
            <a:extLst>
              <a:ext uri="{FF2B5EF4-FFF2-40B4-BE49-F238E27FC236}">
                <a16:creationId xmlns:a16="http://schemas.microsoft.com/office/drawing/2014/main" id="{A9C6CC55-4D10-6628-56B5-A313870B6E30}"/>
              </a:ext>
            </a:extLst>
          </p:cNvPr>
          <p:cNvSpPr txBox="1">
            <a:spLocks noChangeArrowheads="1"/>
          </p:cNvSpPr>
          <p:nvPr/>
        </p:nvSpPr>
        <p:spPr bwMode="auto">
          <a:xfrm>
            <a:off x="4876800" y="1676400"/>
            <a:ext cx="3429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spcBef>
                <a:spcPct val="50000"/>
              </a:spcBef>
            </a:pPr>
            <a:endParaRPr lang="en-US" altLang="en-US" b="0"/>
          </a:p>
        </p:txBody>
      </p:sp>
      <p:sp>
        <p:nvSpPr>
          <p:cNvPr id="54275" name="Rectangle 5">
            <a:extLst>
              <a:ext uri="{FF2B5EF4-FFF2-40B4-BE49-F238E27FC236}">
                <a16:creationId xmlns:a16="http://schemas.microsoft.com/office/drawing/2014/main" id="{B38DBB7B-DA3F-AF78-7846-D2DB70D159A7}"/>
              </a:ext>
            </a:extLst>
          </p:cNvPr>
          <p:cNvSpPr>
            <a:spLocks noChangeArrowheads="1"/>
          </p:cNvSpPr>
          <p:nvPr/>
        </p:nvSpPr>
        <p:spPr bwMode="auto">
          <a:xfrm>
            <a:off x="4267200" y="4800600"/>
            <a:ext cx="45720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spcBef>
                <a:spcPct val="50000"/>
              </a:spcBef>
            </a:pPr>
            <a:r>
              <a:rPr lang="en-US" altLang="en-US">
                <a:solidFill>
                  <a:schemeClr val="accent2"/>
                </a:solidFill>
              </a:rPr>
              <a:t>If you are searching for 25, how many times will you check the stuff?</a:t>
            </a:r>
          </a:p>
        </p:txBody>
      </p:sp>
      <p:sp>
        <p:nvSpPr>
          <p:cNvPr id="54276" name="WordArt 6">
            <a:extLst>
              <a:ext uri="{FF2B5EF4-FFF2-40B4-BE49-F238E27FC236}">
                <a16:creationId xmlns:a16="http://schemas.microsoft.com/office/drawing/2014/main" id="{3DB4CB3C-F69A-C491-B64B-884D7728B7C3}"/>
              </a:ext>
            </a:extLst>
          </p:cNvPr>
          <p:cNvSpPr>
            <a:spLocks noChangeArrowheads="1" noChangeShapeType="1" noTextEdit="1"/>
          </p:cNvSpPr>
          <p:nvPr/>
        </p:nvSpPr>
        <p:spPr bwMode="auto">
          <a:xfrm>
            <a:off x="4495800" y="2743200"/>
            <a:ext cx="3810000" cy="5334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BinarySearch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1BEFD8FF-D655-30CE-37C9-E0515C9D91B9}"/>
              </a:ext>
            </a:extLst>
          </p:cNvPr>
          <p:cNvSpPr>
            <a:spLocks noChangeArrowheads="1"/>
          </p:cNvSpPr>
          <p:nvPr/>
        </p:nvSpPr>
        <p:spPr bwMode="auto">
          <a:xfrm>
            <a:off x="533400" y="74613"/>
            <a:ext cx="1841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endParaRPr lang="en-US" altLang="en-US" sz="2600"/>
          </a:p>
          <a:p>
            <a:pPr algn="l"/>
            <a:endParaRPr lang="en-US" altLang="en-US" sz="2600"/>
          </a:p>
          <a:p>
            <a:pPr algn="l"/>
            <a:endParaRPr lang="en-US" altLang="en-US" sz="3200"/>
          </a:p>
        </p:txBody>
      </p:sp>
      <p:sp>
        <p:nvSpPr>
          <p:cNvPr id="56322" name="Text Box 3">
            <a:extLst>
              <a:ext uri="{FF2B5EF4-FFF2-40B4-BE49-F238E27FC236}">
                <a16:creationId xmlns:a16="http://schemas.microsoft.com/office/drawing/2014/main" id="{2A4A0A1D-202A-3A60-B340-257CCC1CC546}"/>
              </a:ext>
            </a:extLst>
          </p:cNvPr>
          <p:cNvSpPr txBox="1">
            <a:spLocks noChangeArrowheads="1"/>
          </p:cNvSpPr>
          <p:nvPr/>
        </p:nvSpPr>
        <p:spPr bwMode="auto">
          <a:xfrm>
            <a:off x="4876800" y="1676400"/>
            <a:ext cx="3429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spcBef>
                <a:spcPct val="50000"/>
              </a:spcBef>
            </a:pPr>
            <a:endParaRPr lang="en-US" altLang="en-US" b="0"/>
          </a:p>
        </p:txBody>
      </p:sp>
      <p:sp>
        <p:nvSpPr>
          <p:cNvPr id="56323" name="Text Box 4">
            <a:extLst>
              <a:ext uri="{FF2B5EF4-FFF2-40B4-BE49-F238E27FC236}">
                <a16:creationId xmlns:a16="http://schemas.microsoft.com/office/drawing/2014/main" id="{547D6BDE-22B5-290C-5F2A-F48B212DA0A8}"/>
              </a:ext>
            </a:extLst>
          </p:cNvPr>
          <p:cNvSpPr txBox="1">
            <a:spLocks noChangeArrowheads="1"/>
          </p:cNvSpPr>
          <p:nvPr/>
        </p:nvSpPr>
        <p:spPr bwMode="auto">
          <a:xfrm>
            <a:off x="685800" y="1524000"/>
            <a:ext cx="7620000" cy="457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spcBef>
                <a:spcPct val="50000"/>
              </a:spcBef>
            </a:pPr>
            <a:r>
              <a:rPr lang="en-US" altLang="en-US"/>
              <a:t>Given a list of N items.  </a:t>
            </a:r>
          </a:p>
          <a:p>
            <a:pPr algn="l">
              <a:spcBef>
                <a:spcPct val="50000"/>
              </a:spcBef>
            </a:pPr>
            <a:r>
              <a:rPr lang="en-US" altLang="en-US"/>
              <a:t>What is the next largest power of 2?</a:t>
            </a:r>
          </a:p>
          <a:p>
            <a:pPr algn="l">
              <a:spcBef>
                <a:spcPct val="50000"/>
              </a:spcBef>
            </a:pPr>
            <a:r>
              <a:rPr lang="en-US" altLang="en-US"/>
              <a:t>If N is 100, the next largest </a:t>
            </a:r>
            <a:br>
              <a:rPr lang="en-US" altLang="en-US"/>
            </a:br>
            <a:r>
              <a:rPr lang="en-US" altLang="en-US"/>
              <a:t>power of 2 is 7.</a:t>
            </a:r>
          </a:p>
          <a:p>
            <a:pPr algn="l">
              <a:spcBef>
                <a:spcPct val="50000"/>
              </a:spcBef>
            </a:pPr>
            <a:r>
              <a:rPr lang="en-US" altLang="en-US">
                <a:solidFill>
                  <a:srgbClr val="FF3300"/>
                </a:solidFill>
              </a:rPr>
              <a:t>Log</a:t>
            </a:r>
            <a:r>
              <a:rPr lang="en-US" altLang="en-US" baseline="-25000">
                <a:solidFill>
                  <a:srgbClr val="FF3300"/>
                </a:solidFill>
              </a:rPr>
              <a:t>2</a:t>
            </a:r>
            <a:r>
              <a:rPr lang="en-US" altLang="en-US">
                <a:solidFill>
                  <a:srgbClr val="FF3300"/>
                </a:solidFill>
              </a:rPr>
              <a:t>(100) = 6.64386</a:t>
            </a:r>
          </a:p>
          <a:p>
            <a:pPr algn="l">
              <a:spcBef>
                <a:spcPct val="50000"/>
              </a:spcBef>
            </a:pPr>
            <a:r>
              <a:rPr lang="en-US" altLang="en-US"/>
              <a:t>2</a:t>
            </a:r>
            <a:r>
              <a:rPr lang="en-US" altLang="en-US" baseline="30000"/>
              <a:t>7</a:t>
            </a:r>
            <a:r>
              <a:rPr lang="en-US" altLang="en-US"/>
              <a:t> = 128.  </a:t>
            </a:r>
          </a:p>
          <a:p>
            <a:pPr algn="l">
              <a:spcBef>
                <a:spcPct val="50000"/>
              </a:spcBef>
            </a:pPr>
            <a:r>
              <a:rPr lang="en-US" altLang="en-US"/>
              <a:t>It would take 7 checks max to find if an item existed in a list of 100 items.</a:t>
            </a:r>
            <a:r>
              <a:rPr lang="en-US" altLang="en-US">
                <a:solidFill>
                  <a:srgbClr val="FFFF00"/>
                </a:solidFill>
              </a:rPr>
              <a:t> </a:t>
            </a:r>
          </a:p>
        </p:txBody>
      </p:sp>
      <p:sp>
        <p:nvSpPr>
          <p:cNvPr id="56324" name="WordArt 5">
            <a:extLst>
              <a:ext uri="{FF2B5EF4-FFF2-40B4-BE49-F238E27FC236}">
                <a16:creationId xmlns:a16="http://schemas.microsoft.com/office/drawing/2014/main" id="{625172D2-87BE-369A-D8A3-6296817208C6}"/>
              </a:ext>
            </a:extLst>
          </p:cNvPr>
          <p:cNvSpPr>
            <a:spLocks noChangeArrowheads="1" noChangeShapeType="1" noTextEdit="1"/>
          </p:cNvSpPr>
          <p:nvPr/>
        </p:nvSpPr>
        <p:spPr bwMode="auto">
          <a:xfrm>
            <a:off x="838200" y="228600"/>
            <a:ext cx="6781800" cy="9906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Binary Search ShortCut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ext Box 2">
            <a:extLst>
              <a:ext uri="{FF2B5EF4-FFF2-40B4-BE49-F238E27FC236}">
                <a16:creationId xmlns:a16="http://schemas.microsoft.com/office/drawing/2014/main" id="{29E6B259-4A61-0696-4EBB-7258A9BB1A37}"/>
              </a:ext>
            </a:extLst>
          </p:cNvPr>
          <p:cNvSpPr txBox="1">
            <a:spLocks noChangeArrowheads="1"/>
          </p:cNvSpPr>
          <p:nvPr/>
        </p:nvSpPr>
        <p:spPr bwMode="auto">
          <a:xfrm>
            <a:off x="457200" y="1524000"/>
            <a:ext cx="8413750"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endParaRPr lang="en-US" altLang="en-US" b="0"/>
          </a:p>
          <a:p>
            <a:pPr algn="l"/>
            <a:endParaRPr lang="en-US" altLang="en-US" b="0"/>
          </a:p>
          <a:p>
            <a:pPr algn="l"/>
            <a:r>
              <a:rPr lang="en-US" altLang="en-US" b="0"/>
              <a:t>Name			Best Case	Avg. Case	Worst Case</a:t>
            </a:r>
          </a:p>
          <a:p>
            <a:pPr algn="l"/>
            <a:endParaRPr lang="en-US" altLang="en-US" sz="1600" u="sng"/>
          </a:p>
          <a:p>
            <a:pPr algn="l"/>
            <a:r>
              <a:rPr lang="en-US" altLang="en-US" sz="1800" b="0"/>
              <a:t>Linear/Sequential Search	   O(1) 	 	O(N) 		O(N)</a:t>
            </a:r>
            <a:r>
              <a:rPr lang="en-US" altLang="en-US" sz="1400" b="0"/>
              <a:t>		</a:t>
            </a:r>
          </a:p>
          <a:p>
            <a:pPr algn="l"/>
            <a:endParaRPr lang="en-US" altLang="en-US" sz="1800" b="0"/>
          </a:p>
          <a:p>
            <a:pPr algn="l"/>
            <a:r>
              <a:rPr lang="en-US" altLang="en-US" sz="1800" b="0"/>
              <a:t>Binary Search		   O(1)	 	O( log</a:t>
            </a:r>
            <a:r>
              <a:rPr lang="en-US" altLang="en-US" sz="1800" b="0" baseline="-25000"/>
              <a:t>2</a:t>
            </a:r>
            <a:r>
              <a:rPr lang="en-US" altLang="en-US" sz="1800" b="0"/>
              <a:t> N )	O( log</a:t>
            </a:r>
            <a:r>
              <a:rPr lang="en-US" altLang="en-US" sz="1800" b="0" baseline="-25000"/>
              <a:t>2</a:t>
            </a:r>
            <a:r>
              <a:rPr lang="en-US" altLang="en-US" sz="1800" b="0"/>
              <a:t> N ) </a:t>
            </a:r>
          </a:p>
          <a:p>
            <a:pPr algn="l"/>
            <a:endParaRPr lang="en-US" altLang="en-US" sz="1800" b="0"/>
          </a:p>
          <a:p>
            <a:pPr algn="l"/>
            <a:endParaRPr lang="en-US" altLang="en-US" sz="1800" b="0"/>
          </a:p>
          <a:p>
            <a:pPr algn="l"/>
            <a:r>
              <a:rPr lang="en-US" altLang="en-US" sz="1800" b="0"/>
              <a:t>All searches have a best case run time of O(1) if written properly.</a:t>
            </a:r>
          </a:p>
          <a:p>
            <a:pPr algn="l"/>
            <a:r>
              <a:rPr lang="en-US" altLang="en-US" sz="1800" b="0"/>
              <a:t>You have to look at the code to determine if the search has the </a:t>
            </a:r>
          </a:p>
          <a:p>
            <a:pPr algn="l"/>
            <a:r>
              <a:rPr lang="en-US" altLang="en-US" sz="1800" b="0"/>
              <a:t>ability to find the item and return immediately.  If this case is present,</a:t>
            </a:r>
          </a:p>
          <a:p>
            <a:pPr algn="l"/>
            <a:r>
              <a:rPr lang="en-US" altLang="en-US" sz="1800" b="0"/>
              <a:t>the algorithm can have a best case of O(1).</a:t>
            </a:r>
          </a:p>
          <a:p>
            <a:pPr algn="l"/>
            <a:endParaRPr lang="en-US" altLang="en-US" sz="1800" b="0"/>
          </a:p>
          <a:p>
            <a:pPr algn="l"/>
            <a:endParaRPr lang="en-US" altLang="en-US" sz="1800" b="0"/>
          </a:p>
        </p:txBody>
      </p:sp>
      <p:sp>
        <p:nvSpPr>
          <p:cNvPr id="58370" name="WordArt 3">
            <a:extLst>
              <a:ext uri="{FF2B5EF4-FFF2-40B4-BE49-F238E27FC236}">
                <a16:creationId xmlns:a16="http://schemas.microsoft.com/office/drawing/2014/main" id="{6FFC0EF1-C816-5712-2C62-E002C973376A}"/>
              </a:ext>
            </a:extLst>
          </p:cNvPr>
          <p:cNvSpPr>
            <a:spLocks noChangeArrowheads="1" noChangeShapeType="1" noTextEdit="1"/>
          </p:cNvSpPr>
          <p:nvPr/>
        </p:nvSpPr>
        <p:spPr bwMode="auto">
          <a:xfrm>
            <a:off x="533400" y="533400"/>
            <a:ext cx="8001000" cy="1295400"/>
          </a:xfrm>
          <a:prstGeom prst="rect">
            <a:avLst/>
          </a:prstGeom>
        </p:spPr>
        <p:txBody>
          <a:bodyPr wrap="none" fromWordArt="1">
            <a:prstTxWarp prst="textPlain">
              <a:avLst>
                <a:gd name="adj" fmla="val 50000"/>
              </a:avLst>
            </a:prstTxWarp>
          </a:bodyPr>
          <a:lstStyle/>
          <a:p>
            <a:r>
              <a:rPr lang="en-US" sz="3600" kern="10">
                <a:ln w="9525">
                  <a:solidFill>
                    <a:srgbClr val="FFFF99"/>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General Big O Chart</a:t>
            </a:r>
          </a:p>
          <a:p>
            <a:r>
              <a:rPr lang="en-US" sz="3600" kern="10">
                <a:ln w="9525">
                  <a:solidFill>
                    <a:srgbClr val="FFFF99"/>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for Searches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WordArt 2">
            <a:extLst>
              <a:ext uri="{FF2B5EF4-FFF2-40B4-BE49-F238E27FC236}">
                <a16:creationId xmlns:a16="http://schemas.microsoft.com/office/drawing/2014/main" id="{7CEB2A63-B6AB-5688-FDDB-56E78D346F43}"/>
              </a:ext>
            </a:extLst>
          </p:cNvPr>
          <p:cNvSpPr>
            <a:spLocks noChangeArrowheads="1" noChangeShapeType="1" noTextEdit="1"/>
          </p:cNvSpPr>
          <p:nvPr/>
        </p:nvSpPr>
        <p:spPr bwMode="auto">
          <a:xfrm>
            <a:off x="228600" y="1524000"/>
            <a:ext cx="8686800" cy="3505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binarysearch.java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binarysearchtester.java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WordArt 2">
            <a:extLst>
              <a:ext uri="{FF2B5EF4-FFF2-40B4-BE49-F238E27FC236}">
                <a16:creationId xmlns:a16="http://schemas.microsoft.com/office/drawing/2014/main" id="{8106E416-CFB2-0BC8-C7EA-C356C951CCD3}"/>
              </a:ext>
            </a:extLst>
          </p:cNvPr>
          <p:cNvSpPr>
            <a:spLocks noChangeArrowheads="1" noChangeShapeType="1" noTextEdit="1"/>
          </p:cNvSpPr>
          <p:nvPr/>
        </p:nvSpPr>
        <p:spPr bwMode="auto">
          <a:xfrm>
            <a:off x="1143000" y="2133600"/>
            <a:ext cx="6781800" cy="2590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Sorts</a:t>
            </a:r>
          </a:p>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Quadratic ( N2)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WordArt 2">
            <a:extLst>
              <a:ext uri="{FF2B5EF4-FFF2-40B4-BE49-F238E27FC236}">
                <a16:creationId xmlns:a16="http://schemas.microsoft.com/office/drawing/2014/main" id="{587771C7-CFC2-DF60-FD46-37D34703F35A}"/>
              </a:ext>
            </a:extLst>
          </p:cNvPr>
          <p:cNvSpPr>
            <a:spLocks noChangeArrowheads="1" noChangeShapeType="1" noTextEdit="1"/>
          </p:cNvSpPr>
          <p:nvPr/>
        </p:nvSpPr>
        <p:spPr bwMode="auto">
          <a:xfrm>
            <a:off x="914400" y="2438400"/>
            <a:ext cx="6553200" cy="2514600"/>
          </a:xfrm>
          <a:prstGeom prst="rect">
            <a:avLst/>
          </a:prstGeom>
        </p:spPr>
        <p:txBody>
          <a:bodyPr wrap="none" fromWordArt="1">
            <a:prstTxWarp prst="textPlain">
              <a:avLst>
                <a:gd name="adj" fmla="val 50000"/>
              </a:avLst>
            </a:prstTxWarp>
          </a:bodyPr>
          <a:lstStyle/>
          <a:p>
            <a:r>
              <a:rPr lang="en-US" sz="3600" kern="10">
                <a:ln w="9525">
                  <a:solidFill>
                    <a:srgbClr val="FF0000"/>
                  </a:solidFill>
                  <a:round/>
                  <a:headEnd/>
                  <a:tailEnd/>
                </a:ln>
                <a:solidFill>
                  <a:srgbClr val="0000FF"/>
                </a:solidFill>
                <a:effectLst>
                  <a:outerShdw dist="563972" dir="14049741" sx="125000" sy="125000" algn="tl" rotWithShape="0">
                    <a:srgbClr val="C7DFD3">
                      <a:alpha val="74997"/>
                    </a:srgbClr>
                  </a:outerShdw>
                </a:effectLst>
                <a:latin typeface="Times New Roman" panose="02020603050405020304" pitchFamily="18" charset="0"/>
                <a:cs typeface="Times New Roman" panose="02020603050405020304" pitchFamily="18" charset="0"/>
              </a:rPr>
              <a:t>The Bubble Sort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0-#ppt_w/2"/>
                                          </p:val>
                                        </p:tav>
                                        <p:tav tm="100000">
                                          <p:val>
                                            <p:strVal val="#ppt_x"/>
                                          </p:val>
                                        </p:tav>
                                      </p:tavLst>
                                    </p:anim>
                                    <p:anim calcmode="lin" valueType="num">
                                      <p:cBhvr additive="base">
                                        <p:cTn id="8" dur="500" fill="hold"/>
                                        <p:tgtEl>
                                          <p:spTgt spid="133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ext Box 2">
            <a:extLst>
              <a:ext uri="{FF2B5EF4-FFF2-40B4-BE49-F238E27FC236}">
                <a16:creationId xmlns:a16="http://schemas.microsoft.com/office/drawing/2014/main" id="{D436C465-6E9A-5475-E4B9-3B97892A8FF0}"/>
              </a:ext>
            </a:extLst>
          </p:cNvPr>
          <p:cNvSpPr txBox="1">
            <a:spLocks noChangeArrowheads="1"/>
          </p:cNvSpPr>
          <p:nvPr/>
        </p:nvSpPr>
        <p:spPr bwMode="auto">
          <a:xfrm>
            <a:off x="762000" y="1497013"/>
            <a:ext cx="6456363" cy="307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2400">
              <a:latin typeface="Arial" panose="020B0604020202020204" pitchFamily="34" charset="0"/>
            </a:endParaRPr>
          </a:p>
          <a:p>
            <a:endParaRPr lang="en-US" altLang="en-US" sz="3200"/>
          </a:p>
          <a:p>
            <a:endParaRPr lang="en-US" altLang="en-US" sz="3200">
              <a:solidFill>
                <a:schemeClr val="accent2"/>
              </a:solidFill>
            </a:endParaRPr>
          </a:p>
          <a:p>
            <a:r>
              <a:rPr lang="en-US" altLang="en-US">
                <a:latin typeface="Arial" panose="020B0604020202020204" pitchFamily="34" charset="0"/>
              </a:rPr>
              <a:t>Bubble sort compares items that  are</a:t>
            </a:r>
            <a:br>
              <a:rPr lang="en-US" altLang="en-US">
                <a:latin typeface="Arial" panose="020B0604020202020204" pitchFamily="34" charset="0"/>
              </a:rPr>
            </a:br>
            <a:r>
              <a:rPr lang="en-US" altLang="en-US">
                <a:latin typeface="Arial" panose="020B0604020202020204" pitchFamily="34" charset="0"/>
              </a:rPr>
              <a:t>adjacent and has to potential to </a:t>
            </a:r>
            <a:br>
              <a:rPr lang="en-US" altLang="en-US">
                <a:latin typeface="Arial" panose="020B0604020202020204" pitchFamily="34" charset="0"/>
              </a:rPr>
            </a:br>
            <a:r>
              <a:rPr lang="en-US" altLang="en-US">
                <a:latin typeface="Arial" panose="020B0604020202020204" pitchFamily="34" charset="0"/>
              </a:rPr>
              <a:t>swap a whole lot.</a:t>
            </a:r>
            <a:r>
              <a:rPr lang="en-US" altLang="en-US">
                <a:solidFill>
                  <a:srgbClr val="FFFF00"/>
                </a:solidFill>
                <a:latin typeface="Arial" panose="020B0604020202020204" pitchFamily="34" charset="0"/>
              </a:rPr>
              <a:t>   </a:t>
            </a:r>
            <a:endParaRPr lang="en-US" altLang="en-US" sz="2400" b="0">
              <a:solidFill>
                <a:srgbClr val="FFFF00"/>
              </a:solidFill>
              <a:latin typeface="Arial" panose="020B0604020202020204" pitchFamily="34" charset="0"/>
            </a:endParaRPr>
          </a:p>
          <a:p>
            <a:endParaRPr lang="en-US" altLang="en-US" sz="2400" b="0">
              <a:latin typeface="Arial" panose="020B0604020202020204" pitchFamily="34" charset="0"/>
            </a:endParaRPr>
          </a:p>
        </p:txBody>
      </p:sp>
      <p:sp>
        <p:nvSpPr>
          <p:cNvPr id="66562" name="WordArt 4">
            <a:extLst>
              <a:ext uri="{FF2B5EF4-FFF2-40B4-BE49-F238E27FC236}">
                <a16:creationId xmlns:a16="http://schemas.microsoft.com/office/drawing/2014/main" id="{0B1E3D14-7A5F-D5DB-82AF-8A278368ACD3}"/>
              </a:ext>
            </a:extLst>
          </p:cNvPr>
          <p:cNvSpPr>
            <a:spLocks noChangeArrowheads="1" noChangeShapeType="1" noTextEdit="1"/>
          </p:cNvSpPr>
          <p:nvPr/>
        </p:nvSpPr>
        <p:spPr bwMode="auto">
          <a:xfrm>
            <a:off x="1219200" y="1066800"/>
            <a:ext cx="5867400" cy="6858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Bubble Sort</a:t>
            </a:r>
          </a:p>
        </p:txBody>
      </p:sp>
      <p:sp>
        <p:nvSpPr>
          <p:cNvPr id="66563" name="Text Box 5">
            <a:extLst>
              <a:ext uri="{FF2B5EF4-FFF2-40B4-BE49-F238E27FC236}">
                <a16:creationId xmlns:a16="http://schemas.microsoft.com/office/drawing/2014/main" id="{5569CEB3-38B2-04CF-D35E-C6DDF9DE1977}"/>
              </a:ext>
            </a:extLst>
          </p:cNvPr>
          <p:cNvSpPr txBox="1">
            <a:spLocks noChangeArrowheads="1"/>
          </p:cNvSpPr>
          <p:nvPr/>
        </p:nvSpPr>
        <p:spPr bwMode="auto">
          <a:xfrm>
            <a:off x="6477000" y="4038600"/>
            <a:ext cx="1905000" cy="2292350"/>
          </a:xfrm>
          <a:prstGeom prst="rect">
            <a:avLst/>
          </a:prstGeom>
          <a:noFill/>
          <a:ln w="9525">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spcBef>
                <a:spcPct val="50000"/>
              </a:spcBef>
            </a:pPr>
            <a:r>
              <a:rPr lang="en-US" altLang="en-US" sz="2400">
                <a:solidFill>
                  <a:srgbClr val="CC0000"/>
                </a:solidFill>
              </a:rPr>
              <a:t>Bubble Sort is left in for historical purposes only!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ext Box 4">
            <a:extLst>
              <a:ext uri="{FF2B5EF4-FFF2-40B4-BE49-F238E27FC236}">
                <a16:creationId xmlns:a16="http://schemas.microsoft.com/office/drawing/2014/main" id="{55A1F998-2274-CF3D-911B-3E0AC24745FD}"/>
              </a:ext>
            </a:extLst>
          </p:cNvPr>
          <p:cNvSpPr txBox="1">
            <a:spLocks noChangeArrowheads="1"/>
          </p:cNvSpPr>
          <p:nvPr/>
        </p:nvSpPr>
        <p:spPr bwMode="auto">
          <a:xfrm>
            <a:off x="838200" y="1447800"/>
            <a:ext cx="7237413"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b="0"/>
              <a:t>void bubbleSort( </a:t>
            </a:r>
            <a:r>
              <a:rPr lang="en-US" altLang="en-US" b="0">
                <a:solidFill>
                  <a:srgbClr val="0033CC"/>
                </a:solidFill>
              </a:rPr>
              <a:t>Comparable</a:t>
            </a:r>
            <a:r>
              <a:rPr lang="en-US" altLang="en-US" b="0"/>
              <a:t>[] stuff ){</a:t>
            </a:r>
          </a:p>
          <a:p>
            <a:pPr algn="l"/>
            <a:r>
              <a:rPr lang="en-US" altLang="en-US" b="0"/>
              <a:t>  for(int i=0; i&lt;stuff.length-1; i++){</a:t>
            </a:r>
          </a:p>
          <a:p>
            <a:pPr algn="l"/>
            <a:r>
              <a:rPr lang="en-US" altLang="en-US" b="0"/>
              <a:t>    for(int j=0; j&lt;stuff.length-1; j++){</a:t>
            </a:r>
          </a:p>
          <a:p>
            <a:pPr algn="l"/>
            <a:r>
              <a:rPr lang="en-US" altLang="en-US" b="0"/>
              <a:t>      if(stuff[ j].</a:t>
            </a:r>
            <a:r>
              <a:rPr lang="en-US" altLang="en-US" b="0">
                <a:solidFill>
                  <a:srgbClr val="FF3300"/>
                </a:solidFill>
              </a:rPr>
              <a:t>compareTo</a:t>
            </a:r>
            <a:r>
              <a:rPr lang="en-US" altLang="en-US" b="0"/>
              <a:t>(stuff[ j+1]) &gt; 0 ){</a:t>
            </a:r>
          </a:p>
          <a:p>
            <a:pPr algn="l"/>
            <a:r>
              <a:rPr lang="en-US" altLang="en-US" b="0"/>
              <a:t>	</a:t>
            </a:r>
            <a:r>
              <a:rPr lang="en-US" altLang="en-US" b="0">
                <a:solidFill>
                  <a:schemeClr val="accent2"/>
                </a:solidFill>
              </a:rPr>
              <a:t>Comparable temp = stuff[ j];</a:t>
            </a:r>
          </a:p>
          <a:p>
            <a:pPr algn="l"/>
            <a:r>
              <a:rPr lang="en-US" altLang="en-US" b="0">
                <a:solidFill>
                  <a:schemeClr val="accent2"/>
                </a:solidFill>
              </a:rPr>
              <a:t>	stuff[ j] = stuff</a:t>
            </a:r>
            <a:r>
              <a:rPr lang="en-US" altLang="en-US">
                <a:solidFill>
                  <a:schemeClr val="accent2"/>
                </a:solidFill>
              </a:rPr>
              <a:t> </a:t>
            </a:r>
            <a:r>
              <a:rPr lang="en-US" altLang="en-US" b="0">
                <a:solidFill>
                  <a:schemeClr val="accent2"/>
                </a:solidFill>
              </a:rPr>
              <a:t>[ j+1];</a:t>
            </a:r>
          </a:p>
          <a:p>
            <a:pPr algn="l"/>
            <a:r>
              <a:rPr lang="en-US" altLang="en-US" b="0">
                <a:solidFill>
                  <a:schemeClr val="accent2"/>
                </a:solidFill>
              </a:rPr>
              <a:t>	stuff</a:t>
            </a:r>
            <a:r>
              <a:rPr lang="en-US" altLang="en-US">
                <a:solidFill>
                  <a:schemeClr val="accent2"/>
                </a:solidFill>
              </a:rPr>
              <a:t> </a:t>
            </a:r>
            <a:r>
              <a:rPr lang="en-US" altLang="en-US" b="0">
                <a:solidFill>
                  <a:schemeClr val="accent2"/>
                </a:solidFill>
              </a:rPr>
              <a:t>[ j+1] = temp;</a:t>
            </a:r>
          </a:p>
          <a:p>
            <a:pPr algn="l"/>
            <a:r>
              <a:rPr lang="en-US" altLang="en-US" b="0"/>
              <a:t>      }</a:t>
            </a:r>
          </a:p>
          <a:p>
            <a:pPr algn="l"/>
            <a:r>
              <a:rPr lang="en-US" altLang="en-US" b="0"/>
              <a:t>    }</a:t>
            </a:r>
          </a:p>
          <a:p>
            <a:pPr algn="l"/>
            <a:r>
              <a:rPr lang="en-US" altLang="en-US" b="0"/>
              <a:t>  }</a:t>
            </a:r>
          </a:p>
          <a:p>
            <a:pPr algn="l"/>
            <a:r>
              <a:rPr lang="en-US" altLang="en-US" b="0"/>
              <a:t>}</a:t>
            </a:r>
          </a:p>
        </p:txBody>
      </p:sp>
      <p:sp>
        <p:nvSpPr>
          <p:cNvPr id="68610" name="WordArt 5">
            <a:extLst>
              <a:ext uri="{FF2B5EF4-FFF2-40B4-BE49-F238E27FC236}">
                <a16:creationId xmlns:a16="http://schemas.microsoft.com/office/drawing/2014/main" id="{C018BF25-855B-8CC1-5C5A-5ADB3C74DF37}"/>
              </a:ext>
            </a:extLst>
          </p:cNvPr>
          <p:cNvSpPr>
            <a:spLocks noChangeArrowheads="1" noChangeShapeType="1" noTextEdit="1"/>
          </p:cNvSpPr>
          <p:nvPr/>
        </p:nvSpPr>
        <p:spPr bwMode="auto">
          <a:xfrm>
            <a:off x="609600" y="533400"/>
            <a:ext cx="7467600" cy="5334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Bubble Sort W/Objects</a:t>
            </a:r>
          </a:p>
        </p:txBody>
      </p:sp>
      <p:sp>
        <p:nvSpPr>
          <p:cNvPr id="68611" name="Text Box 8">
            <a:extLst>
              <a:ext uri="{FF2B5EF4-FFF2-40B4-BE49-F238E27FC236}">
                <a16:creationId xmlns:a16="http://schemas.microsoft.com/office/drawing/2014/main" id="{306F1905-53AA-E980-F757-E1F6FC4DC172}"/>
              </a:ext>
            </a:extLst>
          </p:cNvPr>
          <p:cNvSpPr txBox="1">
            <a:spLocks noChangeArrowheads="1"/>
          </p:cNvSpPr>
          <p:nvPr/>
        </p:nvSpPr>
        <p:spPr bwMode="auto">
          <a:xfrm>
            <a:off x="5867400" y="5181600"/>
            <a:ext cx="327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spcBef>
                <a:spcPct val="50000"/>
              </a:spcBef>
            </a:pPr>
            <a:r>
              <a:rPr lang="en-US" altLang="en-US">
                <a:solidFill>
                  <a:schemeClr val="accent2"/>
                </a:solidFill>
              </a:rPr>
              <a:t>Lots O Swaps!</a:t>
            </a:r>
          </a:p>
        </p:txBody>
      </p:sp>
      <p:sp>
        <p:nvSpPr>
          <p:cNvPr id="68612" name="Line 9">
            <a:extLst>
              <a:ext uri="{FF2B5EF4-FFF2-40B4-BE49-F238E27FC236}">
                <a16:creationId xmlns:a16="http://schemas.microsoft.com/office/drawing/2014/main" id="{EF4D40A1-0E80-BD91-B98E-3E04CF966247}"/>
              </a:ext>
            </a:extLst>
          </p:cNvPr>
          <p:cNvSpPr>
            <a:spLocks noChangeShapeType="1"/>
          </p:cNvSpPr>
          <p:nvPr/>
        </p:nvSpPr>
        <p:spPr bwMode="auto">
          <a:xfrm flipH="1" flipV="1">
            <a:off x="5257800" y="4419600"/>
            <a:ext cx="609600" cy="990600"/>
          </a:xfrm>
          <a:prstGeom prst="line">
            <a:avLst/>
          </a:prstGeom>
          <a:noFill/>
          <a:ln w="635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WordArt 2" descr="White marble">
            <a:extLst>
              <a:ext uri="{FF2B5EF4-FFF2-40B4-BE49-F238E27FC236}">
                <a16:creationId xmlns:a16="http://schemas.microsoft.com/office/drawing/2014/main" id="{00C47EC6-93B1-21CA-4C85-CA098F9784DB}"/>
              </a:ext>
            </a:extLst>
          </p:cNvPr>
          <p:cNvSpPr>
            <a:spLocks noChangeArrowheads="1" noChangeShapeType="1" noTextEdit="1"/>
          </p:cNvSpPr>
          <p:nvPr/>
        </p:nvSpPr>
        <p:spPr bwMode="auto">
          <a:xfrm>
            <a:off x="762000" y="1981200"/>
            <a:ext cx="7620000" cy="184785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contourClr>
                <a:srgbClr val="FFFFFF"/>
              </a:contourClr>
            </a:sp3d>
          </a:bodyPr>
          <a:lstStyle/>
          <a:p>
            <a:r>
              <a:rPr lang="en-US" sz="3600" kern="10">
                <a:ln w="9525">
                  <a:round/>
                  <a:headEnd/>
                  <a:tailEnd/>
                </a:ln>
                <a:blipFill dpi="0" rotWithShape="0">
                  <a:blip r:embed="rId3"/>
                  <a:srcRect/>
                  <a:tile tx="0" ty="0" sx="100000" sy="100000" flip="none" algn="tl"/>
                </a:blipFill>
                <a:latin typeface="Arial Black" panose="020B0604020202020204" pitchFamily="34" charset="0"/>
                <a:cs typeface="Arial Black" panose="020B0604020202020204" pitchFamily="34" charset="0"/>
              </a:rPr>
              <a:t>The Selection Sort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1" presetClass="entr" presetSubtype="0" fill="hold" nodeType="clickEffect">
                                  <p:stCondLst>
                                    <p:cond delay="0"/>
                                  </p:stCondLst>
                                  <p:childTnLst>
                                    <p:set>
                                      <p:cBhvr>
                                        <p:cTn id="6" dur="500">
                                          <p:stCondLst>
                                            <p:cond delay="0"/>
                                          </p:stCondLst>
                                        </p:cTn>
                                        <p:tgtEl>
                                          <p:spTgt spid="15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ext Box 2">
            <a:extLst>
              <a:ext uri="{FF2B5EF4-FFF2-40B4-BE49-F238E27FC236}">
                <a16:creationId xmlns:a16="http://schemas.microsoft.com/office/drawing/2014/main" id="{32DD7BBC-8453-4C8A-482A-FCE16FC21D78}"/>
              </a:ext>
            </a:extLst>
          </p:cNvPr>
          <p:cNvSpPr txBox="1">
            <a:spLocks noChangeArrowheads="1"/>
          </p:cNvSpPr>
          <p:nvPr/>
        </p:nvSpPr>
        <p:spPr bwMode="auto">
          <a:xfrm>
            <a:off x="368300" y="1676400"/>
            <a:ext cx="8213725"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2400">
              <a:latin typeface="Arial" panose="020B0604020202020204" pitchFamily="34" charset="0"/>
            </a:endParaRPr>
          </a:p>
          <a:p>
            <a:endParaRPr lang="en-US" altLang="en-US" sz="2400">
              <a:latin typeface="Arial" panose="020B0604020202020204" pitchFamily="34" charset="0"/>
            </a:endParaRPr>
          </a:p>
          <a:p>
            <a:endParaRPr lang="en-US" altLang="en-US" sz="3200">
              <a:solidFill>
                <a:schemeClr val="accent2"/>
              </a:solidFill>
            </a:endParaRPr>
          </a:p>
          <a:p>
            <a:r>
              <a:rPr lang="en-US" altLang="en-US">
                <a:latin typeface="Arial" panose="020B0604020202020204" pitchFamily="34" charset="0"/>
              </a:rPr>
              <a:t>The selection sort does not swap each time</a:t>
            </a:r>
          </a:p>
          <a:p>
            <a:r>
              <a:rPr lang="en-US" altLang="en-US">
                <a:latin typeface="Arial" panose="020B0604020202020204" pitchFamily="34" charset="0"/>
              </a:rPr>
              <a:t>it finds elements out of position.  Selection sort</a:t>
            </a:r>
          </a:p>
          <a:p>
            <a:r>
              <a:rPr lang="en-US" altLang="en-US">
                <a:latin typeface="Arial" panose="020B0604020202020204" pitchFamily="34" charset="0"/>
              </a:rPr>
              <a:t>makes a complete pass while searching for the</a:t>
            </a:r>
          </a:p>
          <a:p>
            <a:r>
              <a:rPr lang="en-US" altLang="en-US">
                <a:latin typeface="Arial" panose="020B0604020202020204" pitchFamily="34" charset="0"/>
              </a:rPr>
              <a:t>next item to swap.  At the end of a pass once </a:t>
            </a:r>
          </a:p>
          <a:p>
            <a:r>
              <a:rPr lang="en-US" altLang="en-US">
                <a:latin typeface="Arial" panose="020B0604020202020204" pitchFamily="34" charset="0"/>
              </a:rPr>
              <a:t>the item is located, one swap is made.</a:t>
            </a:r>
          </a:p>
        </p:txBody>
      </p:sp>
      <p:sp>
        <p:nvSpPr>
          <p:cNvPr id="72706" name="WordArt 3">
            <a:extLst>
              <a:ext uri="{FF2B5EF4-FFF2-40B4-BE49-F238E27FC236}">
                <a16:creationId xmlns:a16="http://schemas.microsoft.com/office/drawing/2014/main" id="{2C8D3B02-DD7A-D10D-A35C-00D14F6037A9}"/>
              </a:ext>
            </a:extLst>
          </p:cNvPr>
          <p:cNvSpPr>
            <a:spLocks noChangeArrowheads="1" noChangeShapeType="1" noTextEdit="1"/>
          </p:cNvSpPr>
          <p:nvPr/>
        </p:nvSpPr>
        <p:spPr bwMode="auto">
          <a:xfrm>
            <a:off x="1524000" y="1066800"/>
            <a:ext cx="5867400" cy="6858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Selection Sort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Footer Placeholder 3">
            <a:extLst>
              <a:ext uri="{FF2B5EF4-FFF2-40B4-BE49-F238E27FC236}">
                <a16:creationId xmlns:a16="http://schemas.microsoft.com/office/drawing/2014/main" id="{F2CBFEB7-9606-35D9-EF40-04E43A34F1D3}"/>
              </a:ext>
            </a:extLst>
          </p:cNvPr>
          <p:cNvSpPr>
            <a:spLocks noGrp="1"/>
          </p:cNvSpPr>
          <p:nvPr>
            <p:ph type="ftr"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800">
              <a:latin typeface="Times New Roman" panose="02020603050405020304" pitchFamily="18" charset="0"/>
            </a:endParaRPr>
          </a:p>
          <a:p>
            <a:endParaRPr lang="en-US" altLang="en-US" sz="800" b="0"/>
          </a:p>
          <a:p>
            <a:endParaRPr lang="en-US" altLang="en-US" sz="800"/>
          </a:p>
          <a:p>
            <a:r>
              <a:rPr lang="en-US" altLang="en-US" sz="800"/>
              <a:t>© A+ Computer Science  -  www.apluscompsci.com</a:t>
            </a:r>
          </a:p>
        </p:txBody>
      </p:sp>
      <p:sp>
        <p:nvSpPr>
          <p:cNvPr id="74754" name="Rectangle 2">
            <a:extLst>
              <a:ext uri="{FF2B5EF4-FFF2-40B4-BE49-F238E27FC236}">
                <a16:creationId xmlns:a16="http://schemas.microsoft.com/office/drawing/2014/main" id="{15C1E458-8048-1C59-B272-EFEFF4D83B18}"/>
              </a:ext>
            </a:extLst>
          </p:cNvPr>
          <p:cNvSpPr>
            <a:spLocks noChangeArrowheads="1"/>
          </p:cNvSpPr>
          <p:nvPr/>
        </p:nvSpPr>
        <p:spPr bwMode="auto">
          <a:xfrm>
            <a:off x="914400" y="838200"/>
            <a:ext cx="7777163" cy="577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2300"/>
              <a:t>void selectionSort( int[] ray  )</a:t>
            </a:r>
            <a:br>
              <a:rPr lang="en-US" altLang="en-US" sz="2300"/>
            </a:br>
            <a:r>
              <a:rPr lang="en-US" altLang="en-US" sz="2300"/>
              <a:t>{</a:t>
            </a:r>
          </a:p>
          <a:p>
            <a:pPr algn="l"/>
            <a:r>
              <a:rPr lang="en-US" altLang="en-US" sz="2300"/>
              <a:t>      for(int i=0; i&lt; ray.length-1; i++){</a:t>
            </a:r>
          </a:p>
          <a:p>
            <a:pPr algn="l"/>
            <a:r>
              <a:rPr lang="en-US" altLang="en-US" sz="2300"/>
              <a:t>        int min = i;</a:t>
            </a:r>
          </a:p>
          <a:p>
            <a:pPr algn="l"/>
            <a:r>
              <a:rPr lang="en-US" altLang="en-US" sz="2300"/>
              <a:t>        for(int j = i+1; j&lt; ray.length; j++)</a:t>
            </a:r>
          </a:p>
          <a:p>
            <a:pPr algn="l"/>
            <a:r>
              <a:rPr lang="en-US" altLang="en-US" sz="2300"/>
              <a:t>        {</a:t>
            </a:r>
          </a:p>
          <a:p>
            <a:pPr algn="l"/>
            <a:r>
              <a:rPr lang="en-US" altLang="en-US" sz="2300"/>
              <a:t>           if(ray[j] &lt; ray[min])</a:t>
            </a:r>
          </a:p>
          <a:p>
            <a:pPr algn="l"/>
            <a:r>
              <a:rPr lang="en-US" altLang="en-US" sz="2300"/>
              <a:t>	    min = j;    	</a:t>
            </a:r>
            <a:r>
              <a:rPr lang="en-US" altLang="en-US" sz="2300">
                <a:solidFill>
                  <a:srgbClr val="009900"/>
                </a:solidFill>
              </a:rPr>
              <a:t>//find location of smallest</a:t>
            </a:r>
          </a:p>
          <a:p>
            <a:pPr algn="l"/>
            <a:r>
              <a:rPr lang="en-US" altLang="en-US" sz="2300"/>
              <a:t>        }</a:t>
            </a:r>
          </a:p>
          <a:p>
            <a:pPr algn="l"/>
            <a:r>
              <a:rPr lang="en-US" altLang="en-US" sz="2300"/>
              <a:t>        if( min != i) {</a:t>
            </a:r>
          </a:p>
          <a:p>
            <a:pPr algn="l"/>
            <a:r>
              <a:rPr lang="en-US" altLang="en-US" sz="2300"/>
              <a:t>	 int temp = ray[min];</a:t>
            </a:r>
          </a:p>
          <a:p>
            <a:pPr algn="l"/>
            <a:r>
              <a:rPr lang="en-US" altLang="en-US" sz="2300"/>
              <a:t>	 ray[min] = ray[i];</a:t>
            </a:r>
          </a:p>
          <a:p>
            <a:pPr algn="l"/>
            <a:r>
              <a:rPr lang="en-US" altLang="en-US" sz="2300"/>
              <a:t>	 ray[i] = temp;   </a:t>
            </a:r>
            <a:r>
              <a:rPr lang="en-US" altLang="en-US" sz="2300">
                <a:solidFill>
                  <a:srgbClr val="009900"/>
                </a:solidFill>
              </a:rPr>
              <a:t>	//put smallest in pos i</a:t>
            </a:r>
          </a:p>
          <a:p>
            <a:pPr algn="l"/>
            <a:r>
              <a:rPr lang="en-US" altLang="en-US" sz="2300"/>
              <a:t>       }</a:t>
            </a:r>
          </a:p>
          <a:p>
            <a:pPr algn="l"/>
            <a:r>
              <a:rPr lang="en-US" altLang="en-US" sz="2300"/>
              <a:t>    }</a:t>
            </a:r>
          </a:p>
          <a:p>
            <a:pPr algn="l"/>
            <a:endParaRPr lang="en-US" altLang="en-US" sz="2400">
              <a:solidFill>
                <a:srgbClr val="FFFF00"/>
              </a:solidFill>
            </a:endParaRPr>
          </a:p>
        </p:txBody>
      </p:sp>
      <p:sp>
        <p:nvSpPr>
          <p:cNvPr id="74755" name="WordArt 3">
            <a:extLst>
              <a:ext uri="{FF2B5EF4-FFF2-40B4-BE49-F238E27FC236}">
                <a16:creationId xmlns:a16="http://schemas.microsoft.com/office/drawing/2014/main" id="{ECA89140-7A3C-4FD6-86D0-4FFA64742855}"/>
              </a:ext>
            </a:extLst>
          </p:cNvPr>
          <p:cNvSpPr>
            <a:spLocks noChangeArrowheads="1" noChangeShapeType="1" noTextEdit="1"/>
          </p:cNvSpPr>
          <p:nvPr/>
        </p:nvSpPr>
        <p:spPr bwMode="auto">
          <a:xfrm>
            <a:off x="1295400" y="304800"/>
            <a:ext cx="6096000" cy="3810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Selection Sort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WordArt 2">
            <a:extLst>
              <a:ext uri="{FF2B5EF4-FFF2-40B4-BE49-F238E27FC236}">
                <a16:creationId xmlns:a16="http://schemas.microsoft.com/office/drawing/2014/main" id="{9A3E1BCC-327C-1942-615C-F4BF6ABE9CD3}"/>
              </a:ext>
            </a:extLst>
          </p:cNvPr>
          <p:cNvSpPr>
            <a:spLocks noChangeArrowheads="1" noChangeShapeType="1" noTextEdit="1"/>
          </p:cNvSpPr>
          <p:nvPr/>
        </p:nvSpPr>
        <p:spPr bwMode="auto">
          <a:xfrm>
            <a:off x="1676400" y="304800"/>
            <a:ext cx="5715000" cy="6096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Selection Sort</a:t>
            </a:r>
          </a:p>
        </p:txBody>
      </p:sp>
      <p:sp>
        <p:nvSpPr>
          <p:cNvPr id="76802" name="Text Box 3">
            <a:extLst>
              <a:ext uri="{FF2B5EF4-FFF2-40B4-BE49-F238E27FC236}">
                <a16:creationId xmlns:a16="http://schemas.microsoft.com/office/drawing/2014/main" id="{ADFFE96A-6C98-C49D-500C-DE84D2DA33B7}"/>
              </a:ext>
            </a:extLst>
          </p:cNvPr>
          <p:cNvSpPr txBox="1">
            <a:spLocks noChangeArrowheads="1"/>
          </p:cNvSpPr>
          <p:nvPr/>
        </p:nvSpPr>
        <p:spPr bwMode="auto">
          <a:xfrm>
            <a:off x="1600200" y="1752600"/>
            <a:ext cx="1317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eaLnBrk="1" hangingPunct="1"/>
            <a:r>
              <a:rPr lang="en-US" altLang="en-US"/>
              <a:t>pass 0</a:t>
            </a:r>
          </a:p>
        </p:txBody>
      </p:sp>
      <p:graphicFrame>
        <p:nvGraphicFramePr>
          <p:cNvPr id="208900" name="Group 4">
            <a:extLst>
              <a:ext uri="{FF2B5EF4-FFF2-40B4-BE49-F238E27FC236}">
                <a16:creationId xmlns:a16="http://schemas.microsoft.com/office/drawing/2014/main" id="{C28AB610-6567-5F61-B40A-EDDC0EA10F96}"/>
              </a:ext>
            </a:extLst>
          </p:cNvPr>
          <p:cNvGraphicFramePr>
            <a:graphicFrameLocks noGrp="1"/>
          </p:cNvGraphicFramePr>
          <p:nvPr/>
        </p:nvGraphicFramePr>
        <p:xfrm>
          <a:off x="2987675" y="1752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9</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76817" name="Text Box 18">
            <a:extLst>
              <a:ext uri="{FF2B5EF4-FFF2-40B4-BE49-F238E27FC236}">
                <a16:creationId xmlns:a16="http://schemas.microsoft.com/office/drawing/2014/main" id="{F5C580EB-0F5A-FBA4-7B22-DADC4DC3DEBE}"/>
              </a:ext>
            </a:extLst>
          </p:cNvPr>
          <p:cNvSpPr txBox="1">
            <a:spLocks noChangeArrowheads="1"/>
          </p:cNvSpPr>
          <p:nvPr/>
        </p:nvSpPr>
        <p:spPr bwMode="auto">
          <a:xfrm>
            <a:off x="3124200" y="1066800"/>
            <a:ext cx="3124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eaLnBrk="1" hangingPunct="1"/>
            <a:r>
              <a:rPr lang="en-US" altLang="en-US"/>
              <a:t>0    1     2    3    4 </a:t>
            </a:r>
          </a:p>
        </p:txBody>
      </p:sp>
      <p:sp>
        <p:nvSpPr>
          <p:cNvPr id="208915" name="Text Box 19">
            <a:extLst>
              <a:ext uri="{FF2B5EF4-FFF2-40B4-BE49-F238E27FC236}">
                <a16:creationId xmlns:a16="http://schemas.microsoft.com/office/drawing/2014/main" id="{507A8E3C-3C8A-B8E4-582D-40B6275C64FB}"/>
              </a:ext>
            </a:extLst>
          </p:cNvPr>
          <p:cNvSpPr txBox="1">
            <a:spLocks noChangeArrowheads="1"/>
          </p:cNvSpPr>
          <p:nvPr/>
        </p:nvSpPr>
        <p:spPr bwMode="auto">
          <a:xfrm>
            <a:off x="1584325" y="2514600"/>
            <a:ext cx="1317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eaLnBrk="1" hangingPunct="1"/>
            <a:r>
              <a:rPr lang="en-US" altLang="en-US"/>
              <a:t>pass 1</a:t>
            </a:r>
          </a:p>
        </p:txBody>
      </p:sp>
      <p:graphicFrame>
        <p:nvGraphicFramePr>
          <p:cNvPr id="208916" name="Group 20">
            <a:extLst>
              <a:ext uri="{FF2B5EF4-FFF2-40B4-BE49-F238E27FC236}">
                <a16:creationId xmlns:a16="http://schemas.microsoft.com/office/drawing/2014/main" id="{D1DF1250-687E-C936-C891-6AD8F457508B}"/>
              </a:ext>
            </a:extLst>
          </p:cNvPr>
          <p:cNvGraphicFramePr>
            <a:graphicFrameLocks noGrp="1"/>
          </p:cNvGraphicFramePr>
          <p:nvPr/>
        </p:nvGraphicFramePr>
        <p:xfrm>
          <a:off x="2971800" y="2514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30" name="Text Box 34">
            <a:extLst>
              <a:ext uri="{FF2B5EF4-FFF2-40B4-BE49-F238E27FC236}">
                <a16:creationId xmlns:a16="http://schemas.microsoft.com/office/drawing/2014/main" id="{ABB2D9E5-531F-A0D6-BF6D-AD10F61CEBDA}"/>
              </a:ext>
            </a:extLst>
          </p:cNvPr>
          <p:cNvSpPr txBox="1">
            <a:spLocks noChangeArrowheads="1"/>
          </p:cNvSpPr>
          <p:nvPr/>
        </p:nvSpPr>
        <p:spPr bwMode="auto">
          <a:xfrm>
            <a:off x="1584325" y="3276600"/>
            <a:ext cx="1317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eaLnBrk="1" hangingPunct="1"/>
            <a:r>
              <a:rPr lang="en-US" altLang="en-US"/>
              <a:t>pass 2</a:t>
            </a:r>
          </a:p>
        </p:txBody>
      </p:sp>
      <p:graphicFrame>
        <p:nvGraphicFramePr>
          <p:cNvPr id="208931" name="Group 35">
            <a:extLst>
              <a:ext uri="{FF2B5EF4-FFF2-40B4-BE49-F238E27FC236}">
                <a16:creationId xmlns:a16="http://schemas.microsoft.com/office/drawing/2014/main" id="{FF8BB223-0660-6105-0F7C-4BBD2D26A877}"/>
              </a:ext>
            </a:extLst>
          </p:cNvPr>
          <p:cNvGraphicFramePr>
            <a:graphicFrameLocks noGrp="1"/>
          </p:cNvGraphicFramePr>
          <p:nvPr/>
        </p:nvGraphicFramePr>
        <p:xfrm>
          <a:off x="2971800" y="3276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45" name="Text Box 49">
            <a:extLst>
              <a:ext uri="{FF2B5EF4-FFF2-40B4-BE49-F238E27FC236}">
                <a16:creationId xmlns:a16="http://schemas.microsoft.com/office/drawing/2014/main" id="{E8533646-6BE8-51FE-4225-7FA9BBFC4BE9}"/>
              </a:ext>
            </a:extLst>
          </p:cNvPr>
          <p:cNvSpPr txBox="1">
            <a:spLocks noChangeArrowheads="1"/>
          </p:cNvSpPr>
          <p:nvPr/>
        </p:nvSpPr>
        <p:spPr bwMode="auto">
          <a:xfrm>
            <a:off x="1584325" y="4038600"/>
            <a:ext cx="1317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eaLnBrk="1" hangingPunct="1"/>
            <a:r>
              <a:rPr lang="en-US" altLang="en-US"/>
              <a:t>pass 3</a:t>
            </a:r>
          </a:p>
        </p:txBody>
      </p:sp>
      <p:graphicFrame>
        <p:nvGraphicFramePr>
          <p:cNvPr id="208946" name="Group 50">
            <a:extLst>
              <a:ext uri="{FF2B5EF4-FFF2-40B4-BE49-F238E27FC236}">
                <a16:creationId xmlns:a16="http://schemas.microsoft.com/office/drawing/2014/main" id="{DBB11044-38B6-DF10-3D0C-9BF8872972B8}"/>
              </a:ext>
            </a:extLst>
          </p:cNvPr>
          <p:cNvGraphicFramePr>
            <a:graphicFrameLocks noGrp="1"/>
          </p:cNvGraphicFramePr>
          <p:nvPr/>
        </p:nvGraphicFramePr>
        <p:xfrm>
          <a:off x="2971800" y="4038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60" name="Text Box 64">
            <a:extLst>
              <a:ext uri="{FF2B5EF4-FFF2-40B4-BE49-F238E27FC236}">
                <a16:creationId xmlns:a16="http://schemas.microsoft.com/office/drawing/2014/main" id="{2D497649-8E28-BDA5-E4A6-169B049B4BAC}"/>
              </a:ext>
            </a:extLst>
          </p:cNvPr>
          <p:cNvSpPr txBox="1">
            <a:spLocks noChangeArrowheads="1"/>
          </p:cNvSpPr>
          <p:nvPr/>
        </p:nvSpPr>
        <p:spPr bwMode="auto">
          <a:xfrm>
            <a:off x="1584325" y="4800600"/>
            <a:ext cx="1317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eaLnBrk="1" hangingPunct="1"/>
            <a:r>
              <a:rPr lang="en-US" altLang="en-US"/>
              <a:t>pass 4</a:t>
            </a:r>
          </a:p>
        </p:txBody>
      </p:sp>
      <p:graphicFrame>
        <p:nvGraphicFramePr>
          <p:cNvPr id="208961" name="Group 65">
            <a:extLst>
              <a:ext uri="{FF2B5EF4-FFF2-40B4-BE49-F238E27FC236}">
                <a16:creationId xmlns:a16="http://schemas.microsoft.com/office/drawing/2014/main" id="{4D971F7A-F55F-9CEE-E5DC-A6E5CBE1D040}"/>
              </a:ext>
            </a:extLst>
          </p:cNvPr>
          <p:cNvGraphicFramePr>
            <a:graphicFrameLocks noGrp="1"/>
          </p:cNvGraphicFramePr>
          <p:nvPr/>
        </p:nvGraphicFramePr>
        <p:xfrm>
          <a:off x="2971800" y="4800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8915"/>
                                        </p:tgtEl>
                                        <p:attrNameLst>
                                          <p:attrName>style.visibility</p:attrName>
                                        </p:attrNameLst>
                                      </p:cBhvr>
                                      <p:to>
                                        <p:strVal val="visible"/>
                                      </p:to>
                                    </p:set>
                                    <p:animEffect transition="in" filter="checkerboard(across)">
                                      <p:cBhvr>
                                        <p:cTn id="7" dur="500"/>
                                        <p:tgtEl>
                                          <p:spTgt spid="208915"/>
                                        </p:tgtEl>
                                      </p:cBhvr>
                                    </p:animEffect>
                                  </p:childTnLst>
                                </p:cTn>
                              </p:par>
                              <p:par>
                                <p:cTn id="8" presetID="5" presetClass="entr" presetSubtype="10" fill="hold" nodeType="withEffect">
                                  <p:stCondLst>
                                    <p:cond delay="0"/>
                                  </p:stCondLst>
                                  <p:childTnLst>
                                    <p:set>
                                      <p:cBhvr>
                                        <p:cTn id="9" dur="1" fill="hold">
                                          <p:stCondLst>
                                            <p:cond delay="0"/>
                                          </p:stCondLst>
                                        </p:cTn>
                                        <p:tgtEl>
                                          <p:spTgt spid="208916"/>
                                        </p:tgtEl>
                                        <p:attrNameLst>
                                          <p:attrName>style.visibility</p:attrName>
                                        </p:attrNameLst>
                                      </p:cBhvr>
                                      <p:to>
                                        <p:strVal val="visible"/>
                                      </p:to>
                                    </p:set>
                                    <p:animEffect transition="in" filter="checkerboard(across)">
                                      <p:cBhvr>
                                        <p:cTn id="10" dur="500"/>
                                        <p:tgtEl>
                                          <p:spTgt spid="20891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08930"/>
                                        </p:tgtEl>
                                        <p:attrNameLst>
                                          <p:attrName>style.visibility</p:attrName>
                                        </p:attrNameLst>
                                      </p:cBhvr>
                                      <p:to>
                                        <p:strVal val="visible"/>
                                      </p:to>
                                    </p:set>
                                    <p:animEffect transition="in" filter="checkerboard(across)">
                                      <p:cBhvr>
                                        <p:cTn id="15" dur="500"/>
                                        <p:tgtEl>
                                          <p:spTgt spid="208930"/>
                                        </p:tgtEl>
                                      </p:cBhvr>
                                    </p:animEffect>
                                  </p:childTnLst>
                                </p:cTn>
                              </p:par>
                              <p:par>
                                <p:cTn id="16" presetID="5" presetClass="entr" presetSubtype="10" fill="hold" nodeType="withEffect">
                                  <p:stCondLst>
                                    <p:cond delay="0"/>
                                  </p:stCondLst>
                                  <p:childTnLst>
                                    <p:set>
                                      <p:cBhvr>
                                        <p:cTn id="17" dur="1" fill="hold">
                                          <p:stCondLst>
                                            <p:cond delay="0"/>
                                          </p:stCondLst>
                                        </p:cTn>
                                        <p:tgtEl>
                                          <p:spTgt spid="208931"/>
                                        </p:tgtEl>
                                        <p:attrNameLst>
                                          <p:attrName>style.visibility</p:attrName>
                                        </p:attrNameLst>
                                      </p:cBhvr>
                                      <p:to>
                                        <p:strVal val="visible"/>
                                      </p:to>
                                    </p:set>
                                    <p:animEffect transition="in" filter="checkerboard(across)">
                                      <p:cBhvr>
                                        <p:cTn id="18" dur="500"/>
                                        <p:tgtEl>
                                          <p:spTgt spid="20893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208945"/>
                                        </p:tgtEl>
                                        <p:attrNameLst>
                                          <p:attrName>style.visibility</p:attrName>
                                        </p:attrNameLst>
                                      </p:cBhvr>
                                      <p:to>
                                        <p:strVal val="visible"/>
                                      </p:to>
                                    </p:set>
                                    <p:animEffect transition="in" filter="checkerboard(across)">
                                      <p:cBhvr>
                                        <p:cTn id="23" dur="500"/>
                                        <p:tgtEl>
                                          <p:spTgt spid="208945"/>
                                        </p:tgtEl>
                                      </p:cBhvr>
                                    </p:animEffect>
                                  </p:childTnLst>
                                </p:cTn>
                              </p:par>
                              <p:par>
                                <p:cTn id="24" presetID="5" presetClass="entr" presetSubtype="10" fill="hold" nodeType="withEffect">
                                  <p:stCondLst>
                                    <p:cond delay="0"/>
                                  </p:stCondLst>
                                  <p:childTnLst>
                                    <p:set>
                                      <p:cBhvr>
                                        <p:cTn id="25" dur="1" fill="hold">
                                          <p:stCondLst>
                                            <p:cond delay="0"/>
                                          </p:stCondLst>
                                        </p:cTn>
                                        <p:tgtEl>
                                          <p:spTgt spid="208946"/>
                                        </p:tgtEl>
                                        <p:attrNameLst>
                                          <p:attrName>style.visibility</p:attrName>
                                        </p:attrNameLst>
                                      </p:cBhvr>
                                      <p:to>
                                        <p:strVal val="visible"/>
                                      </p:to>
                                    </p:set>
                                    <p:animEffect transition="in" filter="checkerboard(across)">
                                      <p:cBhvr>
                                        <p:cTn id="26" dur="500"/>
                                        <p:tgtEl>
                                          <p:spTgt spid="20894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08960"/>
                                        </p:tgtEl>
                                        <p:attrNameLst>
                                          <p:attrName>style.visibility</p:attrName>
                                        </p:attrNameLst>
                                      </p:cBhvr>
                                      <p:to>
                                        <p:strVal val="visible"/>
                                      </p:to>
                                    </p:set>
                                    <p:animEffect transition="in" filter="checkerboard(across)">
                                      <p:cBhvr>
                                        <p:cTn id="31" dur="500"/>
                                        <p:tgtEl>
                                          <p:spTgt spid="208960"/>
                                        </p:tgtEl>
                                      </p:cBhvr>
                                    </p:animEffect>
                                  </p:childTnLst>
                                </p:cTn>
                              </p:par>
                              <p:par>
                                <p:cTn id="32" presetID="5" presetClass="entr" presetSubtype="10" fill="hold" nodeType="withEffect">
                                  <p:stCondLst>
                                    <p:cond delay="0"/>
                                  </p:stCondLst>
                                  <p:childTnLst>
                                    <p:set>
                                      <p:cBhvr>
                                        <p:cTn id="33" dur="1" fill="hold">
                                          <p:stCondLst>
                                            <p:cond delay="0"/>
                                          </p:stCondLst>
                                        </p:cTn>
                                        <p:tgtEl>
                                          <p:spTgt spid="208961"/>
                                        </p:tgtEl>
                                        <p:attrNameLst>
                                          <p:attrName>style.visibility</p:attrName>
                                        </p:attrNameLst>
                                      </p:cBhvr>
                                      <p:to>
                                        <p:strVal val="visible"/>
                                      </p:to>
                                    </p:set>
                                    <p:animEffect transition="in" filter="checkerboard(across)">
                                      <p:cBhvr>
                                        <p:cTn id="34" dur="500"/>
                                        <p:tgtEl>
                                          <p:spTgt spid="208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15" grpId="0"/>
      <p:bldP spid="208930" grpId="0"/>
      <p:bldP spid="208945" grpId="0"/>
      <p:bldP spid="20896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ext Box 2">
            <a:extLst>
              <a:ext uri="{FF2B5EF4-FFF2-40B4-BE49-F238E27FC236}">
                <a16:creationId xmlns:a16="http://schemas.microsoft.com/office/drawing/2014/main" id="{D2E0C5D6-8803-ACA8-9F23-F21773C40CBF}"/>
              </a:ext>
            </a:extLst>
          </p:cNvPr>
          <p:cNvSpPr txBox="1">
            <a:spLocks noChangeArrowheads="1"/>
          </p:cNvSpPr>
          <p:nvPr/>
        </p:nvSpPr>
        <p:spPr bwMode="auto">
          <a:xfrm>
            <a:off x="304800" y="457200"/>
            <a:ext cx="8001000" cy="607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t>public void selSort(Comparable[] stuff){</a:t>
            </a:r>
          </a:p>
          <a:p>
            <a:pPr algn="l"/>
            <a:r>
              <a:rPr lang="en-US" altLang="en-US"/>
              <a:t>  for(int i=0;i&lt;stuff.length-1;i++)</a:t>
            </a:r>
          </a:p>
          <a:p>
            <a:pPr algn="l"/>
            <a:r>
              <a:rPr lang="en-US" altLang="en-US"/>
              <a:t>  {</a:t>
            </a:r>
          </a:p>
          <a:p>
            <a:pPr algn="l"/>
            <a:r>
              <a:rPr lang="en-US" altLang="en-US"/>
              <a:t>    int spot=i; </a:t>
            </a:r>
          </a:p>
          <a:p>
            <a:pPr algn="l"/>
            <a:r>
              <a:rPr lang="en-US" altLang="en-US"/>
              <a:t>    for(int j=i;j&lt;stuff.length;j++){</a:t>
            </a:r>
          </a:p>
          <a:p>
            <a:pPr algn="l"/>
            <a:r>
              <a:rPr lang="en-US" altLang="en-US"/>
              <a:t>      if(stuff[j].compareTo(stuff[spot])&gt;0)</a:t>
            </a:r>
          </a:p>
          <a:p>
            <a:pPr algn="l"/>
            <a:r>
              <a:rPr lang="en-US" altLang="en-US"/>
              <a:t>        spot=j;</a:t>
            </a:r>
          </a:p>
          <a:p>
            <a:pPr algn="l"/>
            <a:r>
              <a:rPr lang="en-US" altLang="en-US"/>
              <a:t>    }</a:t>
            </a:r>
          </a:p>
          <a:p>
            <a:pPr algn="l"/>
            <a:r>
              <a:rPr lang="en-US" altLang="en-US"/>
              <a:t>    if(spot==i) continue;</a:t>
            </a:r>
          </a:p>
          <a:p>
            <a:pPr algn="l"/>
            <a:r>
              <a:rPr lang="en-US" altLang="en-US"/>
              <a:t>    Comparable save=stuff[i];</a:t>
            </a:r>
          </a:p>
          <a:p>
            <a:pPr algn="l"/>
            <a:r>
              <a:rPr lang="en-US" altLang="en-US"/>
              <a:t>    stuff[i]=stuff[spot];</a:t>
            </a:r>
          </a:p>
          <a:p>
            <a:pPr algn="l"/>
            <a:r>
              <a:rPr lang="en-US" altLang="en-US"/>
              <a:t>    stuff[spot]=save;</a:t>
            </a:r>
          </a:p>
          <a:p>
            <a:pPr algn="l"/>
            <a:r>
              <a:rPr lang="en-US" altLang="en-US"/>
              <a:t>  }  </a:t>
            </a:r>
          </a:p>
          <a:p>
            <a:pPr algn="l"/>
            <a:r>
              <a:rPr lang="en-US" altLang="en-US"/>
              <a:t>}</a:t>
            </a:r>
          </a:p>
        </p:txBody>
      </p:sp>
      <p:sp>
        <p:nvSpPr>
          <p:cNvPr id="78850" name="WordArt 3">
            <a:extLst>
              <a:ext uri="{FF2B5EF4-FFF2-40B4-BE49-F238E27FC236}">
                <a16:creationId xmlns:a16="http://schemas.microsoft.com/office/drawing/2014/main" id="{0DE76013-6D6F-4447-B5BB-4F8EC608A0B7}"/>
              </a:ext>
            </a:extLst>
          </p:cNvPr>
          <p:cNvSpPr>
            <a:spLocks noChangeArrowheads="1" noChangeShapeType="1" noTextEdit="1"/>
          </p:cNvSpPr>
          <p:nvPr/>
        </p:nvSpPr>
        <p:spPr bwMode="auto">
          <a:xfrm>
            <a:off x="5638800" y="5029200"/>
            <a:ext cx="3276600" cy="1371600"/>
          </a:xfrm>
          <a:prstGeom prst="rect">
            <a:avLst/>
          </a:prstGeom>
        </p:spPr>
        <p:txBody>
          <a:bodyPr wrap="none" fromWordArt="1">
            <a:prstTxWarp prst="textPlain">
              <a:avLst>
                <a:gd name="adj" fmla="val 50000"/>
              </a:avLst>
            </a:prstTxWarp>
          </a:bodyPr>
          <a:lstStyle/>
          <a:p>
            <a:r>
              <a:rPr lang="en-US" sz="3600" kern="10">
                <a:ln w="9525">
                  <a:solidFill>
                    <a:srgbClr val="0000FF"/>
                  </a:solidFill>
                  <a:round/>
                  <a:headEnd/>
                  <a:tailEnd/>
                </a:ln>
                <a:solidFill>
                  <a:srgbClr val="FFCC99"/>
                </a:solidFill>
                <a:effectLst>
                  <a:outerShdw dist="35921" dir="2700000" algn="ctr" rotWithShape="0">
                    <a:srgbClr val="C0C0C0">
                      <a:alpha val="74997"/>
                    </a:srgbClr>
                  </a:outerShdw>
                </a:effectLst>
                <a:latin typeface="Impact" panose="020B0806030902050204" pitchFamily="34" charset="0"/>
              </a:rPr>
              <a:t>Selection Sort</a:t>
            </a:r>
          </a:p>
          <a:p>
            <a:r>
              <a:rPr lang="en-US" sz="3600" kern="10">
                <a:ln w="9525">
                  <a:solidFill>
                    <a:srgbClr val="0000FF"/>
                  </a:solidFill>
                  <a:round/>
                  <a:headEnd/>
                  <a:tailEnd/>
                </a:ln>
                <a:solidFill>
                  <a:srgbClr val="FFCC99"/>
                </a:solidFill>
                <a:effectLst>
                  <a:outerShdw dist="35921" dir="2700000" algn="ctr" rotWithShape="0">
                    <a:srgbClr val="C0C0C0">
                      <a:alpha val="74997"/>
                    </a:srgbClr>
                  </a:outerShdw>
                </a:effectLst>
                <a:latin typeface="Impact" panose="020B0806030902050204" pitchFamily="34" charset="0"/>
              </a:rPr>
              <a:t>W/Objects</a:t>
            </a:r>
          </a:p>
        </p:txBody>
      </p:sp>
      <p:sp>
        <p:nvSpPr>
          <p:cNvPr id="78851" name="WordArt 4">
            <a:extLst>
              <a:ext uri="{FF2B5EF4-FFF2-40B4-BE49-F238E27FC236}">
                <a16:creationId xmlns:a16="http://schemas.microsoft.com/office/drawing/2014/main" id="{095D56A2-4B4A-710F-BE48-3FA8A098C667}"/>
              </a:ext>
            </a:extLst>
          </p:cNvPr>
          <p:cNvSpPr>
            <a:spLocks noChangeArrowheads="1" noChangeShapeType="1" noTextEdit="1"/>
          </p:cNvSpPr>
          <p:nvPr/>
        </p:nvSpPr>
        <p:spPr bwMode="auto">
          <a:xfrm>
            <a:off x="5486400" y="3429000"/>
            <a:ext cx="3352800" cy="609600"/>
          </a:xfrm>
          <a:prstGeom prst="rect">
            <a:avLst/>
          </a:prstGeom>
        </p:spPr>
        <p:txBody>
          <a:bodyPr wrap="none" fromWordArt="1">
            <a:prstTxWarp prst="textPlain">
              <a:avLst>
                <a:gd name="adj" fmla="val 50000"/>
              </a:avLst>
            </a:prstTxWarp>
          </a:bodyPr>
          <a:lstStyle/>
          <a:p>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How many swaps</a:t>
            </a:r>
          </a:p>
          <a:p>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per pass?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WordArt 2">
            <a:extLst>
              <a:ext uri="{FF2B5EF4-FFF2-40B4-BE49-F238E27FC236}">
                <a16:creationId xmlns:a16="http://schemas.microsoft.com/office/drawing/2014/main" id="{8D0DDE61-435D-EDB0-1F62-D01147968210}"/>
              </a:ext>
            </a:extLst>
          </p:cNvPr>
          <p:cNvSpPr>
            <a:spLocks noChangeArrowheads="1" noChangeShapeType="1" noTextEdit="1"/>
          </p:cNvSpPr>
          <p:nvPr/>
        </p:nvSpPr>
        <p:spPr bwMode="auto">
          <a:xfrm>
            <a:off x="838200" y="609600"/>
            <a:ext cx="7162800" cy="914400"/>
          </a:xfrm>
          <a:prstGeom prst="rect">
            <a:avLst/>
          </a:prstGeom>
        </p:spPr>
        <p:txBody>
          <a:bodyPr wrap="none" fromWordArt="1">
            <a:prstTxWarp prst="textPlain">
              <a:avLst>
                <a:gd name="adj" fmla="val 50000"/>
              </a:avLst>
            </a:prstTxWarp>
          </a:bodyPr>
          <a:lstStyle/>
          <a:p>
            <a:r>
              <a:rPr lang="en-US" sz="3600" kern="10">
                <a:ln w="9525">
                  <a:solidFill>
                    <a:srgbClr val="FFFF99"/>
                  </a:solidFill>
                  <a:round/>
                  <a:headEnd/>
                  <a:tailEnd/>
                </a:ln>
                <a:solidFill>
                  <a:srgbClr val="008000"/>
                </a:solidFill>
                <a:effectLst>
                  <a:outerShdw dist="35921" dir="2700000" algn="ctr" rotWithShape="0">
                    <a:srgbClr val="C0C0C0">
                      <a:alpha val="74997"/>
                    </a:srgbClr>
                  </a:outerShdw>
                </a:effectLst>
                <a:latin typeface="Impact" panose="020B0806030902050204" pitchFamily="34" charset="0"/>
              </a:rPr>
              <a:t>Selection Sort in Action</a:t>
            </a:r>
          </a:p>
        </p:txBody>
      </p:sp>
      <p:sp>
        <p:nvSpPr>
          <p:cNvPr id="80898" name="Text Box 3">
            <a:extLst>
              <a:ext uri="{FF2B5EF4-FFF2-40B4-BE49-F238E27FC236}">
                <a16:creationId xmlns:a16="http://schemas.microsoft.com/office/drawing/2014/main" id="{AA028E89-E782-E8E4-61AF-CD37C6FA649E}"/>
              </a:ext>
            </a:extLst>
          </p:cNvPr>
          <p:cNvSpPr txBox="1">
            <a:spLocks noChangeArrowheads="1"/>
          </p:cNvSpPr>
          <p:nvPr/>
        </p:nvSpPr>
        <p:spPr bwMode="auto">
          <a:xfrm>
            <a:off x="1066800" y="1905000"/>
            <a:ext cx="69342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solidFill>
                  <a:srgbClr val="CC0000"/>
                </a:solidFill>
              </a:rPr>
              <a:t>Original List </a:t>
            </a:r>
          </a:p>
          <a:p>
            <a:pPr algn="l"/>
            <a:r>
              <a:rPr lang="en-US" altLang="en-US"/>
              <a:t>Integer[] ray = {90,40,20,30,10,67};</a:t>
            </a:r>
          </a:p>
          <a:p>
            <a:pPr algn="l"/>
            <a:endParaRPr lang="en-US" altLang="en-US"/>
          </a:p>
          <a:p>
            <a:pPr algn="l"/>
            <a:r>
              <a:rPr lang="en-US" altLang="en-US"/>
              <a:t>pass 1  -  </a:t>
            </a:r>
            <a:r>
              <a:rPr lang="en-US" altLang="en-US">
                <a:solidFill>
                  <a:schemeClr val="accent2"/>
                </a:solidFill>
              </a:rPr>
              <a:t>90</a:t>
            </a:r>
            <a:r>
              <a:rPr lang="en-US" altLang="en-US"/>
              <a:t>  40  20  30  10  </a:t>
            </a:r>
            <a:r>
              <a:rPr lang="en-US" altLang="en-US">
                <a:solidFill>
                  <a:schemeClr val="accent2"/>
                </a:solidFill>
              </a:rPr>
              <a:t>67</a:t>
            </a:r>
          </a:p>
          <a:p>
            <a:pPr algn="l"/>
            <a:r>
              <a:rPr lang="en-US" altLang="en-US"/>
              <a:t>pass 2  -  90  </a:t>
            </a:r>
            <a:r>
              <a:rPr lang="en-US" altLang="en-US">
                <a:solidFill>
                  <a:schemeClr val="accent2"/>
                </a:solidFill>
              </a:rPr>
              <a:t>67</a:t>
            </a:r>
            <a:r>
              <a:rPr lang="en-US" altLang="en-US"/>
              <a:t>  20  30  10  </a:t>
            </a:r>
            <a:r>
              <a:rPr lang="en-US" altLang="en-US">
                <a:solidFill>
                  <a:schemeClr val="accent2"/>
                </a:solidFill>
              </a:rPr>
              <a:t>40</a:t>
            </a:r>
            <a:endParaRPr lang="en-US" altLang="en-US"/>
          </a:p>
          <a:p>
            <a:pPr algn="l"/>
            <a:r>
              <a:rPr lang="en-US" altLang="en-US"/>
              <a:t>pass 3  -  90  67  </a:t>
            </a:r>
            <a:r>
              <a:rPr lang="en-US" altLang="en-US">
                <a:solidFill>
                  <a:schemeClr val="accent2"/>
                </a:solidFill>
              </a:rPr>
              <a:t>40 </a:t>
            </a:r>
            <a:r>
              <a:rPr lang="en-US" altLang="en-US"/>
              <a:t> 30  10  </a:t>
            </a:r>
            <a:r>
              <a:rPr lang="en-US" altLang="en-US">
                <a:solidFill>
                  <a:schemeClr val="accent2"/>
                </a:solidFill>
              </a:rPr>
              <a:t>20</a:t>
            </a:r>
            <a:endParaRPr lang="en-US" altLang="en-US"/>
          </a:p>
          <a:p>
            <a:pPr algn="l"/>
            <a:r>
              <a:rPr lang="en-US" altLang="en-US"/>
              <a:t>pass 4  -  90  67  40</a:t>
            </a:r>
            <a:r>
              <a:rPr lang="en-US" altLang="en-US">
                <a:solidFill>
                  <a:schemeClr val="accent2"/>
                </a:solidFill>
              </a:rPr>
              <a:t>  30  </a:t>
            </a:r>
            <a:r>
              <a:rPr lang="en-US" altLang="en-US"/>
              <a:t>10  20</a:t>
            </a:r>
          </a:p>
          <a:p>
            <a:pPr algn="l"/>
            <a:r>
              <a:rPr lang="en-US" altLang="en-US"/>
              <a:t>pass 5  -  90  67  40</a:t>
            </a:r>
            <a:r>
              <a:rPr lang="en-US" altLang="en-US">
                <a:solidFill>
                  <a:schemeClr val="accent2"/>
                </a:solidFill>
              </a:rPr>
              <a:t>  </a:t>
            </a:r>
            <a:r>
              <a:rPr lang="en-US" altLang="en-US"/>
              <a:t>30</a:t>
            </a:r>
            <a:r>
              <a:rPr lang="en-US" altLang="en-US">
                <a:solidFill>
                  <a:schemeClr val="accent2"/>
                </a:solidFill>
              </a:rPr>
              <a:t>  20</a:t>
            </a:r>
            <a:r>
              <a:rPr lang="en-US" altLang="en-US"/>
              <a:t>  </a:t>
            </a:r>
            <a:r>
              <a:rPr lang="en-US" altLang="en-US">
                <a:solidFill>
                  <a:schemeClr val="accent2"/>
                </a:solidFill>
              </a:rPr>
              <a:t>10</a:t>
            </a:r>
          </a:p>
          <a:p>
            <a:pPr algn="l"/>
            <a:r>
              <a:rPr lang="en-US" altLang="en-US"/>
              <a:t>pass 6  -  90  67  40</a:t>
            </a:r>
            <a:r>
              <a:rPr lang="en-US" altLang="en-US">
                <a:solidFill>
                  <a:schemeClr val="accent2"/>
                </a:solidFill>
              </a:rPr>
              <a:t>  </a:t>
            </a:r>
            <a:r>
              <a:rPr lang="en-US" altLang="en-US"/>
              <a:t>30</a:t>
            </a:r>
            <a:r>
              <a:rPr lang="en-US" altLang="en-US">
                <a:solidFill>
                  <a:schemeClr val="accent2"/>
                </a:solidFill>
              </a:rPr>
              <a:t>  </a:t>
            </a:r>
            <a:r>
              <a:rPr lang="en-US" altLang="en-US"/>
              <a:t>20  </a:t>
            </a:r>
            <a:r>
              <a:rPr lang="en-US" altLang="en-US">
                <a:solidFill>
                  <a:schemeClr val="accent2"/>
                </a:solidFill>
              </a:rPr>
              <a:t>10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WordArt 2">
            <a:extLst>
              <a:ext uri="{FF2B5EF4-FFF2-40B4-BE49-F238E27FC236}">
                <a16:creationId xmlns:a16="http://schemas.microsoft.com/office/drawing/2014/main" id="{43CE0A99-E8E6-37D6-9B07-3E2A37D4F11F}"/>
              </a:ext>
            </a:extLst>
          </p:cNvPr>
          <p:cNvSpPr>
            <a:spLocks noChangeArrowheads="1" noChangeShapeType="1" noTextEdit="1"/>
          </p:cNvSpPr>
          <p:nvPr/>
        </p:nvSpPr>
        <p:spPr bwMode="auto">
          <a:xfrm>
            <a:off x="228600" y="1524000"/>
            <a:ext cx="8686800" cy="3505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selectionsort.java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selectionsorttester.java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WordArt 2">
            <a:extLst>
              <a:ext uri="{FF2B5EF4-FFF2-40B4-BE49-F238E27FC236}">
                <a16:creationId xmlns:a16="http://schemas.microsoft.com/office/drawing/2014/main" id="{7A95BDD8-31DA-030A-0F3A-15561819433F}"/>
              </a:ext>
            </a:extLst>
          </p:cNvPr>
          <p:cNvSpPr>
            <a:spLocks noChangeArrowheads="1" noChangeShapeType="1" noTextEdit="1"/>
          </p:cNvSpPr>
          <p:nvPr/>
        </p:nvSpPr>
        <p:spPr bwMode="auto">
          <a:xfrm>
            <a:off x="685800" y="1828800"/>
            <a:ext cx="7848600" cy="2286000"/>
          </a:xfrm>
          <a:prstGeom prst="rect">
            <a:avLst/>
          </a:prstGeom>
        </p:spPr>
        <p:txBody>
          <a:bodyPr wrap="none" fromWordArt="1">
            <a:prstTxWarp prst="textPlain">
              <a:avLst>
                <a:gd name="adj" fmla="val 50000"/>
              </a:avLst>
            </a:prstTxWarp>
            <a:scene3d>
              <a:camera prst="legacyPerspectiveBottomRight">
                <a:rot lat="0" lon="21239990" rev="0"/>
              </a:camera>
              <a:lightRig rig="legacyHarsh3" dir="l"/>
            </a:scene3d>
            <a:sp3d extrusionH="430200" prstMaterial="legacyMatte">
              <a:extrusionClr>
                <a:srgbClr val="C0C0C0"/>
              </a:extrusionClr>
              <a:contourClr>
                <a:srgbClr val="DCEBF5"/>
              </a:contourClr>
            </a:sp3d>
          </a:bodyPr>
          <a:lstStyle/>
          <a:p>
            <a:r>
              <a:rPr lang="en-US" sz="3600" kern="10">
                <a:ln w="9525">
                  <a:round/>
                  <a:headEnd/>
                  <a:tailEnd/>
                </a:ln>
                <a:gradFill rotWithShape="1">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latin typeface="Arial Black" panose="020B0604020202020204" pitchFamily="34" charset="0"/>
                <a:cs typeface="Arial Black" panose="020B0604020202020204" pitchFamily="34" charset="0"/>
              </a:rPr>
              <a:t>The Insertion Sort</a:t>
            </a:r>
          </a:p>
        </p:txBody>
      </p:sp>
      <p:graphicFrame>
        <p:nvGraphicFramePr>
          <p:cNvPr id="214016" name="Object 0">
            <a:extLst>
              <a:ext uri="{FF2B5EF4-FFF2-40B4-BE49-F238E27FC236}">
                <a16:creationId xmlns:a16="http://schemas.microsoft.com/office/drawing/2014/main" id="{3F07101C-DF4A-C1B8-AB3A-2100C8623E79}"/>
              </a:ext>
            </a:extLst>
          </p:cNvPr>
          <p:cNvGraphicFramePr>
            <a:graphicFrameLocks noChangeAspect="1"/>
          </p:cNvGraphicFramePr>
          <p:nvPr/>
        </p:nvGraphicFramePr>
        <p:xfrm>
          <a:off x="1981200" y="4621213"/>
          <a:ext cx="3581400" cy="2000250"/>
        </p:xfrm>
        <a:graphic>
          <a:graphicData uri="http://schemas.openxmlformats.org/presentationml/2006/ole">
            <mc:AlternateContent xmlns:mc="http://schemas.openxmlformats.org/markup-compatibility/2006">
              <mc:Choice xmlns:v="urn:schemas-microsoft-com:vml" Requires="v">
                <p:oleObj name="Clip" r:id="rId3" imgW="32918400" imgH="18389600" progId="MS_ClipArt_Gallery.5">
                  <p:embed/>
                </p:oleObj>
              </mc:Choice>
              <mc:Fallback>
                <p:oleObj name="Clip" r:id="rId3" imgW="32918400" imgH="18389600" progId="MS_ClipArt_Gallery.5">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621213"/>
                        <a:ext cx="3581400" cy="200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p:cTn id="7" dur="5000" fill="hold"/>
                                        <p:tgtEl>
                                          <p:spTgt spid="16386"/>
                                        </p:tgtEl>
                                        <p:attrNameLst>
                                          <p:attrName>ppt_w</p:attrName>
                                        </p:attrNameLst>
                                      </p:cBhvr>
                                      <p:tavLst>
                                        <p:tav tm="0" fmla="#ppt_w*sin(2.5*pi*$)">
                                          <p:val>
                                            <p:fltVal val="0"/>
                                          </p:val>
                                        </p:tav>
                                        <p:tav tm="100000">
                                          <p:val>
                                            <p:fltVal val="1"/>
                                          </p:val>
                                        </p:tav>
                                      </p:tavLst>
                                    </p:anim>
                                    <p:anim calcmode="lin" valueType="num">
                                      <p:cBhvr>
                                        <p:cTn id="8" dur="5000" fill="hold"/>
                                        <p:tgtEl>
                                          <p:spTgt spid="1638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214016"/>
                                        </p:tgtEl>
                                        <p:attrNameLst>
                                          <p:attrName>style.visibility</p:attrName>
                                        </p:attrNameLst>
                                      </p:cBhvr>
                                      <p:to>
                                        <p:strVal val="visible"/>
                                      </p:to>
                                    </p:set>
                                    <p:animEffect transition="in" filter="checkerboard(across)">
                                      <p:cBhvr>
                                        <p:cTn id="13" dur="500"/>
                                        <p:tgtEl>
                                          <p:spTgt spid="214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ext Box 2">
            <a:extLst>
              <a:ext uri="{FF2B5EF4-FFF2-40B4-BE49-F238E27FC236}">
                <a16:creationId xmlns:a16="http://schemas.microsoft.com/office/drawing/2014/main" id="{D1914BF9-5482-FA4D-063D-7303F79D5021}"/>
              </a:ext>
            </a:extLst>
          </p:cNvPr>
          <p:cNvSpPr txBox="1">
            <a:spLocks noChangeArrowheads="1"/>
          </p:cNvSpPr>
          <p:nvPr/>
        </p:nvSpPr>
        <p:spPr bwMode="auto">
          <a:xfrm>
            <a:off x="609600" y="1981200"/>
            <a:ext cx="7721600" cy="320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3200"/>
          </a:p>
          <a:p>
            <a:endParaRPr lang="en-US" altLang="en-US" sz="3200">
              <a:solidFill>
                <a:schemeClr val="accent2"/>
              </a:solidFill>
            </a:endParaRPr>
          </a:p>
          <a:p>
            <a:r>
              <a:rPr lang="en-US" altLang="en-US">
                <a:latin typeface="Arial" panose="020B0604020202020204" pitchFamily="34" charset="0"/>
              </a:rPr>
              <a:t>The insertion sort first selects an item and</a:t>
            </a:r>
          </a:p>
          <a:p>
            <a:r>
              <a:rPr lang="en-US" altLang="en-US">
                <a:latin typeface="Arial" panose="020B0604020202020204" pitchFamily="34" charset="0"/>
              </a:rPr>
              <a:t>moves items up or down based on the</a:t>
            </a:r>
          </a:p>
          <a:p>
            <a:r>
              <a:rPr lang="en-US" altLang="en-US">
                <a:latin typeface="Arial" panose="020B0604020202020204" pitchFamily="34" charset="0"/>
              </a:rPr>
              <a:t>comparison to the selected item.</a:t>
            </a:r>
          </a:p>
          <a:p>
            <a:r>
              <a:rPr lang="en-US" altLang="en-US">
                <a:latin typeface="Arial" panose="020B0604020202020204" pitchFamily="34" charset="0"/>
              </a:rPr>
              <a:t>The idea is to get the selected item in proper</a:t>
            </a:r>
          </a:p>
          <a:p>
            <a:r>
              <a:rPr lang="en-US" altLang="en-US">
                <a:latin typeface="Arial" panose="020B0604020202020204" pitchFamily="34" charset="0"/>
              </a:rPr>
              <a:t>position by shifting items around in the list.</a:t>
            </a:r>
            <a:endParaRPr lang="en-US" altLang="en-US" sz="2400" b="0">
              <a:latin typeface="Times New Roman" panose="02020603050405020304" pitchFamily="18" charset="0"/>
            </a:endParaRPr>
          </a:p>
        </p:txBody>
      </p:sp>
      <p:sp>
        <p:nvSpPr>
          <p:cNvPr id="87042" name="WordArt 3">
            <a:extLst>
              <a:ext uri="{FF2B5EF4-FFF2-40B4-BE49-F238E27FC236}">
                <a16:creationId xmlns:a16="http://schemas.microsoft.com/office/drawing/2014/main" id="{63F04D97-5E45-342D-DB5C-E1DDCEE5D470}"/>
              </a:ext>
            </a:extLst>
          </p:cNvPr>
          <p:cNvSpPr>
            <a:spLocks noChangeArrowheads="1" noChangeShapeType="1" noTextEdit="1"/>
          </p:cNvSpPr>
          <p:nvPr/>
        </p:nvSpPr>
        <p:spPr bwMode="auto">
          <a:xfrm>
            <a:off x="1447800" y="1066800"/>
            <a:ext cx="5867400" cy="6858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Insertion Sort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ext Box 2">
            <a:extLst>
              <a:ext uri="{FF2B5EF4-FFF2-40B4-BE49-F238E27FC236}">
                <a16:creationId xmlns:a16="http://schemas.microsoft.com/office/drawing/2014/main" id="{1272D636-21B8-6FAD-8A9B-7FAD7CDADE2D}"/>
              </a:ext>
            </a:extLst>
          </p:cNvPr>
          <p:cNvSpPr txBox="1">
            <a:spLocks noChangeArrowheads="1"/>
          </p:cNvSpPr>
          <p:nvPr/>
        </p:nvSpPr>
        <p:spPr bwMode="auto">
          <a:xfrm>
            <a:off x="381000" y="360363"/>
            <a:ext cx="6954838"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t>void insertionSort( int[] stuff)</a:t>
            </a:r>
          </a:p>
          <a:p>
            <a:pPr algn="l"/>
            <a:r>
              <a:rPr lang="en-US" altLang="en-US"/>
              <a:t>{</a:t>
            </a:r>
          </a:p>
          <a:p>
            <a:pPr algn="l"/>
            <a:r>
              <a:rPr lang="en-US" altLang="en-US"/>
              <a:t>   for (int i=1; i&lt; stuff.length; ++i)</a:t>
            </a:r>
          </a:p>
          <a:p>
            <a:pPr algn="l"/>
            <a:r>
              <a:rPr lang="en-US" altLang="en-US"/>
              <a:t>   {</a:t>
            </a:r>
          </a:p>
          <a:p>
            <a:pPr algn="l"/>
            <a:r>
              <a:rPr lang="en-US" altLang="en-US"/>
              <a:t>      int val = stuff[i];</a:t>
            </a:r>
          </a:p>
          <a:p>
            <a:pPr algn="l"/>
            <a:r>
              <a:rPr lang="en-US" altLang="en-US"/>
              <a:t>      int j=i;</a:t>
            </a:r>
          </a:p>
          <a:p>
            <a:pPr algn="l"/>
            <a:r>
              <a:rPr lang="en-US" altLang="en-US"/>
              <a:t>      while(j&gt;0&amp;&amp;val&lt;stuff[j-1]){         </a:t>
            </a:r>
          </a:p>
          <a:p>
            <a:pPr algn="l"/>
            <a:r>
              <a:rPr lang="en-US" altLang="en-US"/>
              <a:t>         stuff[j]=stuff[j-1];</a:t>
            </a:r>
          </a:p>
          <a:p>
            <a:pPr algn="l"/>
            <a:r>
              <a:rPr lang="en-US" altLang="en-US"/>
              <a:t>         j--;</a:t>
            </a:r>
          </a:p>
          <a:p>
            <a:pPr algn="l"/>
            <a:r>
              <a:rPr lang="en-US" altLang="en-US"/>
              <a:t>      }</a:t>
            </a:r>
          </a:p>
          <a:p>
            <a:pPr algn="l"/>
            <a:r>
              <a:rPr lang="en-US" altLang="en-US"/>
              <a:t>      stuff[j]=val;</a:t>
            </a:r>
          </a:p>
          <a:p>
            <a:pPr algn="l"/>
            <a:r>
              <a:rPr lang="en-US" altLang="en-US"/>
              <a:t>   }</a:t>
            </a:r>
          </a:p>
          <a:p>
            <a:pPr algn="l"/>
            <a:r>
              <a:rPr lang="en-US" altLang="en-US"/>
              <a:t>}</a:t>
            </a:r>
          </a:p>
        </p:txBody>
      </p:sp>
      <p:sp>
        <p:nvSpPr>
          <p:cNvPr id="89090" name="WordArt 3">
            <a:extLst>
              <a:ext uri="{FF2B5EF4-FFF2-40B4-BE49-F238E27FC236}">
                <a16:creationId xmlns:a16="http://schemas.microsoft.com/office/drawing/2014/main" id="{46E650CB-3054-6CF8-45F2-D940F73619FA}"/>
              </a:ext>
            </a:extLst>
          </p:cNvPr>
          <p:cNvSpPr>
            <a:spLocks noChangeArrowheads="1" noChangeShapeType="1" noTextEdit="1"/>
          </p:cNvSpPr>
          <p:nvPr/>
        </p:nvSpPr>
        <p:spPr bwMode="auto">
          <a:xfrm>
            <a:off x="5562600" y="5029200"/>
            <a:ext cx="3000375" cy="1219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Insertion</a:t>
            </a:r>
          </a:p>
          <a:p>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w/primitives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ext Box 2">
            <a:extLst>
              <a:ext uri="{FF2B5EF4-FFF2-40B4-BE49-F238E27FC236}">
                <a16:creationId xmlns:a16="http://schemas.microsoft.com/office/drawing/2014/main" id="{99F2C032-8A02-4185-B1D2-869D85649378}"/>
              </a:ext>
            </a:extLst>
          </p:cNvPr>
          <p:cNvSpPr txBox="1">
            <a:spLocks noChangeArrowheads="1"/>
          </p:cNvSpPr>
          <p:nvPr/>
        </p:nvSpPr>
        <p:spPr bwMode="auto">
          <a:xfrm>
            <a:off x="473075" y="228600"/>
            <a:ext cx="7720013" cy="649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t>void insertionSort( Comparable[] stuff){</a:t>
            </a:r>
          </a:p>
          <a:p>
            <a:pPr algn="l"/>
            <a:r>
              <a:rPr lang="en-US" altLang="en-US"/>
              <a:t>  for (int i=1; i&lt; stuff.length; ++i){</a:t>
            </a:r>
          </a:p>
          <a:p>
            <a:pPr algn="l"/>
            <a:r>
              <a:rPr lang="en-US" altLang="en-US"/>
              <a:t>    int bot=0, top=i-1;</a:t>
            </a:r>
          </a:p>
          <a:p>
            <a:pPr algn="l"/>
            <a:r>
              <a:rPr lang="en-US" altLang="en-US"/>
              <a:t>    while (bot&lt;=top){</a:t>
            </a:r>
          </a:p>
          <a:p>
            <a:pPr algn="l"/>
            <a:r>
              <a:rPr lang="en-US" altLang="en-US"/>
              <a:t>      int mid=(bot+top)/2;</a:t>
            </a:r>
          </a:p>
          <a:p>
            <a:pPr algn="l"/>
            <a:r>
              <a:rPr lang="en-US" altLang="en-US"/>
              <a:t>      if (stuff[mid].</a:t>
            </a:r>
            <a:r>
              <a:rPr lang="en-US" altLang="en-US">
                <a:solidFill>
                  <a:srgbClr val="FF3300"/>
                </a:solidFill>
              </a:rPr>
              <a:t>compareTo</a:t>
            </a:r>
            <a:r>
              <a:rPr lang="en-US" altLang="en-US"/>
              <a:t>(stuff[ i ])&lt;0)</a:t>
            </a:r>
          </a:p>
          <a:p>
            <a:pPr algn="l"/>
            <a:r>
              <a:rPr lang="en-US" altLang="en-US"/>
              <a:t>        bot=mid+1;</a:t>
            </a:r>
          </a:p>
          <a:p>
            <a:pPr algn="l"/>
            <a:r>
              <a:rPr lang="en-US" altLang="en-US"/>
              <a:t>      else top=mid-1;</a:t>
            </a:r>
          </a:p>
          <a:p>
            <a:pPr algn="l"/>
            <a:r>
              <a:rPr lang="en-US" altLang="en-US"/>
              <a:t>    }</a:t>
            </a:r>
          </a:p>
          <a:p>
            <a:pPr algn="l"/>
            <a:r>
              <a:rPr lang="en-US" altLang="en-US"/>
              <a:t>    Comparable temp= stuff[i];</a:t>
            </a:r>
          </a:p>
          <a:p>
            <a:pPr algn="l"/>
            <a:r>
              <a:rPr lang="en-US" altLang="en-US"/>
              <a:t>    for (int j=i; j&gt;bot; --j)</a:t>
            </a:r>
          </a:p>
          <a:p>
            <a:pPr algn="l"/>
            <a:r>
              <a:rPr lang="en-US" altLang="en-US"/>
              <a:t>      stuff[ j]= stuff[ j-1];</a:t>
            </a:r>
          </a:p>
          <a:p>
            <a:pPr algn="l"/>
            <a:r>
              <a:rPr lang="en-US" altLang="en-US"/>
              <a:t>    stuff[bot]=temp;</a:t>
            </a:r>
          </a:p>
          <a:p>
            <a:pPr algn="l"/>
            <a:r>
              <a:rPr lang="en-US" altLang="en-US"/>
              <a:t>  }</a:t>
            </a:r>
          </a:p>
          <a:p>
            <a:pPr algn="l"/>
            <a:endParaRPr lang="en-US" altLang="en-US"/>
          </a:p>
        </p:txBody>
      </p:sp>
      <p:sp>
        <p:nvSpPr>
          <p:cNvPr id="91138" name="WordArt 3">
            <a:extLst>
              <a:ext uri="{FF2B5EF4-FFF2-40B4-BE49-F238E27FC236}">
                <a16:creationId xmlns:a16="http://schemas.microsoft.com/office/drawing/2014/main" id="{692217C8-5DC5-EB8E-64C1-FD58BFB55166}"/>
              </a:ext>
            </a:extLst>
          </p:cNvPr>
          <p:cNvSpPr>
            <a:spLocks noChangeArrowheads="1" noChangeShapeType="1" noTextEdit="1"/>
          </p:cNvSpPr>
          <p:nvPr/>
        </p:nvSpPr>
        <p:spPr bwMode="auto">
          <a:xfrm>
            <a:off x="5562600" y="5029200"/>
            <a:ext cx="3000375" cy="1219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Insertion</a:t>
            </a:r>
          </a:p>
          <a:p>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w/Objects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WordArt 2">
            <a:extLst>
              <a:ext uri="{FF2B5EF4-FFF2-40B4-BE49-F238E27FC236}">
                <a16:creationId xmlns:a16="http://schemas.microsoft.com/office/drawing/2014/main" id="{6EFC8DE3-378B-D80C-E384-32427D86A291}"/>
              </a:ext>
            </a:extLst>
          </p:cNvPr>
          <p:cNvSpPr>
            <a:spLocks noChangeArrowheads="1" noChangeShapeType="1" noTextEdit="1"/>
          </p:cNvSpPr>
          <p:nvPr/>
        </p:nvSpPr>
        <p:spPr bwMode="auto">
          <a:xfrm>
            <a:off x="228600" y="1524000"/>
            <a:ext cx="8686800" cy="3505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insertionsort.java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insertionsorttester.java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WordArt 2">
            <a:extLst>
              <a:ext uri="{FF2B5EF4-FFF2-40B4-BE49-F238E27FC236}">
                <a16:creationId xmlns:a16="http://schemas.microsoft.com/office/drawing/2014/main" id="{8A834B4C-1E8C-E687-1891-29C640FA651E}"/>
              </a:ext>
            </a:extLst>
          </p:cNvPr>
          <p:cNvSpPr>
            <a:spLocks noChangeArrowheads="1" noChangeShapeType="1" noTextEdit="1"/>
          </p:cNvSpPr>
          <p:nvPr/>
        </p:nvSpPr>
        <p:spPr bwMode="auto">
          <a:xfrm>
            <a:off x="1066800" y="1600200"/>
            <a:ext cx="6934200" cy="32004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Divide and Conquer</a:t>
            </a:r>
          </a:p>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Algorithms</a:t>
            </a:r>
          </a:p>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 0 ( N Log2N )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ext Box 2">
            <a:extLst>
              <a:ext uri="{FF2B5EF4-FFF2-40B4-BE49-F238E27FC236}">
                <a16:creationId xmlns:a16="http://schemas.microsoft.com/office/drawing/2014/main" id="{F32823A1-C663-F2FF-DEE2-42427DDEFB29}"/>
              </a:ext>
            </a:extLst>
          </p:cNvPr>
          <p:cNvSpPr txBox="1">
            <a:spLocks noChangeArrowheads="1"/>
          </p:cNvSpPr>
          <p:nvPr/>
        </p:nvSpPr>
        <p:spPr bwMode="auto">
          <a:xfrm>
            <a:off x="2895600" y="1752600"/>
            <a:ext cx="3352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spcBef>
                <a:spcPct val="50000"/>
              </a:spcBef>
            </a:pPr>
            <a:endParaRPr lang="en-US" altLang="en-US" b="0"/>
          </a:p>
        </p:txBody>
      </p:sp>
      <p:sp>
        <p:nvSpPr>
          <p:cNvPr id="97282" name="Text Box 3">
            <a:extLst>
              <a:ext uri="{FF2B5EF4-FFF2-40B4-BE49-F238E27FC236}">
                <a16:creationId xmlns:a16="http://schemas.microsoft.com/office/drawing/2014/main" id="{B9EB1168-21A4-609F-2A00-F66166511ABD}"/>
              </a:ext>
            </a:extLst>
          </p:cNvPr>
          <p:cNvSpPr txBox="1">
            <a:spLocks noChangeArrowheads="1"/>
          </p:cNvSpPr>
          <p:nvPr/>
        </p:nvSpPr>
        <p:spPr bwMode="auto">
          <a:xfrm>
            <a:off x="4267200" y="1752600"/>
            <a:ext cx="571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32</a:t>
            </a:r>
            <a:endParaRPr lang="en-US" altLang="en-US" b="0"/>
          </a:p>
        </p:txBody>
      </p:sp>
      <p:sp>
        <p:nvSpPr>
          <p:cNvPr id="97283" name="Text Box 4">
            <a:extLst>
              <a:ext uri="{FF2B5EF4-FFF2-40B4-BE49-F238E27FC236}">
                <a16:creationId xmlns:a16="http://schemas.microsoft.com/office/drawing/2014/main" id="{25E21F4C-3C6F-520D-E06C-4F7164BE8540}"/>
              </a:ext>
            </a:extLst>
          </p:cNvPr>
          <p:cNvSpPr txBox="1">
            <a:spLocks noChangeArrowheads="1"/>
          </p:cNvSpPr>
          <p:nvPr/>
        </p:nvSpPr>
        <p:spPr bwMode="auto">
          <a:xfrm>
            <a:off x="2117725" y="2419350"/>
            <a:ext cx="571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16</a:t>
            </a:r>
            <a:endParaRPr lang="en-US" altLang="en-US" b="0"/>
          </a:p>
        </p:txBody>
      </p:sp>
      <p:sp>
        <p:nvSpPr>
          <p:cNvPr id="97284" name="Text Box 5">
            <a:extLst>
              <a:ext uri="{FF2B5EF4-FFF2-40B4-BE49-F238E27FC236}">
                <a16:creationId xmlns:a16="http://schemas.microsoft.com/office/drawing/2014/main" id="{21433410-40DA-9356-303C-D7F8CFF2338A}"/>
              </a:ext>
            </a:extLst>
          </p:cNvPr>
          <p:cNvSpPr txBox="1">
            <a:spLocks noChangeArrowheads="1"/>
          </p:cNvSpPr>
          <p:nvPr/>
        </p:nvSpPr>
        <p:spPr bwMode="auto">
          <a:xfrm>
            <a:off x="6172200" y="2514600"/>
            <a:ext cx="571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16</a:t>
            </a:r>
            <a:endParaRPr lang="en-US" altLang="en-US" b="0"/>
          </a:p>
        </p:txBody>
      </p:sp>
      <p:sp>
        <p:nvSpPr>
          <p:cNvPr id="97285" name="Text Box 6">
            <a:extLst>
              <a:ext uri="{FF2B5EF4-FFF2-40B4-BE49-F238E27FC236}">
                <a16:creationId xmlns:a16="http://schemas.microsoft.com/office/drawing/2014/main" id="{B6E0AB36-320E-81EA-C84F-59E0A5E4BC7A}"/>
              </a:ext>
            </a:extLst>
          </p:cNvPr>
          <p:cNvSpPr txBox="1">
            <a:spLocks noChangeArrowheads="1"/>
          </p:cNvSpPr>
          <p:nvPr/>
        </p:nvSpPr>
        <p:spPr bwMode="auto">
          <a:xfrm>
            <a:off x="1203325" y="325755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8</a:t>
            </a:r>
            <a:endParaRPr lang="en-US" altLang="en-US" b="0"/>
          </a:p>
        </p:txBody>
      </p:sp>
      <p:sp>
        <p:nvSpPr>
          <p:cNvPr id="97286" name="Text Box 7">
            <a:extLst>
              <a:ext uri="{FF2B5EF4-FFF2-40B4-BE49-F238E27FC236}">
                <a16:creationId xmlns:a16="http://schemas.microsoft.com/office/drawing/2014/main" id="{0A166D15-34BC-5EB5-EDA0-49CC7C91B0F6}"/>
              </a:ext>
            </a:extLst>
          </p:cNvPr>
          <p:cNvSpPr txBox="1">
            <a:spLocks noChangeArrowheads="1"/>
          </p:cNvSpPr>
          <p:nvPr/>
        </p:nvSpPr>
        <p:spPr bwMode="auto">
          <a:xfrm>
            <a:off x="2895600" y="327660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8</a:t>
            </a:r>
            <a:endParaRPr lang="en-US" altLang="en-US" b="0"/>
          </a:p>
        </p:txBody>
      </p:sp>
      <p:sp>
        <p:nvSpPr>
          <p:cNvPr id="97287" name="Text Box 8">
            <a:extLst>
              <a:ext uri="{FF2B5EF4-FFF2-40B4-BE49-F238E27FC236}">
                <a16:creationId xmlns:a16="http://schemas.microsoft.com/office/drawing/2014/main" id="{7E7156B5-36F9-45CB-CA1F-12F6604C4BAF}"/>
              </a:ext>
            </a:extLst>
          </p:cNvPr>
          <p:cNvSpPr txBox="1">
            <a:spLocks noChangeArrowheads="1"/>
          </p:cNvSpPr>
          <p:nvPr/>
        </p:nvSpPr>
        <p:spPr bwMode="auto">
          <a:xfrm>
            <a:off x="5318125" y="318135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8</a:t>
            </a:r>
            <a:endParaRPr lang="en-US" altLang="en-US" b="0"/>
          </a:p>
        </p:txBody>
      </p:sp>
      <p:sp>
        <p:nvSpPr>
          <p:cNvPr id="97288" name="Text Box 9">
            <a:extLst>
              <a:ext uri="{FF2B5EF4-FFF2-40B4-BE49-F238E27FC236}">
                <a16:creationId xmlns:a16="http://schemas.microsoft.com/office/drawing/2014/main" id="{02FCAB16-F632-24C8-7392-6A2D817CA95C}"/>
              </a:ext>
            </a:extLst>
          </p:cNvPr>
          <p:cNvSpPr txBox="1">
            <a:spLocks noChangeArrowheads="1"/>
          </p:cNvSpPr>
          <p:nvPr/>
        </p:nvSpPr>
        <p:spPr bwMode="auto">
          <a:xfrm>
            <a:off x="7299325" y="318135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8</a:t>
            </a:r>
            <a:endParaRPr lang="en-US" altLang="en-US" b="0"/>
          </a:p>
        </p:txBody>
      </p:sp>
      <p:sp>
        <p:nvSpPr>
          <p:cNvPr id="97289" name="Text Box 10">
            <a:extLst>
              <a:ext uri="{FF2B5EF4-FFF2-40B4-BE49-F238E27FC236}">
                <a16:creationId xmlns:a16="http://schemas.microsoft.com/office/drawing/2014/main" id="{ADC15F83-3B25-21DC-DCD1-FC928E3BDD8B}"/>
              </a:ext>
            </a:extLst>
          </p:cNvPr>
          <p:cNvSpPr txBox="1">
            <a:spLocks noChangeArrowheads="1"/>
          </p:cNvSpPr>
          <p:nvPr/>
        </p:nvSpPr>
        <p:spPr bwMode="auto">
          <a:xfrm>
            <a:off x="822325" y="394335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4</a:t>
            </a:r>
            <a:endParaRPr lang="en-US" altLang="en-US" b="0"/>
          </a:p>
        </p:txBody>
      </p:sp>
      <p:sp>
        <p:nvSpPr>
          <p:cNvPr id="97290" name="Text Box 11">
            <a:extLst>
              <a:ext uri="{FF2B5EF4-FFF2-40B4-BE49-F238E27FC236}">
                <a16:creationId xmlns:a16="http://schemas.microsoft.com/office/drawing/2014/main" id="{FF1C1A17-54F6-C212-4D6C-1A9D2148BDD6}"/>
              </a:ext>
            </a:extLst>
          </p:cNvPr>
          <p:cNvSpPr txBox="1">
            <a:spLocks noChangeArrowheads="1"/>
          </p:cNvSpPr>
          <p:nvPr/>
        </p:nvSpPr>
        <p:spPr bwMode="auto">
          <a:xfrm>
            <a:off x="1431925" y="394335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4</a:t>
            </a:r>
            <a:endParaRPr lang="en-US" altLang="en-US" b="0"/>
          </a:p>
        </p:txBody>
      </p:sp>
      <p:sp>
        <p:nvSpPr>
          <p:cNvPr id="97291" name="Text Box 12">
            <a:extLst>
              <a:ext uri="{FF2B5EF4-FFF2-40B4-BE49-F238E27FC236}">
                <a16:creationId xmlns:a16="http://schemas.microsoft.com/office/drawing/2014/main" id="{E0D0EB64-4F19-458E-8F7B-0BCD4C859D85}"/>
              </a:ext>
            </a:extLst>
          </p:cNvPr>
          <p:cNvSpPr txBox="1">
            <a:spLocks noChangeArrowheads="1"/>
          </p:cNvSpPr>
          <p:nvPr/>
        </p:nvSpPr>
        <p:spPr bwMode="auto">
          <a:xfrm>
            <a:off x="2590800" y="388620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4</a:t>
            </a:r>
            <a:endParaRPr lang="en-US" altLang="en-US" b="0"/>
          </a:p>
        </p:txBody>
      </p:sp>
      <p:sp>
        <p:nvSpPr>
          <p:cNvPr id="97292" name="Text Box 13">
            <a:extLst>
              <a:ext uri="{FF2B5EF4-FFF2-40B4-BE49-F238E27FC236}">
                <a16:creationId xmlns:a16="http://schemas.microsoft.com/office/drawing/2014/main" id="{9BC6B515-6E1E-0305-A546-B6D0BDEAED0E}"/>
              </a:ext>
            </a:extLst>
          </p:cNvPr>
          <p:cNvSpPr txBox="1">
            <a:spLocks noChangeArrowheads="1"/>
          </p:cNvSpPr>
          <p:nvPr/>
        </p:nvSpPr>
        <p:spPr bwMode="auto">
          <a:xfrm>
            <a:off x="3352800" y="388620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4</a:t>
            </a:r>
            <a:endParaRPr lang="en-US" altLang="en-US" b="0"/>
          </a:p>
        </p:txBody>
      </p:sp>
      <p:sp>
        <p:nvSpPr>
          <p:cNvPr id="97293" name="Text Box 14">
            <a:extLst>
              <a:ext uri="{FF2B5EF4-FFF2-40B4-BE49-F238E27FC236}">
                <a16:creationId xmlns:a16="http://schemas.microsoft.com/office/drawing/2014/main" id="{D4FE94E7-2433-620B-D642-317AA5B5F03D}"/>
              </a:ext>
            </a:extLst>
          </p:cNvPr>
          <p:cNvSpPr txBox="1">
            <a:spLocks noChangeArrowheads="1"/>
          </p:cNvSpPr>
          <p:nvPr/>
        </p:nvSpPr>
        <p:spPr bwMode="auto">
          <a:xfrm>
            <a:off x="4953000" y="381000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4</a:t>
            </a:r>
            <a:endParaRPr lang="en-US" altLang="en-US" b="0"/>
          </a:p>
        </p:txBody>
      </p:sp>
      <p:sp>
        <p:nvSpPr>
          <p:cNvPr id="97294" name="Text Box 15">
            <a:extLst>
              <a:ext uri="{FF2B5EF4-FFF2-40B4-BE49-F238E27FC236}">
                <a16:creationId xmlns:a16="http://schemas.microsoft.com/office/drawing/2014/main" id="{CB8E45D0-4AD0-E7D9-418D-8105B174C066}"/>
              </a:ext>
            </a:extLst>
          </p:cNvPr>
          <p:cNvSpPr txBox="1">
            <a:spLocks noChangeArrowheads="1"/>
          </p:cNvSpPr>
          <p:nvPr/>
        </p:nvSpPr>
        <p:spPr bwMode="auto">
          <a:xfrm>
            <a:off x="5715000" y="381000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4</a:t>
            </a:r>
            <a:endParaRPr lang="en-US" altLang="en-US" b="0"/>
          </a:p>
        </p:txBody>
      </p:sp>
      <p:sp>
        <p:nvSpPr>
          <p:cNvPr id="97295" name="Text Box 16">
            <a:extLst>
              <a:ext uri="{FF2B5EF4-FFF2-40B4-BE49-F238E27FC236}">
                <a16:creationId xmlns:a16="http://schemas.microsoft.com/office/drawing/2014/main" id="{BB56BCD4-A543-0D9B-AC99-8D58BD4A3314}"/>
              </a:ext>
            </a:extLst>
          </p:cNvPr>
          <p:cNvSpPr txBox="1">
            <a:spLocks noChangeArrowheads="1"/>
          </p:cNvSpPr>
          <p:nvPr/>
        </p:nvSpPr>
        <p:spPr bwMode="auto">
          <a:xfrm>
            <a:off x="6934200" y="381000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4</a:t>
            </a:r>
            <a:endParaRPr lang="en-US" altLang="en-US" b="0"/>
          </a:p>
        </p:txBody>
      </p:sp>
      <p:sp>
        <p:nvSpPr>
          <p:cNvPr id="97296" name="Text Box 17">
            <a:extLst>
              <a:ext uri="{FF2B5EF4-FFF2-40B4-BE49-F238E27FC236}">
                <a16:creationId xmlns:a16="http://schemas.microsoft.com/office/drawing/2014/main" id="{9F3785B4-0CB0-358E-46F6-9896B73581C4}"/>
              </a:ext>
            </a:extLst>
          </p:cNvPr>
          <p:cNvSpPr txBox="1">
            <a:spLocks noChangeArrowheads="1"/>
          </p:cNvSpPr>
          <p:nvPr/>
        </p:nvSpPr>
        <p:spPr bwMode="auto">
          <a:xfrm>
            <a:off x="7756525" y="3790950"/>
            <a:ext cx="377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b="0"/>
              <a:t>4</a:t>
            </a:r>
            <a:endParaRPr lang="en-US" altLang="en-US" b="0"/>
          </a:p>
        </p:txBody>
      </p:sp>
      <p:pic>
        <p:nvPicPr>
          <p:cNvPr id="97297" name="Picture 18" descr="pcs_popular_134">
            <a:extLst>
              <a:ext uri="{FF2B5EF4-FFF2-40B4-BE49-F238E27FC236}">
                <a16:creationId xmlns:a16="http://schemas.microsoft.com/office/drawing/2014/main" id="{3673EB13-AB01-CCE7-2F54-C468014D28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724400"/>
            <a:ext cx="33528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98" name="WordArt 19">
            <a:extLst>
              <a:ext uri="{FF2B5EF4-FFF2-40B4-BE49-F238E27FC236}">
                <a16:creationId xmlns:a16="http://schemas.microsoft.com/office/drawing/2014/main" id="{0D8113A2-BBE7-78D2-E0CA-A7F91E1A6F1F}"/>
              </a:ext>
            </a:extLst>
          </p:cNvPr>
          <p:cNvSpPr>
            <a:spLocks noChangeArrowheads="1" noChangeShapeType="1" noTextEdit="1"/>
          </p:cNvSpPr>
          <p:nvPr/>
        </p:nvSpPr>
        <p:spPr bwMode="auto">
          <a:xfrm>
            <a:off x="1219200" y="609600"/>
            <a:ext cx="6553200" cy="838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Divide and Conquer</a:t>
            </a:r>
          </a:p>
        </p:txBody>
      </p:sp>
      <p:sp>
        <p:nvSpPr>
          <p:cNvPr id="97299" name="Line 20">
            <a:extLst>
              <a:ext uri="{FF2B5EF4-FFF2-40B4-BE49-F238E27FC236}">
                <a16:creationId xmlns:a16="http://schemas.microsoft.com/office/drawing/2014/main" id="{814DD434-B7E7-1996-DAE0-1040B54876EB}"/>
              </a:ext>
            </a:extLst>
          </p:cNvPr>
          <p:cNvSpPr>
            <a:spLocks noChangeShapeType="1"/>
          </p:cNvSpPr>
          <p:nvPr/>
        </p:nvSpPr>
        <p:spPr bwMode="auto">
          <a:xfrm flipH="1">
            <a:off x="1524000" y="2819400"/>
            <a:ext cx="533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0" name="Line 21">
            <a:extLst>
              <a:ext uri="{FF2B5EF4-FFF2-40B4-BE49-F238E27FC236}">
                <a16:creationId xmlns:a16="http://schemas.microsoft.com/office/drawing/2014/main" id="{329A348E-3BF8-B3CD-72B4-91F27FE82F2D}"/>
              </a:ext>
            </a:extLst>
          </p:cNvPr>
          <p:cNvSpPr>
            <a:spLocks noChangeShapeType="1"/>
          </p:cNvSpPr>
          <p:nvPr/>
        </p:nvSpPr>
        <p:spPr bwMode="auto">
          <a:xfrm>
            <a:off x="2667000" y="2743200"/>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1" name="Line 22">
            <a:extLst>
              <a:ext uri="{FF2B5EF4-FFF2-40B4-BE49-F238E27FC236}">
                <a16:creationId xmlns:a16="http://schemas.microsoft.com/office/drawing/2014/main" id="{B3FAC1EF-A6CE-F4EC-1F66-89B02EA86D42}"/>
              </a:ext>
            </a:extLst>
          </p:cNvPr>
          <p:cNvSpPr>
            <a:spLocks noChangeShapeType="1"/>
          </p:cNvSpPr>
          <p:nvPr/>
        </p:nvSpPr>
        <p:spPr bwMode="auto">
          <a:xfrm flipH="1">
            <a:off x="2743200" y="1981200"/>
            <a:ext cx="1524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2" name="Line 23">
            <a:extLst>
              <a:ext uri="{FF2B5EF4-FFF2-40B4-BE49-F238E27FC236}">
                <a16:creationId xmlns:a16="http://schemas.microsoft.com/office/drawing/2014/main" id="{352013B0-2FD7-0CC9-2D46-231C8358035E}"/>
              </a:ext>
            </a:extLst>
          </p:cNvPr>
          <p:cNvSpPr>
            <a:spLocks noChangeShapeType="1"/>
          </p:cNvSpPr>
          <p:nvPr/>
        </p:nvSpPr>
        <p:spPr bwMode="auto">
          <a:xfrm>
            <a:off x="4876800" y="1981200"/>
            <a:ext cx="12954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3" name="Line 24">
            <a:extLst>
              <a:ext uri="{FF2B5EF4-FFF2-40B4-BE49-F238E27FC236}">
                <a16:creationId xmlns:a16="http://schemas.microsoft.com/office/drawing/2014/main" id="{5843E3A0-3FD1-E1EA-0A54-F152E6F164ED}"/>
              </a:ext>
            </a:extLst>
          </p:cNvPr>
          <p:cNvSpPr>
            <a:spLocks noChangeShapeType="1"/>
          </p:cNvSpPr>
          <p:nvPr/>
        </p:nvSpPr>
        <p:spPr bwMode="auto">
          <a:xfrm flipH="1">
            <a:off x="1066800" y="365760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4" name="Line 25">
            <a:extLst>
              <a:ext uri="{FF2B5EF4-FFF2-40B4-BE49-F238E27FC236}">
                <a16:creationId xmlns:a16="http://schemas.microsoft.com/office/drawing/2014/main" id="{91FD8689-E539-8CB2-5989-CA0C8D14CC44}"/>
              </a:ext>
            </a:extLst>
          </p:cNvPr>
          <p:cNvSpPr>
            <a:spLocks noChangeShapeType="1"/>
          </p:cNvSpPr>
          <p:nvPr/>
        </p:nvSpPr>
        <p:spPr bwMode="auto">
          <a:xfrm>
            <a:off x="1524000" y="365760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5" name="Line 26">
            <a:extLst>
              <a:ext uri="{FF2B5EF4-FFF2-40B4-BE49-F238E27FC236}">
                <a16:creationId xmlns:a16="http://schemas.microsoft.com/office/drawing/2014/main" id="{60FD0EF5-5405-AC5F-53EA-6093140E35BE}"/>
              </a:ext>
            </a:extLst>
          </p:cNvPr>
          <p:cNvSpPr>
            <a:spLocks noChangeShapeType="1"/>
          </p:cNvSpPr>
          <p:nvPr/>
        </p:nvSpPr>
        <p:spPr bwMode="auto">
          <a:xfrm flipH="1">
            <a:off x="2819400" y="3657600"/>
            <a:ext cx="152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6" name="Line 27">
            <a:extLst>
              <a:ext uri="{FF2B5EF4-FFF2-40B4-BE49-F238E27FC236}">
                <a16:creationId xmlns:a16="http://schemas.microsoft.com/office/drawing/2014/main" id="{760B4BF9-4148-00E1-E91B-4EFD12E146CB}"/>
              </a:ext>
            </a:extLst>
          </p:cNvPr>
          <p:cNvSpPr>
            <a:spLocks noChangeShapeType="1"/>
          </p:cNvSpPr>
          <p:nvPr/>
        </p:nvSpPr>
        <p:spPr bwMode="auto">
          <a:xfrm>
            <a:off x="3276600" y="3581400"/>
            <a:ext cx="228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7" name="Line 28">
            <a:extLst>
              <a:ext uri="{FF2B5EF4-FFF2-40B4-BE49-F238E27FC236}">
                <a16:creationId xmlns:a16="http://schemas.microsoft.com/office/drawing/2014/main" id="{9CB1DF06-7275-BD69-8E03-3A497DC4E2E2}"/>
              </a:ext>
            </a:extLst>
          </p:cNvPr>
          <p:cNvSpPr>
            <a:spLocks noChangeShapeType="1"/>
          </p:cNvSpPr>
          <p:nvPr/>
        </p:nvSpPr>
        <p:spPr bwMode="auto">
          <a:xfrm flipH="1">
            <a:off x="5181600" y="3581400"/>
            <a:ext cx="152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8" name="Line 29">
            <a:extLst>
              <a:ext uri="{FF2B5EF4-FFF2-40B4-BE49-F238E27FC236}">
                <a16:creationId xmlns:a16="http://schemas.microsoft.com/office/drawing/2014/main" id="{E8DE4BB4-F8C8-AF3A-8CB2-4D97477994CC}"/>
              </a:ext>
            </a:extLst>
          </p:cNvPr>
          <p:cNvSpPr>
            <a:spLocks noChangeShapeType="1"/>
          </p:cNvSpPr>
          <p:nvPr/>
        </p:nvSpPr>
        <p:spPr bwMode="auto">
          <a:xfrm>
            <a:off x="5638800" y="3581400"/>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9" name="Line 30">
            <a:extLst>
              <a:ext uri="{FF2B5EF4-FFF2-40B4-BE49-F238E27FC236}">
                <a16:creationId xmlns:a16="http://schemas.microsoft.com/office/drawing/2014/main" id="{424B985D-7257-8B65-582A-B67F8A08320B}"/>
              </a:ext>
            </a:extLst>
          </p:cNvPr>
          <p:cNvSpPr>
            <a:spLocks noChangeShapeType="1"/>
          </p:cNvSpPr>
          <p:nvPr/>
        </p:nvSpPr>
        <p:spPr bwMode="auto">
          <a:xfrm flipH="1">
            <a:off x="5715000" y="2895600"/>
            <a:ext cx="533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0" name="Line 31">
            <a:extLst>
              <a:ext uri="{FF2B5EF4-FFF2-40B4-BE49-F238E27FC236}">
                <a16:creationId xmlns:a16="http://schemas.microsoft.com/office/drawing/2014/main" id="{E2767E7A-FDD2-585F-763D-CAB0FB48F404}"/>
              </a:ext>
            </a:extLst>
          </p:cNvPr>
          <p:cNvSpPr>
            <a:spLocks noChangeShapeType="1"/>
          </p:cNvSpPr>
          <p:nvPr/>
        </p:nvSpPr>
        <p:spPr bwMode="auto">
          <a:xfrm>
            <a:off x="6705600" y="2819400"/>
            <a:ext cx="533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1" name="Line 32">
            <a:extLst>
              <a:ext uri="{FF2B5EF4-FFF2-40B4-BE49-F238E27FC236}">
                <a16:creationId xmlns:a16="http://schemas.microsoft.com/office/drawing/2014/main" id="{E7907CDD-9CF4-ACC5-3FAA-88419DBE2EA6}"/>
              </a:ext>
            </a:extLst>
          </p:cNvPr>
          <p:cNvSpPr>
            <a:spLocks noChangeShapeType="1"/>
          </p:cNvSpPr>
          <p:nvPr/>
        </p:nvSpPr>
        <p:spPr bwMode="auto">
          <a:xfrm flipH="1">
            <a:off x="7162800" y="358140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2" name="Line 33">
            <a:extLst>
              <a:ext uri="{FF2B5EF4-FFF2-40B4-BE49-F238E27FC236}">
                <a16:creationId xmlns:a16="http://schemas.microsoft.com/office/drawing/2014/main" id="{7B8C9385-0303-BAEC-756E-5EC921455FA9}"/>
              </a:ext>
            </a:extLst>
          </p:cNvPr>
          <p:cNvSpPr>
            <a:spLocks noChangeShapeType="1"/>
          </p:cNvSpPr>
          <p:nvPr/>
        </p:nvSpPr>
        <p:spPr bwMode="auto">
          <a:xfrm>
            <a:off x="7620000" y="3581400"/>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WordArt 2">
            <a:extLst>
              <a:ext uri="{FF2B5EF4-FFF2-40B4-BE49-F238E27FC236}">
                <a16:creationId xmlns:a16="http://schemas.microsoft.com/office/drawing/2014/main" id="{F3584C2A-3891-9FAA-96F4-67614CF429A4}"/>
              </a:ext>
            </a:extLst>
          </p:cNvPr>
          <p:cNvSpPr>
            <a:spLocks noChangeArrowheads="1" noChangeShapeType="1" noTextEdit="1"/>
          </p:cNvSpPr>
          <p:nvPr/>
        </p:nvSpPr>
        <p:spPr bwMode="auto">
          <a:xfrm>
            <a:off x="685800" y="1295400"/>
            <a:ext cx="7162800" cy="3733800"/>
          </a:xfrm>
          <a:prstGeom prst="rect">
            <a:avLst/>
          </a:prstGeom>
        </p:spPr>
        <p:txBody>
          <a:bodyPr wrap="none" fromWordArt="1">
            <a:prstTxWarp prst="textDoubleWave1">
              <a:avLst>
                <a:gd name="adj1" fmla="val 6500"/>
                <a:gd name="adj2" fmla="val 0"/>
              </a:avLst>
            </a:prstTxWarp>
          </a:bodyPr>
          <a:lstStyle/>
          <a:p>
            <a:r>
              <a:rPr lang="en-US" sz="3600" kern="10" spc="-360">
                <a:ln w="12700">
                  <a:solidFill>
                    <a:srgbClr val="000099"/>
                  </a:solidFill>
                  <a:round/>
                  <a:headEnd/>
                  <a:tailEnd/>
                </a:ln>
                <a:solidFill>
                  <a:srgbClr val="33CCFF"/>
                </a:solidFill>
                <a:effectLst>
                  <a:outerShdw dist="125724" dir="18900000" algn="ctr" rotWithShape="0">
                    <a:srgbClr val="000099">
                      <a:alpha val="74997"/>
                    </a:srgbClr>
                  </a:outerShdw>
                </a:effectLst>
                <a:latin typeface="Impact" panose="020B0806030902050204" pitchFamily="34" charset="0"/>
              </a:rPr>
              <a:t>The Quick Sort</a:t>
            </a:r>
          </a:p>
        </p:txBody>
      </p:sp>
      <p:graphicFrame>
        <p:nvGraphicFramePr>
          <p:cNvPr id="106499" name="Object 3">
            <a:extLst>
              <a:ext uri="{FF2B5EF4-FFF2-40B4-BE49-F238E27FC236}">
                <a16:creationId xmlns:a16="http://schemas.microsoft.com/office/drawing/2014/main" id="{A4F19076-E6D1-E2E4-4D42-9C96BF6FD8CB}"/>
              </a:ext>
            </a:extLst>
          </p:cNvPr>
          <p:cNvGraphicFramePr>
            <a:graphicFrameLocks noChangeAspect="1"/>
          </p:cNvGraphicFramePr>
          <p:nvPr/>
        </p:nvGraphicFramePr>
        <p:xfrm>
          <a:off x="9448800" y="3733800"/>
          <a:ext cx="3124200" cy="2482850"/>
        </p:xfrm>
        <a:graphic>
          <a:graphicData uri="http://schemas.openxmlformats.org/presentationml/2006/ole">
            <mc:AlternateContent xmlns:mc="http://schemas.openxmlformats.org/markup-compatibility/2006">
              <mc:Choice xmlns:v="urn:schemas-microsoft-com:vml" Requires="v">
                <p:oleObj name="Clip" r:id="rId3" imgW="24790400" imgH="19697700" progId="MS_ClipArt_Gallery.2">
                  <p:embed/>
                </p:oleObj>
              </mc:Choice>
              <mc:Fallback>
                <p:oleObj name="Clip" r:id="rId3" imgW="24790400" imgH="19697700" progId="MS_ClipArt_Gallery.2">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8800" y="3733800"/>
                        <a:ext cx="3124200" cy="2482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6500" name="Object 4">
            <a:extLst>
              <a:ext uri="{FF2B5EF4-FFF2-40B4-BE49-F238E27FC236}">
                <a16:creationId xmlns:a16="http://schemas.microsoft.com/office/drawing/2014/main" id="{01F7C487-FD65-AD12-77CB-1B809136EA83}"/>
              </a:ext>
            </a:extLst>
          </p:cNvPr>
          <p:cNvGraphicFramePr>
            <a:graphicFrameLocks noChangeAspect="1"/>
          </p:cNvGraphicFramePr>
          <p:nvPr/>
        </p:nvGraphicFramePr>
        <p:xfrm>
          <a:off x="9144000" y="381000"/>
          <a:ext cx="3124200" cy="2482850"/>
        </p:xfrm>
        <a:graphic>
          <a:graphicData uri="http://schemas.openxmlformats.org/presentationml/2006/ole">
            <mc:AlternateContent xmlns:mc="http://schemas.openxmlformats.org/markup-compatibility/2006">
              <mc:Choice xmlns:v="urn:schemas-microsoft-com:vml" Requires="v">
                <p:oleObj name="Clip" r:id="rId3" imgW="24790400" imgH="19697700" progId="MS_ClipArt_Gallery.2">
                  <p:embed/>
                </p:oleObj>
              </mc:Choice>
              <mc:Fallback>
                <p:oleObj name="Clip" r:id="rId3" imgW="24790400" imgH="19697700" progId="MS_ClipArt_Gallery.2">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0" y="381000"/>
                        <a:ext cx="3124200" cy="2482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6499"/>
                                        </p:tgtEl>
                                        <p:attrNameLst>
                                          <p:attrName>style.visibility</p:attrName>
                                        </p:attrNameLst>
                                      </p:cBhvr>
                                      <p:to>
                                        <p:strVal val="visible"/>
                                      </p:to>
                                    </p:set>
                                    <p:anim calcmode="lin" valueType="num">
                                      <p:cBhvr additive="base">
                                        <p:cTn id="7" dur="500" fill="hold"/>
                                        <p:tgtEl>
                                          <p:spTgt spid="106499"/>
                                        </p:tgtEl>
                                        <p:attrNameLst>
                                          <p:attrName>ppt_x</p:attrName>
                                        </p:attrNameLst>
                                      </p:cBhvr>
                                      <p:tavLst>
                                        <p:tav tm="0">
                                          <p:val>
                                            <p:strVal val="0-#ppt_w/2"/>
                                          </p:val>
                                        </p:tav>
                                        <p:tav tm="100000">
                                          <p:val>
                                            <p:strVal val="#ppt_x"/>
                                          </p:val>
                                        </p:tav>
                                      </p:tavLst>
                                    </p:anim>
                                    <p:anim calcmode="lin" valueType="num">
                                      <p:cBhvr additive="base">
                                        <p:cTn id="8" dur="500" fill="hold"/>
                                        <p:tgtEl>
                                          <p:spTgt spid="1064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06500"/>
                                        </p:tgtEl>
                                        <p:attrNameLst>
                                          <p:attrName>style.visibility</p:attrName>
                                        </p:attrNameLst>
                                      </p:cBhvr>
                                      <p:to>
                                        <p:strVal val="visible"/>
                                      </p:to>
                                    </p:set>
                                    <p:anim calcmode="lin" valueType="num">
                                      <p:cBhvr additive="base">
                                        <p:cTn id="13" dur="500" fill="hold"/>
                                        <p:tgtEl>
                                          <p:spTgt spid="106500"/>
                                        </p:tgtEl>
                                        <p:attrNameLst>
                                          <p:attrName>ppt_x</p:attrName>
                                        </p:attrNameLst>
                                      </p:cBhvr>
                                      <p:tavLst>
                                        <p:tav tm="0">
                                          <p:val>
                                            <p:strVal val="0-#ppt_w/2"/>
                                          </p:val>
                                        </p:tav>
                                        <p:tav tm="100000">
                                          <p:val>
                                            <p:strVal val="#ppt_x"/>
                                          </p:val>
                                        </p:tav>
                                      </p:tavLst>
                                    </p:anim>
                                    <p:anim calcmode="lin" valueType="num">
                                      <p:cBhvr additive="base">
                                        <p:cTn id="14" dur="500" fill="hold"/>
                                        <p:tgtEl>
                                          <p:spTgt spid="10650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nodeType="clickEffect">
                                  <p:stCondLst>
                                    <p:cond delay="0"/>
                                  </p:stCondLst>
                                  <p:childTnLst>
                                    <p:set>
                                      <p:cBhvr>
                                        <p:cTn id="18" dur="1" fill="hold">
                                          <p:stCondLst>
                                            <p:cond delay="0"/>
                                          </p:stCondLst>
                                        </p:cTn>
                                        <p:tgtEl>
                                          <p:spTgt spid="106498"/>
                                        </p:tgtEl>
                                        <p:attrNameLst>
                                          <p:attrName>style.visibility</p:attrName>
                                        </p:attrNameLst>
                                      </p:cBhvr>
                                      <p:to>
                                        <p:strVal val="visible"/>
                                      </p:to>
                                    </p:set>
                                    <p:anim calcmode="lin" valueType="num">
                                      <p:cBhvr additive="base">
                                        <p:cTn id="19" dur="500" fill="hold"/>
                                        <p:tgtEl>
                                          <p:spTgt spid="106498"/>
                                        </p:tgtEl>
                                        <p:attrNameLst>
                                          <p:attrName>ppt_x</p:attrName>
                                        </p:attrNameLst>
                                      </p:cBhvr>
                                      <p:tavLst>
                                        <p:tav tm="0">
                                          <p:val>
                                            <p:strVal val="1+#ppt_w/2"/>
                                          </p:val>
                                        </p:tav>
                                        <p:tav tm="100000">
                                          <p:val>
                                            <p:strVal val="#ppt_x"/>
                                          </p:val>
                                        </p:tav>
                                      </p:tavLst>
                                    </p:anim>
                                    <p:anim calcmode="lin" valueType="num">
                                      <p:cBhvr additive="base">
                                        <p:cTn id="20" dur="500" fill="hold"/>
                                        <p:tgtEl>
                                          <p:spTgt spid="10649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ext Box 2">
            <a:extLst>
              <a:ext uri="{FF2B5EF4-FFF2-40B4-BE49-F238E27FC236}">
                <a16:creationId xmlns:a16="http://schemas.microsoft.com/office/drawing/2014/main" id="{038420F9-222D-0E77-FFAD-5C0EE70627B9}"/>
              </a:ext>
            </a:extLst>
          </p:cNvPr>
          <p:cNvSpPr txBox="1">
            <a:spLocks noChangeArrowheads="1"/>
          </p:cNvSpPr>
          <p:nvPr/>
        </p:nvSpPr>
        <p:spPr bwMode="auto">
          <a:xfrm>
            <a:off x="447675" y="1295400"/>
            <a:ext cx="8204200"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3200">
              <a:latin typeface="Arial" panose="020B0604020202020204" pitchFamily="34" charset="0"/>
            </a:endParaRPr>
          </a:p>
          <a:p>
            <a:endParaRPr lang="en-US" altLang="en-US" sz="3200"/>
          </a:p>
          <a:p>
            <a:endParaRPr lang="en-US" altLang="en-US" sz="2400" b="0">
              <a:latin typeface="Arial" panose="020B0604020202020204" pitchFamily="34" charset="0"/>
            </a:endParaRPr>
          </a:p>
          <a:p>
            <a:r>
              <a:rPr lang="en-US" altLang="en-US" b="0">
                <a:latin typeface="Arial" panose="020B0604020202020204" pitchFamily="34" charset="0"/>
              </a:rPr>
              <a:t>Quick sort finds a pivot value.  All numbers </a:t>
            </a:r>
          </a:p>
          <a:p>
            <a:r>
              <a:rPr lang="en-US" altLang="en-US" b="0">
                <a:latin typeface="Arial" panose="020B0604020202020204" pitchFamily="34" charset="0"/>
              </a:rPr>
              <a:t>greater than the pivot move to the right and </a:t>
            </a:r>
          </a:p>
          <a:p>
            <a:r>
              <a:rPr lang="en-US" altLang="en-US" b="0">
                <a:latin typeface="Arial" panose="020B0604020202020204" pitchFamily="34" charset="0"/>
              </a:rPr>
              <a:t>all numbers less move to the left.  </a:t>
            </a:r>
          </a:p>
          <a:p>
            <a:r>
              <a:rPr lang="en-US" altLang="en-US" b="0">
                <a:latin typeface="Arial" panose="020B0604020202020204" pitchFamily="34" charset="0"/>
              </a:rPr>
              <a:t>This list is then chopped in two and the</a:t>
            </a:r>
          </a:p>
          <a:p>
            <a:r>
              <a:rPr lang="en-US" altLang="en-US" b="0">
                <a:latin typeface="Arial" panose="020B0604020202020204" pitchFamily="34" charset="0"/>
              </a:rPr>
              <a:t>process above is repeated on the smaller sections.</a:t>
            </a:r>
          </a:p>
          <a:p>
            <a:endParaRPr lang="en-US" altLang="en-US" sz="2400" b="0">
              <a:latin typeface="Arial" panose="020B0604020202020204" pitchFamily="34" charset="0"/>
            </a:endParaRPr>
          </a:p>
        </p:txBody>
      </p:sp>
      <p:sp>
        <p:nvSpPr>
          <p:cNvPr id="99330" name="WordArt 3">
            <a:extLst>
              <a:ext uri="{FF2B5EF4-FFF2-40B4-BE49-F238E27FC236}">
                <a16:creationId xmlns:a16="http://schemas.microsoft.com/office/drawing/2014/main" id="{4C9566BB-90EA-2E0D-0D11-6063AA973326}"/>
              </a:ext>
            </a:extLst>
          </p:cNvPr>
          <p:cNvSpPr>
            <a:spLocks noChangeArrowheads="1" noChangeShapeType="1" noTextEdit="1"/>
          </p:cNvSpPr>
          <p:nvPr/>
        </p:nvSpPr>
        <p:spPr bwMode="auto">
          <a:xfrm>
            <a:off x="1524000" y="1066800"/>
            <a:ext cx="5867400" cy="6858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Quick Sort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WordArt 2">
            <a:extLst>
              <a:ext uri="{FF2B5EF4-FFF2-40B4-BE49-F238E27FC236}">
                <a16:creationId xmlns:a16="http://schemas.microsoft.com/office/drawing/2014/main" id="{72AA980C-0650-7203-617C-B6DF0823E422}"/>
              </a:ext>
            </a:extLst>
          </p:cNvPr>
          <p:cNvSpPr>
            <a:spLocks noChangeArrowheads="1" noChangeShapeType="1" noTextEdit="1"/>
          </p:cNvSpPr>
          <p:nvPr/>
        </p:nvSpPr>
        <p:spPr bwMode="auto">
          <a:xfrm>
            <a:off x="990600" y="228600"/>
            <a:ext cx="7162800" cy="9144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Quick Sort</a:t>
            </a:r>
          </a:p>
        </p:txBody>
      </p:sp>
      <p:sp>
        <p:nvSpPr>
          <p:cNvPr id="100354" name="Text Box 3">
            <a:extLst>
              <a:ext uri="{FF2B5EF4-FFF2-40B4-BE49-F238E27FC236}">
                <a16:creationId xmlns:a16="http://schemas.microsoft.com/office/drawing/2014/main" id="{2A4489F4-836D-12F0-82DB-90D50BF0146E}"/>
              </a:ext>
            </a:extLst>
          </p:cNvPr>
          <p:cNvSpPr txBox="1">
            <a:spLocks noChangeArrowheads="1"/>
          </p:cNvSpPr>
          <p:nvPr/>
        </p:nvSpPr>
        <p:spPr bwMode="auto">
          <a:xfrm>
            <a:off x="898525" y="142875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endParaRPr lang="en-US" altLang="en-US" b="0"/>
          </a:p>
        </p:txBody>
      </p:sp>
      <p:sp>
        <p:nvSpPr>
          <p:cNvPr id="100355" name="Rectangle 4">
            <a:extLst>
              <a:ext uri="{FF2B5EF4-FFF2-40B4-BE49-F238E27FC236}">
                <a16:creationId xmlns:a16="http://schemas.microsoft.com/office/drawing/2014/main" id="{F5E9EEE0-2DDA-DB49-7D90-007189B70B24}"/>
              </a:ext>
            </a:extLst>
          </p:cNvPr>
          <p:cNvSpPr>
            <a:spLocks noChangeArrowheads="1"/>
          </p:cNvSpPr>
          <p:nvPr/>
        </p:nvSpPr>
        <p:spPr bwMode="auto">
          <a:xfrm>
            <a:off x="3581400" y="1295400"/>
            <a:ext cx="1676400" cy="9906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1 . . 32</a:t>
            </a:r>
            <a:endParaRPr lang="en-US" altLang="en-US"/>
          </a:p>
        </p:txBody>
      </p:sp>
      <p:sp>
        <p:nvSpPr>
          <p:cNvPr id="100356" name="Rectangle 5">
            <a:extLst>
              <a:ext uri="{FF2B5EF4-FFF2-40B4-BE49-F238E27FC236}">
                <a16:creationId xmlns:a16="http://schemas.microsoft.com/office/drawing/2014/main" id="{97B5B37D-75C6-1513-4882-B2E2EDC66A89}"/>
              </a:ext>
            </a:extLst>
          </p:cNvPr>
          <p:cNvSpPr>
            <a:spLocks noChangeArrowheads="1"/>
          </p:cNvSpPr>
          <p:nvPr/>
        </p:nvSpPr>
        <p:spPr bwMode="auto">
          <a:xfrm>
            <a:off x="2057400" y="2438400"/>
            <a:ext cx="13716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1 . . 22</a:t>
            </a:r>
            <a:endParaRPr lang="en-US" altLang="en-US"/>
          </a:p>
        </p:txBody>
      </p:sp>
      <p:sp>
        <p:nvSpPr>
          <p:cNvPr id="100357" name="Rectangle 6">
            <a:extLst>
              <a:ext uri="{FF2B5EF4-FFF2-40B4-BE49-F238E27FC236}">
                <a16:creationId xmlns:a16="http://schemas.microsoft.com/office/drawing/2014/main" id="{29F3E032-82F0-1FBF-B057-E257DD5544C9}"/>
              </a:ext>
            </a:extLst>
          </p:cNvPr>
          <p:cNvSpPr>
            <a:spLocks noChangeArrowheads="1"/>
          </p:cNvSpPr>
          <p:nvPr/>
        </p:nvSpPr>
        <p:spPr bwMode="auto">
          <a:xfrm>
            <a:off x="5257800" y="2438400"/>
            <a:ext cx="15240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23 . . 32</a:t>
            </a:r>
            <a:endParaRPr lang="en-US" altLang="en-US"/>
          </a:p>
        </p:txBody>
      </p:sp>
      <p:sp>
        <p:nvSpPr>
          <p:cNvPr id="100358" name="Rectangle 7">
            <a:extLst>
              <a:ext uri="{FF2B5EF4-FFF2-40B4-BE49-F238E27FC236}">
                <a16:creationId xmlns:a16="http://schemas.microsoft.com/office/drawing/2014/main" id="{3200A61B-7D6A-56C4-B1CF-FC6F803D3CA7}"/>
              </a:ext>
            </a:extLst>
          </p:cNvPr>
          <p:cNvSpPr>
            <a:spLocks noChangeArrowheads="1"/>
          </p:cNvSpPr>
          <p:nvPr/>
        </p:nvSpPr>
        <p:spPr bwMode="auto">
          <a:xfrm>
            <a:off x="4724400" y="3733800"/>
            <a:ext cx="14478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23 . .25</a:t>
            </a:r>
            <a:endParaRPr lang="en-US" altLang="en-US"/>
          </a:p>
        </p:txBody>
      </p:sp>
      <p:sp>
        <p:nvSpPr>
          <p:cNvPr id="100359" name="Rectangle 8">
            <a:extLst>
              <a:ext uri="{FF2B5EF4-FFF2-40B4-BE49-F238E27FC236}">
                <a16:creationId xmlns:a16="http://schemas.microsoft.com/office/drawing/2014/main" id="{28814210-74AB-EDED-75FC-70DB917E5DC2}"/>
              </a:ext>
            </a:extLst>
          </p:cNvPr>
          <p:cNvSpPr>
            <a:spLocks noChangeArrowheads="1"/>
          </p:cNvSpPr>
          <p:nvPr/>
        </p:nvSpPr>
        <p:spPr bwMode="auto">
          <a:xfrm>
            <a:off x="6324600" y="3733800"/>
            <a:ext cx="15240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26 . . 32</a:t>
            </a:r>
            <a:endParaRPr lang="en-US" altLang="en-US"/>
          </a:p>
        </p:txBody>
      </p:sp>
      <p:sp>
        <p:nvSpPr>
          <p:cNvPr id="100360" name="Rectangle 9">
            <a:extLst>
              <a:ext uri="{FF2B5EF4-FFF2-40B4-BE49-F238E27FC236}">
                <a16:creationId xmlns:a16="http://schemas.microsoft.com/office/drawing/2014/main" id="{A67A7121-02B0-3F13-B675-560C5FFFFA7E}"/>
              </a:ext>
            </a:extLst>
          </p:cNvPr>
          <p:cNvSpPr>
            <a:spLocks noChangeArrowheads="1"/>
          </p:cNvSpPr>
          <p:nvPr/>
        </p:nvSpPr>
        <p:spPr bwMode="auto">
          <a:xfrm>
            <a:off x="990600" y="3733800"/>
            <a:ext cx="13716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1 . . 19</a:t>
            </a:r>
            <a:endParaRPr lang="en-US" altLang="en-US"/>
          </a:p>
        </p:txBody>
      </p:sp>
      <p:sp>
        <p:nvSpPr>
          <p:cNvPr id="100361" name="Rectangle 10">
            <a:extLst>
              <a:ext uri="{FF2B5EF4-FFF2-40B4-BE49-F238E27FC236}">
                <a16:creationId xmlns:a16="http://schemas.microsoft.com/office/drawing/2014/main" id="{4F762EF1-F049-9EC6-65FE-3E24C793B10E}"/>
              </a:ext>
            </a:extLst>
          </p:cNvPr>
          <p:cNvSpPr>
            <a:spLocks noChangeArrowheads="1"/>
          </p:cNvSpPr>
          <p:nvPr/>
        </p:nvSpPr>
        <p:spPr bwMode="auto">
          <a:xfrm>
            <a:off x="2590800" y="3733800"/>
            <a:ext cx="14478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20. . 22</a:t>
            </a:r>
            <a:endParaRPr lang="en-US" altLang="en-US"/>
          </a:p>
        </p:txBody>
      </p:sp>
      <p:sp>
        <p:nvSpPr>
          <p:cNvPr id="100362" name="Rectangle 11">
            <a:extLst>
              <a:ext uri="{FF2B5EF4-FFF2-40B4-BE49-F238E27FC236}">
                <a16:creationId xmlns:a16="http://schemas.microsoft.com/office/drawing/2014/main" id="{70286B72-341C-EC2D-E778-A9C36EF92C23}"/>
              </a:ext>
            </a:extLst>
          </p:cNvPr>
          <p:cNvSpPr>
            <a:spLocks noChangeArrowheads="1"/>
          </p:cNvSpPr>
          <p:nvPr/>
        </p:nvSpPr>
        <p:spPr bwMode="auto">
          <a:xfrm>
            <a:off x="838200" y="5257800"/>
            <a:ext cx="777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spcBef>
                <a:spcPct val="50000"/>
              </a:spcBef>
            </a:pPr>
            <a:r>
              <a:rPr lang="en-US" altLang="en-US" b="0"/>
              <a:t>Quick sort chops up the list into smaller pieces</a:t>
            </a:r>
            <a:br>
              <a:rPr lang="en-US" altLang="en-US" b="0"/>
            </a:br>
            <a:r>
              <a:rPr lang="en-US" altLang="en-US" b="0"/>
              <a:t>as to avoid processing the whole list at once.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ext Box 2">
            <a:extLst>
              <a:ext uri="{FF2B5EF4-FFF2-40B4-BE49-F238E27FC236}">
                <a16:creationId xmlns:a16="http://schemas.microsoft.com/office/drawing/2014/main" id="{502622BF-9201-3FAF-CF33-735EF7E6D584}"/>
              </a:ext>
            </a:extLst>
          </p:cNvPr>
          <p:cNvSpPr txBox="1">
            <a:spLocks noChangeArrowheads="1"/>
          </p:cNvSpPr>
          <p:nvPr/>
        </p:nvSpPr>
        <p:spPr bwMode="auto">
          <a:xfrm>
            <a:off x="457200" y="1295400"/>
            <a:ext cx="857885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t>void</a:t>
            </a:r>
            <a:r>
              <a:rPr lang="en-US" altLang="en-US" b="0"/>
              <a:t> quickSort(Comparable[] stuff, </a:t>
            </a:r>
            <a:r>
              <a:rPr lang="en-US" altLang="en-US"/>
              <a:t>int</a:t>
            </a:r>
            <a:r>
              <a:rPr lang="en-US" altLang="en-US" b="0"/>
              <a:t> low, </a:t>
            </a:r>
            <a:r>
              <a:rPr lang="en-US" altLang="en-US"/>
              <a:t>int</a:t>
            </a:r>
            <a:r>
              <a:rPr lang="en-US" altLang="en-US" b="0"/>
              <a:t> high)</a:t>
            </a:r>
          </a:p>
          <a:p>
            <a:pPr algn="l"/>
            <a:r>
              <a:rPr lang="en-US" altLang="en-US" b="0"/>
              <a:t>{</a:t>
            </a:r>
          </a:p>
          <a:p>
            <a:pPr algn="l"/>
            <a:r>
              <a:rPr lang="en-US" altLang="en-US"/>
              <a:t>  if</a:t>
            </a:r>
            <a:r>
              <a:rPr lang="en-US" altLang="en-US" b="0"/>
              <a:t> (low &lt; high)</a:t>
            </a:r>
          </a:p>
          <a:p>
            <a:pPr algn="l"/>
            <a:r>
              <a:rPr lang="en-US" altLang="en-US" b="0"/>
              <a:t>  {</a:t>
            </a:r>
          </a:p>
          <a:p>
            <a:pPr algn="l"/>
            <a:r>
              <a:rPr lang="en-US" altLang="en-US"/>
              <a:t>    int</a:t>
            </a:r>
            <a:r>
              <a:rPr lang="en-US" altLang="en-US" b="0"/>
              <a:t> spot = partition(stuff, low, high);</a:t>
            </a:r>
          </a:p>
          <a:p>
            <a:pPr algn="l"/>
            <a:r>
              <a:rPr lang="en-US" altLang="en-US" b="0"/>
              <a:t>    quickSort(stuff, low, spot);</a:t>
            </a:r>
          </a:p>
          <a:p>
            <a:pPr algn="l"/>
            <a:r>
              <a:rPr lang="en-US" altLang="en-US" b="0"/>
              <a:t>    quickSort(stuff, spot+1, high);</a:t>
            </a:r>
          </a:p>
          <a:p>
            <a:pPr algn="l"/>
            <a:r>
              <a:rPr lang="en-US" altLang="en-US" b="0"/>
              <a:t>  }</a:t>
            </a:r>
          </a:p>
          <a:p>
            <a:pPr algn="l"/>
            <a:r>
              <a:rPr lang="en-US" altLang="en-US" b="0"/>
              <a:t>}</a:t>
            </a:r>
          </a:p>
          <a:p>
            <a:pPr algn="l"/>
            <a:endParaRPr lang="en-US" altLang="en-US" b="0"/>
          </a:p>
          <a:p>
            <a:pPr algn="l"/>
            <a:r>
              <a:rPr lang="en-US" altLang="en-US">
                <a:solidFill>
                  <a:srgbClr val="FF3300"/>
                </a:solidFill>
              </a:rPr>
              <a:t>Arrays.sort( ) uses the quickSort </a:t>
            </a:r>
          </a:p>
          <a:p>
            <a:pPr algn="l"/>
            <a:r>
              <a:rPr lang="en-US" altLang="en-US">
                <a:solidFill>
                  <a:srgbClr val="FF3300"/>
                </a:solidFill>
              </a:rPr>
              <a:t>					if sorting primitives.</a:t>
            </a:r>
          </a:p>
        </p:txBody>
      </p:sp>
      <p:sp>
        <p:nvSpPr>
          <p:cNvPr id="101378" name="WordArt 3">
            <a:extLst>
              <a:ext uri="{FF2B5EF4-FFF2-40B4-BE49-F238E27FC236}">
                <a16:creationId xmlns:a16="http://schemas.microsoft.com/office/drawing/2014/main" id="{100B0B53-974D-70A0-2672-B0A09239F581}"/>
              </a:ext>
            </a:extLst>
          </p:cNvPr>
          <p:cNvSpPr>
            <a:spLocks noChangeArrowheads="1" noChangeShapeType="1" noTextEdit="1"/>
          </p:cNvSpPr>
          <p:nvPr/>
        </p:nvSpPr>
        <p:spPr bwMode="auto">
          <a:xfrm>
            <a:off x="1828800" y="457200"/>
            <a:ext cx="47244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quickSort  Algorithm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WordArt 2">
            <a:extLst>
              <a:ext uri="{FF2B5EF4-FFF2-40B4-BE49-F238E27FC236}">
                <a16:creationId xmlns:a16="http://schemas.microsoft.com/office/drawing/2014/main" id="{D7B45D8D-6241-8A79-F5FB-5235D5ABA4B0}"/>
              </a:ext>
            </a:extLst>
          </p:cNvPr>
          <p:cNvSpPr>
            <a:spLocks noChangeArrowheads="1" noChangeShapeType="1" noTextEdit="1"/>
          </p:cNvSpPr>
          <p:nvPr/>
        </p:nvSpPr>
        <p:spPr bwMode="auto">
          <a:xfrm>
            <a:off x="1524000" y="304800"/>
            <a:ext cx="5410200" cy="5334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partition Algorithm</a:t>
            </a:r>
          </a:p>
        </p:txBody>
      </p:sp>
      <p:sp>
        <p:nvSpPr>
          <p:cNvPr id="102402" name="Text Box 3">
            <a:extLst>
              <a:ext uri="{FF2B5EF4-FFF2-40B4-BE49-F238E27FC236}">
                <a16:creationId xmlns:a16="http://schemas.microsoft.com/office/drawing/2014/main" id="{A28818F3-87CE-3102-D6F0-E479623F79C7}"/>
              </a:ext>
            </a:extLst>
          </p:cNvPr>
          <p:cNvSpPr txBox="1">
            <a:spLocks noChangeArrowheads="1"/>
          </p:cNvSpPr>
          <p:nvPr/>
        </p:nvSpPr>
        <p:spPr bwMode="auto">
          <a:xfrm>
            <a:off x="914400" y="990600"/>
            <a:ext cx="710565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2400"/>
              <a:t>int</a:t>
            </a:r>
            <a:r>
              <a:rPr lang="en-US" altLang="en-US" sz="2400" b="0"/>
              <a:t> partition(Comparable[] stuff, </a:t>
            </a:r>
            <a:r>
              <a:rPr lang="en-US" altLang="en-US" sz="2400"/>
              <a:t>int</a:t>
            </a:r>
            <a:r>
              <a:rPr lang="en-US" altLang="en-US" sz="2400" b="0"/>
              <a:t> low, </a:t>
            </a:r>
            <a:r>
              <a:rPr lang="en-US" altLang="en-US" sz="2400"/>
              <a:t>int</a:t>
            </a:r>
            <a:r>
              <a:rPr lang="en-US" altLang="en-US" sz="2400" b="0"/>
              <a:t> high) </a:t>
            </a:r>
          </a:p>
          <a:p>
            <a:pPr algn="l"/>
            <a:r>
              <a:rPr lang="en-US" altLang="en-US" sz="2400" b="0"/>
              <a:t>{</a:t>
            </a:r>
          </a:p>
          <a:p>
            <a:pPr algn="l"/>
            <a:r>
              <a:rPr lang="en-US" altLang="en-US" sz="2400" b="0"/>
              <a:t>  Comparable pivot = stuff[low]; </a:t>
            </a:r>
          </a:p>
          <a:p>
            <a:pPr algn="l"/>
            <a:r>
              <a:rPr lang="en-US" altLang="en-US" sz="2400"/>
              <a:t>  int </a:t>
            </a:r>
            <a:r>
              <a:rPr lang="en-US" altLang="en-US" sz="2400" b="0"/>
              <a:t>bot = low-1; </a:t>
            </a:r>
          </a:p>
          <a:p>
            <a:pPr algn="l"/>
            <a:r>
              <a:rPr lang="en-US" altLang="en-US" sz="2400"/>
              <a:t>  int</a:t>
            </a:r>
            <a:r>
              <a:rPr lang="en-US" altLang="en-US" sz="2400" b="0"/>
              <a:t> top = high+1;		</a:t>
            </a:r>
          </a:p>
          <a:p>
            <a:pPr algn="l"/>
            <a:r>
              <a:rPr lang="en-US" altLang="en-US" sz="2400"/>
              <a:t>  while</a:t>
            </a:r>
            <a:r>
              <a:rPr lang="en-US" altLang="en-US" sz="2400" b="0"/>
              <a:t>(bot&lt;top) {	</a:t>
            </a:r>
          </a:p>
          <a:p>
            <a:pPr algn="l"/>
            <a:r>
              <a:rPr lang="en-US" altLang="en-US" sz="2400"/>
              <a:t>    while</a:t>
            </a:r>
            <a:r>
              <a:rPr lang="en-US" altLang="en-US" sz="2400" b="0"/>
              <a:t> (stuff[--top].</a:t>
            </a:r>
            <a:r>
              <a:rPr lang="en-US" altLang="en-US" sz="2400">
                <a:solidFill>
                  <a:srgbClr val="FF3300"/>
                </a:solidFill>
              </a:rPr>
              <a:t>compareTo</a:t>
            </a:r>
            <a:r>
              <a:rPr lang="en-US" altLang="en-US" sz="2400" b="0"/>
              <a:t>(pivot) &gt; 0); </a:t>
            </a:r>
          </a:p>
          <a:p>
            <a:pPr algn="l"/>
            <a:r>
              <a:rPr lang="en-US" altLang="en-US" sz="2400"/>
              <a:t>    while</a:t>
            </a:r>
            <a:r>
              <a:rPr lang="en-US" altLang="en-US" sz="2400" b="0"/>
              <a:t> (stuff[++bot].</a:t>
            </a:r>
            <a:r>
              <a:rPr lang="en-US" altLang="en-US" sz="2400">
                <a:solidFill>
                  <a:srgbClr val="FF3300"/>
                </a:solidFill>
              </a:rPr>
              <a:t>compareTo</a:t>
            </a:r>
            <a:r>
              <a:rPr lang="en-US" altLang="en-US" sz="2400" b="0"/>
              <a:t>(pivot) &lt; 0);</a:t>
            </a:r>
          </a:p>
          <a:p>
            <a:pPr algn="l"/>
            <a:r>
              <a:rPr lang="en-US" altLang="en-US" sz="2400"/>
              <a:t>    if</a:t>
            </a:r>
            <a:r>
              <a:rPr lang="en-US" altLang="en-US" sz="2400" b="0"/>
              <a:t>(bot &gt;= top)</a:t>
            </a:r>
          </a:p>
          <a:p>
            <a:pPr algn="l"/>
            <a:r>
              <a:rPr lang="en-US" altLang="en-US" sz="2400"/>
              <a:t>      return</a:t>
            </a:r>
            <a:r>
              <a:rPr lang="en-US" altLang="en-US" sz="2400" b="0"/>
              <a:t> top;</a:t>
            </a:r>
          </a:p>
          <a:p>
            <a:pPr algn="l"/>
            <a:r>
              <a:rPr lang="en-US" altLang="en-US" sz="2400" b="0"/>
              <a:t>    Comparable temp = stuff[bot];</a:t>
            </a:r>
          </a:p>
          <a:p>
            <a:pPr algn="l"/>
            <a:r>
              <a:rPr lang="en-US" altLang="en-US" sz="2400" b="0"/>
              <a:t>    stuff[bot] = stuff[top];</a:t>
            </a:r>
          </a:p>
          <a:p>
            <a:pPr algn="l"/>
            <a:r>
              <a:rPr lang="en-US" altLang="en-US" sz="2400" b="0"/>
              <a:t>    stuff[top] = temp;</a:t>
            </a:r>
          </a:p>
          <a:p>
            <a:pPr algn="l"/>
            <a:r>
              <a:rPr lang="en-US" altLang="en-US" sz="2400" b="0"/>
              <a:t>  }</a:t>
            </a:r>
          </a:p>
          <a:p>
            <a:pPr algn="l"/>
            <a:r>
              <a:rPr lang="en-US" altLang="en-US" sz="2400" b="0"/>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WordArt 2">
            <a:extLst>
              <a:ext uri="{FF2B5EF4-FFF2-40B4-BE49-F238E27FC236}">
                <a16:creationId xmlns:a16="http://schemas.microsoft.com/office/drawing/2014/main" id="{B511B68C-DB74-D427-1692-D5CB5D7FC57D}"/>
              </a:ext>
            </a:extLst>
          </p:cNvPr>
          <p:cNvSpPr>
            <a:spLocks noChangeArrowheads="1" noChangeShapeType="1" noTextEdit="1"/>
          </p:cNvSpPr>
          <p:nvPr/>
        </p:nvSpPr>
        <p:spPr bwMode="auto">
          <a:xfrm>
            <a:off x="838200" y="609600"/>
            <a:ext cx="7162800" cy="914400"/>
          </a:xfrm>
          <a:prstGeom prst="rect">
            <a:avLst/>
          </a:prstGeom>
        </p:spPr>
        <p:txBody>
          <a:bodyPr wrap="none" fromWordArt="1">
            <a:prstTxWarp prst="textPlain">
              <a:avLst>
                <a:gd name="adj" fmla="val 50000"/>
              </a:avLst>
            </a:prstTxWarp>
          </a:bodyPr>
          <a:lstStyle/>
          <a:p>
            <a:r>
              <a:rPr lang="en-US" sz="3600" kern="10">
                <a:ln w="9525">
                  <a:solidFill>
                    <a:srgbClr val="FFFF99"/>
                  </a:solidFill>
                  <a:round/>
                  <a:headEnd/>
                  <a:tailEnd/>
                </a:ln>
                <a:solidFill>
                  <a:srgbClr val="008000"/>
                </a:solidFill>
                <a:effectLst>
                  <a:outerShdw dist="35921" dir="2700000" algn="ctr" rotWithShape="0">
                    <a:srgbClr val="C0C0C0">
                      <a:alpha val="74997"/>
                    </a:srgbClr>
                  </a:outerShdw>
                </a:effectLst>
                <a:latin typeface="Impact" panose="020B0806030902050204" pitchFamily="34" charset="0"/>
              </a:rPr>
              <a:t>Quick Sort in Action</a:t>
            </a:r>
          </a:p>
        </p:txBody>
      </p:sp>
      <p:sp>
        <p:nvSpPr>
          <p:cNvPr id="104450" name="Text Box 3">
            <a:extLst>
              <a:ext uri="{FF2B5EF4-FFF2-40B4-BE49-F238E27FC236}">
                <a16:creationId xmlns:a16="http://schemas.microsoft.com/office/drawing/2014/main" id="{9D4715DF-08A9-5036-031E-7CFD6EBC873B}"/>
              </a:ext>
            </a:extLst>
          </p:cNvPr>
          <p:cNvSpPr txBox="1">
            <a:spLocks noChangeArrowheads="1"/>
          </p:cNvSpPr>
          <p:nvPr/>
        </p:nvSpPr>
        <p:spPr bwMode="auto">
          <a:xfrm>
            <a:off x="1066800" y="1905000"/>
            <a:ext cx="69342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solidFill>
                  <a:srgbClr val="CC0000"/>
                </a:solidFill>
              </a:rPr>
              <a:t>Original List </a:t>
            </a:r>
          </a:p>
          <a:p>
            <a:pPr algn="l"/>
            <a:r>
              <a:rPr lang="en-US" altLang="en-US"/>
              <a:t>Integer[] ray = {90,40,20,30,10,67};</a:t>
            </a:r>
          </a:p>
          <a:p>
            <a:pPr algn="l"/>
            <a:endParaRPr lang="en-US" altLang="en-US"/>
          </a:p>
          <a:p>
            <a:pPr algn="l"/>
            <a:endParaRPr lang="en-US" altLang="en-US"/>
          </a:p>
          <a:p>
            <a:pPr algn="l"/>
            <a:r>
              <a:rPr lang="en-US" altLang="en-US"/>
              <a:t>pass 1  -  </a:t>
            </a:r>
            <a:r>
              <a:rPr lang="en-US" altLang="en-US">
                <a:solidFill>
                  <a:schemeClr val="accent2"/>
                </a:solidFill>
              </a:rPr>
              <a:t>67</a:t>
            </a:r>
            <a:r>
              <a:rPr lang="en-US" altLang="en-US"/>
              <a:t>  40  20  30  10  </a:t>
            </a:r>
            <a:r>
              <a:rPr lang="en-US" altLang="en-US">
                <a:solidFill>
                  <a:schemeClr val="accent2"/>
                </a:solidFill>
              </a:rPr>
              <a:t>90</a:t>
            </a:r>
          </a:p>
          <a:p>
            <a:pPr algn="l"/>
            <a:r>
              <a:rPr lang="en-US" altLang="en-US"/>
              <a:t>pass 2  -  </a:t>
            </a:r>
            <a:r>
              <a:rPr lang="en-US" altLang="en-US">
                <a:solidFill>
                  <a:schemeClr val="accent2"/>
                </a:solidFill>
              </a:rPr>
              <a:t>10</a:t>
            </a:r>
            <a:r>
              <a:rPr lang="en-US" altLang="en-US"/>
              <a:t>  40  20  30  </a:t>
            </a:r>
            <a:r>
              <a:rPr lang="en-US" altLang="en-US">
                <a:solidFill>
                  <a:schemeClr val="accent2"/>
                </a:solidFill>
              </a:rPr>
              <a:t>67</a:t>
            </a:r>
            <a:r>
              <a:rPr lang="en-US" altLang="en-US"/>
              <a:t>  90</a:t>
            </a:r>
          </a:p>
          <a:p>
            <a:pPr algn="l"/>
            <a:r>
              <a:rPr lang="en-US" altLang="en-US"/>
              <a:t>pass 3  -  10  40  20  30  67  90</a:t>
            </a:r>
          </a:p>
          <a:p>
            <a:pPr algn="l"/>
            <a:r>
              <a:rPr lang="en-US" altLang="en-US"/>
              <a:t>pass 4  -  10  </a:t>
            </a:r>
            <a:r>
              <a:rPr lang="en-US" altLang="en-US">
                <a:solidFill>
                  <a:schemeClr val="accent2"/>
                </a:solidFill>
              </a:rPr>
              <a:t>30</a:t>
            </a:r>
            <a:r>
              <a:rPr lang="en-US" altLang="en-US"/>
              <a:t>  20  </a:t>
            </a:r>
            <a:r>
              <a:rPr lang="en-US" altLang="en-US">
                <a:solidFill>
                  <a:schemeClr val="accent2"/>
                </a:solidFill>
              </a:rPr>
              <a:t>40</a:t>
            </a:r>
            <a:r>
              <a:rPr lang="en-US" altLang="en-US"/>
              <a:t>  67  90</a:t>
            </a:r>
          </a:p>
          <a:p>
            <a:pPr algn="l"/>
            <a:r>
              <a:rPr lang="en-US" altLang="en-US"/>
              <a:t>pass 5  -  10  20  30  40  67  90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WordArt 2">
            <a:extLst>
              <a:ext uri="{FF2B5EF4-FFF2-40B4-BE49-F238E27FC236}">
                <a16:creationId xmlns:a16="http://schemas.microsoft.com/office/drawing/2014/main" id="{F0BE80C8-76FA-6459-1139-D85CDCA855C7}"/>
              </a:ext>
            </a:extLst>
          </p:cNvPr>
          <p:cNvSpPr>
            <a:spLocks noChangeArrowheads="1" noChangeShapeType="1" noTextEdit="1"/>
          </p:cNvSpPr>
          <p:nvPr/>
        </p:nvSpPr>
        <p:spPr bwMode="auto">
          <a:xfrm>
            <a:off x="2514600" y="4191000"/>
            <a:ext cx="4191000" cy="4572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en-US" sz="3600" kern="10">
                <a:solidFill>
                  <a:srgbClr val="0000FF"/>
                </a:solidFill>
                <a:effectLst>
                  <a:outerShdw dist="35921" dir="2700000" algn="ctr" rotWithShape="0">
                    <a:srgbClr val="C0C0C0">
                      <a:alpha val="74997"/>
                    </a:srgbClr>
                  </a:outerShdw>
                </a:effectLst>
                <a:latin typeface="Impact" panose="020B0806030902050204" pitchFamily="34" charset="0"/>
              </a:rPr>
              <a:t>Partition</a:t>
            </a:r>
          </a:p>
        </p:txBody>
      </p:sp>
      <p:sp>
        <p:nvSpPr>
          <p:cNvPr id="105474" name="WordArt 4">
            <a:extLst>
              <a:ext uri="{FF2B5EF4-FFF2-40B4-BE49-F238E27FC236}">
                <a16:creationId xmlns:a16="http://schemas.microsoft.com/office/drawing/2014/main" id="{D049602E-18BC-6021-EFE0-7D7750AFDB86}"/>
              </a:ext>
            </a:extLst>
          </p:cNvPr>
          <p:cNvSpPr>
            <a:spLocks noChangeArrowheads="1" noChangeShapeType="1" noTextEdit="1"/>
          </p:cNvSpPr>
          <p:nvPr/>
        </p:nvSpPr>
        <p:spPr bwMode="auto">
          <a:xfrm>
            <a:off x="2362200" y="1600200"/>
            <a:ext cx="4419600" cy="4572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en-US" sz="3600" kern="10">
                <a:solidFill>
                  <a:srgbClr val="0000FF"/>
                </a:solidFill>
                <a:effectLst>
                  <a:outerShdw dist="35921" dir="2700000" algn="ctr" rotWithShape="0">
                    <a:srgbClr val="C0C0C0">
                      <a:alpha val="74997"/>
                    </a:srgbClr>
                  </a:outerShdw>
                </a:effectLst>
                <a:latin typeface="Impact" panose="020B0806030902050204" pitchFamily="34" charset="0"/>
              </a:rPr>
              <a:t>quickSort</a:t>
            </a:r>
          </a:p>
        </p:txBody>
      </p:sp>
      <p:sp>
        <p:nvSpPr>
          <p:cNvPr id="105475" name="Text Box 5">
            <a:extLst>
              <a:ext uri="{FF2B5EF4-FFF2-40B4-BE49-F238E27FC236}">
                <a16:creationId xmlns:a16="http://schemas.microsoft.com/office/drawing/2014/main" id="{01939BE7-CD68-B293-3705-3B7A4BBE2672}"/>
              </a:ext>
            </a:extLst>
          </p:cNvPr>
          <p:cNvSpPr txBox="1">
            <a:spLocks noChangeArrowheads="1"/>
          </p:cNvSpPr>
          <p:nvPr/>
        </p:nvSpPr>
        <p:spPr bwMode="auto">
          <a:xfrm>
            <a:off x="685800" y="533400"/>
            <a:ext cx="800100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t>The quickSort has a N*Log</a:t>
            </a:r>
            <a:r>
              <a:rPr lang="en-US" altLang="en-US" baseline="-25000"/>
              <a:t>2</a:t>
            </a:r>
            <a:r>
              <a:rPr lang="en-US" altLang="en-US"/>
              <a:t>N BigO.  </a:t>
            </a:r>
          </a:p>
          <a:p>
            <a:pPr algn="l"/>
            <a:endParaRPr lang="en-US" altLang="en-US"/>
          </a:p>
          <a:p>
            <a:pPr algn="l"/>
            <a:endParaRPr lang="en-US" altLang="en-US"/>
          </a:p>
          <a:p>
            <a:pPr algn="l"/>
            <a:endParaRPr lang="en-US" altLang="en-US"/>
          </a:p>
          <a:p>
            <a:pPr algn="l"/>
            <a:r>
              <a:rPr lang="en-US" altLang="en-US"/>
              <a:t>The quickSort method alone has a Log</a:t>
            </a:r>
            <a:r>
              <a:rPr lang="en-US" altLang="en-US" baseline="-25000"/>
              <a:t>2</a:t>
            </a:r>
            <a:r>
              <a:rPr lang="en-US" altLang="en-US"/>
              <a:t>N run time, but cannot be run without the partition method.</a:t>
            </a:r>
          </a:p>
          <a:p>
            <a:pPr algn="l"/>
            <a:endParaRPr lang="en-US" altLang="en-US"/>
          </a:p>
          <a:p>
            <a:pPr algn="l"/>
            <a:endParaRPr lang="en-US" altLang="en-US"/>
          </a:p>
          <a:p>
            <a:pPr algn="l"/>
            <a:endParaRPr lang="en-US" altLang="en-US"/>
          </a:p>
          <a:p>
            <a:pPr algn="l"/>
            <a:r>
              <a:rPr lang="en-US" altLang="en-US"/>
              <a:t>The partition method alone has an N run time and can be run without the quickSort method.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497" name="Object 2">
            <a:extLst>
              <a:ext uri="{FF2B5EF4-FFF2-40B4-BE49-F238E27FC236}">
                <a16:creationId xmlns:a16="http://schemas.microsoft.com/office/drawing/2014/main" id="{7550AF2D-15C8-F1FB-5502-88B0F129AC54}"/>
              </a:ext>
            </a:extLst>
          </p:cNvPr>
          <p:cNvGraphicFramePr>
            <a:graphicFrameLocks noChangeAspect="1"/>
          </p:cNvGraphicFramePr>
          <p:nvPr/>
        </p:nvGraphicFramePr>
        <p:xfrm>
          <a:off x="838200" y="1066800"/>
          <a:ext cx="7315200" cy="5449888"/>
        </p:xfrm>
        <a:graphic>
          <a:graphicData uri="http://schemas.openxmlformats.org/presentationml/2006/ole">
            <mc:AlternateContent xmlns:mc="http://schemas.openxmlformats.org/markup-compatibility/2006">
              <mc:Choice xmlns:v="urn:schemas-microsoft-com:vml" Requires="v">
                <p:oleObj name="Clip" r:id="rId2" imgW="30861000" imgH="22999700" progId="MS_ClipArt_Gallery.2">
                  <p:embed/>
                </p:oleObj>
              </mc:Choice>
              <mc:Fallback>
                <p:oleObj name="Clip" r:id="rId2" imgW="30861000" imgH="22999700" progId="MS_ClipArt_Gallery.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066800"/>
                        <a:ext cx="7315200" cy="54498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6498" name="WordArt 3">
            <a:extLst>
              <a:ext uri="{FF2B5EF4-FFF2-40B4-BE49-F238E27FC236}">
                <a16:creationId xmlns:a16="http://schemas.microsoft.com/office/drawing/2014/main" id="{8945BD23-7606-C4E3-ED24-E83786B2FFD0}"/>
              </a:ext>
            </a:extLst>
          </p:cNvPr>
          <p:cNvSpPr>
            <a:spLocks noChangeArrowheads="1" noChangeShapeType="1" noTextEdit="1"/>
          </p:cNvSpPr>
          <p:nvPr/>
        </p:nvSpPr>
        <p:spPr bwMode="auto">
          <a:xfrm>
            <a:off x="1371600" y="1600200"/>
            <a:ext cx="6019800" cy="2895600"/>
          </a:xfrm>
          <a:prstGeom prst="rect">
            <a:avLst/>
          </a:prstGeom>
        </p:spPr>
        <p:txBody>
          <a:bodyPr wrap="none" fromWordArt="1">
            <a:prstTxWarp prst="textPlain">
              <a:avLst>
                <a:gd name="adj" fmla="val 50000"/>
              </a:avLst>
            </a:prstTxWarp>
          </a:bodyPr>
          <a:lstStyle/>
          <a:p>
            <a:r>
              <a:rPr lang="en-US" sz="3600" kern="10">
                <a:ln w="9525">
                  <a:solidFill>
                    <a:srgbClr val="008000"/>
                  </a:solidFill>
                  <a:round/>
                  <a:headEnd/>
                  <a:tailEnd/>
                </a:ln>
                <a:solidFill>
                  <a:srgbClr val="0000FF"/>
                </a:solidFill>
                <a:effectLst>
                  <a:outerShdw dist="563972" dir="14049741" sx="125000" sy="125000" algn="tl" rotWithShape="0">
                    <a:srgbClr val="C7DFD3">
                      <a:alpha val="74997"/>
                    </a:srgbClr>
                  </a:outerShdw>
                </a:effectLst>
                <a:latin typeface="Times New Roman" panose="02020603050405020304" pitchFamily="18" charset="0"/>
                <a:cs typeface="Times New Roman" panose="02020603050405020304" pitchFamily="18" charset="0"/>
              </a:rPr>
              <a:t>The Merge Sort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ext Box 2">
            <a:extLst>
              <a:ext uri="{FF2B5EF4-FFF2-40B4-BE49-F238E27FC236}">
                <a16:creationId xmlns:a16="http://schemas.microsoft.com/office/drawing/2014/main" id="{B1EB4365-2C13-D7AD-4F60-2195E5FCA29B}"/>
              </a:ext>
            </a:extLst>
          </p:cNvPr>
          <p:cNvSpPr txBox="1">
            <a:spLocks noChangeArrowheads="1"/>
          </p:cNvSpPr>
          <p:nvPr/>
        </p:nvSpPr>
        <p:spPr bwMode="auto">
          <a:xfrm>
            <a:off x="153988" y="1219200"/>
            <a:ext cx="880745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endParaRPr lang="en-US" altLang="en-US" sz="2400">
              <a:latin typeface="Arial" panose="020B0604020202020204" pitchFamily="34" charset="0"/>
            </a:endParaRPr>
          </a:p>
          <a:p>
            <a:endParaRPr lang="en-US" altLang="en-US" sz="3200"/>
          </a:p>
          <a:p>
            <a:endParaRPr lang="en-US" altLang="en-US" sz="3200">
              <a:solidFill>
                <a:schemeClr val="accent2"/>
              </a:solidFill>
            </a:endParaRPr>
          </a:p>
          <a:p>
            <a:r>
              <a:rPr lang="en-US" altLang="en-US">
                <a:latin typeface="Arial" panose="020B0604020202020204" pitchFamily="34" charset="0"/>
              </a:rPr>
              <a:t>Merge sort splits the list into smaller sections</a:t>
            </a:r>
          </a:p>
          <a:p>
            <a:r>
              <a:rPr lang="en-US" altLang="en-US">
                <a:latin typeface="Arial" panose="020B0604020202020204" pitchFamily="34" charset="0"/>
              </a:rPr>
              <a:t>working its way down to groups of two or one.</a:t>
            </a:r>
          </a:p>
          <a:p>
            <a:r>
              <a:rPr lang="en-US" altLang="en-US">
                <a:latin typeface="Arial" panose="020B0604020202020204" pitchFamily="34" charset="0"/>
              </a:rPr>
              <a:t>Once the smallest groups are reached, the merge</a:t>
            </a:r>
          </a:p>
          <a:p>
            <a:r>
              <a:rPr lang="en-US" altLang="en-US">
                <a:latin typeface="Arial" panose="020B0604020202020204" pitchFamily="34" charset="0"/>
              </a:rPr>
              <a:t>method is called to organize the smaller lists.</a:t>
            </a:r>
          </a:p>
          <a:p>
            <a:r>
              <a:rPr lang="en-US" altLang="en-US">
                <a:latin typeface="Arial" panose="020B0604020202020204" pitchFamily="34" charset="0"/>
              </a:rPr>
              <a:t>Merge copies from the sub list to a temp array.</a:t>
            </a:r>
          </a:p>
          <a:p>
            <a:r>
              <a:rPr lang="en-US" altLang="en-US">
                <a:latin typeface="Arial" panose="020B0604020202020204" pitchFamily="34" charset="0"/>
              </a:rPr>
              <a:t>The items are put in the temp array in sorted order.</a:t>
            </a:r>
          </a:p>
          <a:p>
            <a:endParaRPr lang="en-US" altLang="en-US" sz="2400" b="0">
              <a:latin typeface="Times New Roman" panose="02020603050405020304" pitchFamily="18" charset="0"/>
            </a:endParaRPr>
          </a:p>
        </p:txBody>
      </p:sp>
      <p:sp>
        <p:nvSpPr>
          <p:cNvPr id="107522" name="WordArt 3">
            <a:extLst>
              <a:ext uri="{FF2B5EF4-FFF2-40B4-BE49-F238E27FC236}">
                <a16:creationId xmlns:a16="http://schemas.microsoft.com/office/drawing/2014/main" id="{EB4D928F-B802-5228-7C9C-50F26F1BCEBA}"/>
              </a:ext>
            </a:extLst>
          </p:cNvPr>
          <p:cNvSpPr>
            <a:spLocks noChangeArrowheads="1" noChangeShapeType="1" noTextEdit="1"/>
          </p:cNvSpPr>
          <p:nvPr/>
        </p:nvSpPr>
        <p:spPr bwMode="auto">
          <a:xfrm>
            <a:off x="1752600" y="1143000"/>
            <a:ext cx="5867400" cy="6858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alpha val="74997"/>
                    </a:srgbClr>
                  </a:outerShdw>
                </a:effectLst>
                <a:latin typeface="Impact" panose="020B0806030902050204" pitchFamily="34" charset="0"/>
              </a:rPr>
              <a:t>Merge Sort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WordArt 2">
            <a:extLst>
              <a:ext uri="{FF2B5EF4-FFF2-40B4-BE49-F238E27FC236}">
                <a16:creationId xmlns:a16="http://schemas.microsoft.com/office/drawing/2014/main" id="{A54BB370-41C7-804F-2958-FCB61D9D4CAC}"/>
              </a:ext>
            </a:extLst>
          </p:cNvPr>
          <p:cNvSpPr>
            <a:spLocks noChangeArrowheads="1" noChangeShapeType="1" noTextEdit="1"/>
          </p:cNvSpPr>
          <p:nvPr/>
        </p:nvSpPr>
        <p:spPr bwMode="auto">
          <a:xfrm>
            <a:off x="990600" y="228600"/>
            <a:ext cx="7162800" cy="9144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Merge Sort</a:t>
            </a:r>
          </a:p>
        </p:txBody>
      </p:sp>
      <p:sp>
        <p:nvSpPr>
          <p:cNvPr id="108546" name="Text Box 3">
            <a:extLst>
              <a:ext uri="{FF2B5EF4-FFF2-40B4-BE49-F238E27FC236}">
                <a16:creationId xmlns:a16="http://schemas.microsoft.com/office/drawing/2014/main" id="{A0779B61-7E16-3017-D5D6-B20BD69C2645}"/>
              </a:ext>
            </a:extLst>
          </p:cNvPr>
          <p:cNvSpPr txBox="1">
            <a:spLocks noChangeArrowheads="1"/>
          </p:cNvSpPr>
          <p:nvPr/>
        </p:nvSpPr>
        <p:spPr bwMode="auto">
          <a:xfrm>
            <a:off x="898525" y="142875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endParaRPr lang="en-US" altLang="en-US" b="0"/>
          </a:p>
        </p:txBody>
      </p:sp>
      <p:sp>
        <p:nvSpPr>
          <p:cNvPr id="108547" name="Rectangle 4">
            <a:extLst>
              <a:ext uri="{FF2B5EF4-FFF2-40B4-BE49-F238E27FC236}">
                <a16:creationId xmlns:a16="http://schemas.microsoft.com/office/drawing/2014/main" id="{14597B05-86CB-DB9E-30A4-93423B03E181}"/>
              </a:ext>
            </a:extLst>
          </p:cNvPr>
          <p:cNvSpPr>
            <a:spLocks noChangeArrowheads="1"/>
          </p:cNvSpPr>
          <p:nvPr/>
        </p:nvSpPr>
        <p:spPr bwMode="auto">
          <a:xfrm>
            <a:off x="3581400" y="1295400"/>
            <a:ext cx="1676400" cy="9906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1 . . 32</a:t>
            </a:r>
            <a:endParaRPr lang="en-US" altLang="en-US"/>
          </a:p>
        </p:txBody>
      </p:sp>
      <p:sp>
        <p:nvSpPr>
          <p:cNvPr id="108548" name="Rectangle 5">
            <a:extLst>
              <a:ext uri="{FF2B5EF4-FFF2-40B4-BE49-F238E27FC236}">
                <a16:creationId xmlns:a16="http://schemas.microsoft.com/office/drawing/2014/main" id="{99E8C551-7F92-E082-1744-E308A44245FA}"/>
              </a:ext>
            </a:extLst>
          </p:cNvPr>
          <p:cNvSpPr>
            <a:spLocks noChangeArrowheads="1"/>
          </p:cNvSpPr>
          <p:nvPr/>
        </p:nvSpPr>
        <p:spPr bwMode="auto">
          <a:xfrm>
            <a:off x="2057400" y="2438400"/>
            <a:ext cx="13716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1 . . 16</a:t>
            </a:r>
            <a:endParaRPr lang="en-US" altLang="en-US"/>
          </a:p>
        </p:txBody>
      </p:sp>
      <p:sp>
        <p:nvSpPr>
          <p:cNvPr id="108549" name="Rectangle 6">
            <a:extLst>
              <a:ext uri="{FF2B5EF4-FFF2-40B4-BE49-F238E27FC236}">
                <a16:creationId xmlns:a16="http://schemas.microsoft.com/office/drawing/2014/main" id="{EF4E1739-84F7-1180-CF0E-A45F5FBB4311}"/>
              </a:ext>
            </a:extLst>
          </p:cNvPr>
          <p:cNvSpPr>
            <a:spLocks noChangeArrowheads="1"/>
          </p:cNvSpPr>
          <p:nvPr/>
        </p:nvSpPr>
        <p:spPr bwMode="auto">
          <a:xfrm>
            <a:off x="5257800" y="2438400"/>
            <a:ext cx="15240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17 . . 32</a:t>
            </a:r>
            <a:endParaRPr lang="en-US" altLang="en-US"/>
          </a:p>
        </p:txBody>
      </p:sp>
      <p:sp>
        <p:nvSpPr>
          <p:cNvPr id="108550" name="Rectangle 7">
            <a:extLst>
              <a:ext uri="{FF2B5EF4-FFF2-40B4-BE49-F238E27FC236}">
                <a16:creationId xmlns:a16="http://schemas.microsoft.com/office/drawing/2014/main" id="{AD1DC5AE-5C62-35C3-DF70-65FB1361D07F}"/>
              </a:ext>
            </a:extLst>
          </p:cNvPr>
          <p:cNvSpPr>
            <a:spLocks noChangeArrowheads="1"/>
          </p:cNvSpPr>
          <p:nvPr/>
        </p:nvSpPr>
        <p:spPr bwMode="auto">
          <a:xfrm>
            <a:off x="4724400" y="3733800"/>
            <a:ext cx="14478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17 . .25</a:t>
            </a:r>
            <a:endParaRPr lang="en-US" altLang="en-US"/>
          </a:p>
        </p:txBody>
      </p:sp>
      <p:sp>
        <p:nvSpPr>
          <p:cNvPr id="108551" name="Rectangle 8">
            <a:extLst>
              <a:ext uri="{FF2B5EF4-FFF2-40B4-BE49-F238E27FC236}">
                <a16:creationId xmlns:a16="http://schemas.microsoft.com/office/drawing/2014/main" id="{12765179-B947-A120-480C-8924B7691C07}"/>
              </a:ext>
            </a:extLst>
          </p:cNvPr>
          <p:cNvSpPr>
            <a:spLocks noChangeArrowheads="1"/>
          </p:cNvSpPr>
          <p:nvPr/>
        </p:nvSpPr>
        <p:spPr bwMode="auto">
          <a:xfrm>
            <a:off x="6324600" y="3733800"/>
            <a:ext cx="15240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26 . . 32</a:t>
            </a:r>
            <a:endParaRPr lang="en-US" altLang="en-US"/>
          </a:p>
        </p:txBody>
      </p:sp>
      <p:sp>
        <p:nvSpPr>
          <p:cNvPr id="108552" name="Rectangle 9">
            <a:extLst>
              <a:ext uri="{FF2B5EF4-FFF2-40B4-BE49-F238E27FC236}">
                <a16:creationId xmlns:a16="http://schemas.microsoft.com/office/drawing/2014/main" id="{2B050FCD-0DF0-CFA5-8F00-282CFDCDA62F}"/>
              </a:ext>
            </a:extLst>
          </p:cNvPr>
          <p:cNvSpPr>
            <a:spLocks noChangeArrowheads="1"/>
          </p:cNvSpPr>
          <p:nvPr/>
        </p:nvSpPr>
        <p:spPr bwMode="auto">
          <a:xfrm>
            <a:off x="990600" y="3733800"/>
            <a:ext cx="13716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1 . . 8</a:t>
            </a:r>
            <a:endParaRPr lang="en-US" altLang="en-US"/>
          </a:p>
        </p:txBody>
      </p:sp>
      <p:sp>
        <p:nvSpPr>
          <p:cNvPr id="108553" name="Rectangle 10">
            <a:extLst>
              <a:ext uri="{FF2B5EF4-FFF2-40B4-BE49-F238E27FC236}">
                <a16:creationId xmlns:a16="http://schemas.microsoft.com/office/drawing/2014/main" id="{6ACA2BEB-68B3-BCF3-EAE4-942E0F1D2F88}"/>
              </a:ext>
            </a:extLst>
          </p:cNvPr>
          <p:cNvSpPr>
            <a:spLocks noChangeArrowheads="1"/>
          </p:cNvSpPr>
          <p:nvPr/>
        </p:nvSpPr>
        <p:spPr bwMode="auto">
          <a:xfrm>
            <a:off x="2590800" y="3733800"/>
            <a:ext cx="1447800" cy="914400"/>
          </a:xfrm>
          <a:prstGeom prst="rect">
            <a:avLst/>
          </a:prstGeom>
          <a:solidFill>
            <a:srgbClr val="FFFFCC"/>
          </a:solidFill>
          <a:ln w="9525">
            <a:solidFill>
              <a:schemeClr val="tx1"/>
            </a:solidFill>
            <a:miter lim="800000"/>
            <a:headEnd/>
            <a:tailEnd/>
          </a:ln>
        </p:spPr>
        <p:txBody>
          <a:bodyPr wrap="none" anchor="ct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r>
              <a:rPr lang="pt-BR" altLang="en-US"/>
              <a:t>9. . 16</a:t>
            </a:r>
            <a:endParaRPr lang="en-US" altLang="en-US"/>
          </a:p>
        </p:txBody>
      </p:sp>
      <p:sp>
        <p:nvSpPr>
          <p:cNvPr id="108554" name="Rectangle 11">
            <a:extLst>
              <a:ext uri="{FF2B5EF4-FFF2-40B4-BE49-F238E27FC236}">
                <a16:creationId xmlns:a16="http://schemas.microsoft.com/office/drawing/2014/main" id="{A6EBE596-3A9B-9A8C-4A50-930B28B751E2}"/>
              </a:ext>
            </a:extLst>
          </p:cNvPr>
          <p:cNvSpPr>
            <a:spLocks noChangeArrowheads="1"/>
          </p:cNvSpPr>
          <p:nvPr/>
        </p:nvSpPr>
        <p:spPr bwMode="auto">
          <a:xfrm>
            <a:off x="838200" y="5257800"/>
            <a:ext cx="777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spcBef>
                <a:spcPct val="50000"/>
              </a:spcBef>
            </a:pPr>
            <a:r>
              <a:rPr lang="en-US" altLang="en-US" b="0"/>
              <a:t>Merge sort chops in half repeatedly to avoid processing the whole list at once.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ext Box 2">
            <a:extLst>
              <a:ext uri="{FF2B5EF4-FFF2-40B4-BE49-F238E27FC236}">
                <a16:creationId xmlns:a16="http://schemas.microsoft.com/office/drawing/2014/main" id="{4EED9114-5F7B-8C9F-2B31-CAA849D8738D}"/>
              </a:ext>
            </a:extLst>
          </p:cNvPr>
          <p:cNvSpPr txBox="1">
            <a:spLocks noChangeArrowheads="1"/>
          </p:cNvSpPr>
          <p:nvPr/>
        </p:nvSpPr>
        <p:spPr bwMode="auto">
          <a:xfrm>
            <a:off x="228600" y="1524000"/>
            <a:ext cx="8582025"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pt-BR" altLang="en-US" sz="2400"/>
              <a:t>void mergeSort(Comparable[] stuff, int front, int back)</a:t>
            </a:r>
          </a:p>
          <a:p>
            <a:pPr algn="l"/>
            <a:r>
              <a:rPr lang="pt-BR" altLang="en-US" sz="2400"/>
              <a:t>{</a:t>
            </a:r>
          </a:p>
          <a:p>
            <a:pPr algn="l"/>
            <a:r>
              <a:rPr lang="pt-BR" altLang="en-US" sz="2400"/>
              <a:t>   int mid = (front+back)/2;</a:t>
            </a:r>
          </a:p>
          <a:p>
            <a:pPr algn="l"/>
            <a:r>
              <a:rPr lang="pt-BR" altLang="en-US" sz="2400"/>
              <a:t>   if(mid==front) return;</a:t>
            </a:r>
          </a:p>
          <a:p>
            <a:pPr algn="l"/>
            <a:r>
              <a:rPr lang="pt-BR" altLang="en-US" sz="2400"/>
              <a:t>   mergeSort(stuff, front, mid);</a:t>
            </a:r>
          </a:p>
          <a:p>
            <a:pPr algn="l"/>
            <a:r>
              <a:rPr lang="pt-BR" altLang="en-US" sz="2400"/>
              <a:t>   mergeSort(stuff, mid, back);</a:t>
            </a:r>
          </a:p>
          <a:p>
            <a:pPr algn="l"/>
            <a:r>
              <a:rPr lang="pt-BR" altLang="en-US" sz="2400"/>
              <a:t>   merge(stuff, front, back);</a:t>
            </a:r>
          </a:p>
          <a:p>
            <a:pPr algn="l"/>
            <a:r>
              <a:rPr lang="pt-BR" altLang="en-US" sz="2400"/>
              <a:t>}</a:t>
            </a:r>
            <a:endParaRPr lang="en-US" altLang="en-US">
              <a:solidFill>
                <a:srgbClr val="FF3300"/>
              </a:solidFill>
            </a:endParaRPr>
          </a:p>
        </p:txBody>
      </p:sp>
      <p:sp>
        <p:nvSpPr>
          <p:cNvPr id="109570" name="WordArt 4">
            <a:extLst>
              <a:ext uri="{FF2B5EF4-FFF2-40B4-BE49-F238E27FC236}">
                <a16:creationId xmlns:a16="http://schemas.microsoft.com/office/drawing/2014/main" id="{59D37D5A-5B17-E9F0-F970-A2D796503B19}"/>
              </a:ext>
            </a:extLst>
          </p:cNvPr>
          <p:cNvSpPr>
            <a:spLocks noChangeArrowheads="1" noChangeShapeType="1" noTextEdit="1"/>
          </p:cNvSpPr>
          <p:nvPr/>
        </p:nvSpPr>
        <p:spPr bwMode="auto">
          <a:xfrm>
            <a:off x="1981200" y="228600"/>
            <a:ext cx="4724400" cy="685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mergeSort  Algorithm</a:t>
            </a:r>
          </a:p>
        </p:txBody>
      </p:sp>
      <p:sp>
        <p:nvSpPr>
          <p:cNvPr id="109571" name="Text Box 5">
            <a:extLst>
              <a:ext uri="{FF2B5EF4-FFF2-40B4-BE49-F238E27FC236}">
                <a16:creationId xmlns:a16="http://schemas.microsoft.com/office/drawing/2014/main" id="{38738D7C-F21A-7046-9679-D8F588E7F4A2}"/>
              </a:ext>
            </a:extLst>
          </p:cNvPr>
          <p:cNvSpPr txBox="1">
            <a:spLocks noChangeArrowheads="1"/>
          </p:cNvSpPr>
          <p:nvPr/>
        </p:nvSpPr>
        <p:spPr bwMode="auto">
          <a:xfrm>
            <a:off x="1752600" y="5257800"/>
            <a:ext cx="685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spcBef>
                <a:spcPct val="50000"/>
              </a:spcBef>
            </a:pPr>
            <a:endParaRPr lang="en-US" altLang="en-US" sz="2400"/>
          </a:p>
        </p:txBody>
      </p:sp>
      <p:sp>
        <p:nvSpPr>
          <p:cNvPr id="109572" name="Text Box 6">
            <a:extLst>
              <a:ext uri="{FF2B5EF4-FFF2-40B4-BE49-F238E27FC236}">
                <a16:creationId xmlns:a16="http://schemas.microsoft.com/office/drawing/2014/main" id="{C9EDA23C-2890-D51A-2450-3550B0C0DA79}"/>
              </a:ext>
            </a:extLst>
          </p:cNvPr>
          <p:cNvSpPr txBox="1">
            <a:spLocks noChangeArrowheads="1"/>
          </p:cNvSpPr>
          <p:nvPr/>
        </p:nvSpPr>
        <p:spPr bwMode="auto">
          <a:xfrm>
            <a:off x="609600" y="4876800"/>
            <a:ext cx="80772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spcBef>
                <a:spcPct val="50000"/>
              </a:spcBef>
            </a:pPr>
            <a:r>
              <a:rPr lang="en-US" altLang="en-US">
                <a:solidFill>
                  <a:srgbClr val="FF3300"/>
                </a:solidFill>
              </a:rPr>
              <a:t>Collections.sort( ) uses the mergeSort.</a:t>
            </a:r>
          </a:p>
          <a:p>
            <a:pPr>
              <a:spcBef>
                <a:spcPct val="50000"/>
              </a:spcBef>
            </a:pPr>
            <a:r>
              <a:rPr lang="en-US" altLang="en-US">
                <a:solidFill>
                  <a:srgbClr val="FF3300"/>
                </a:solidFill>
              </a:rPr>
              <a:t>Arrays.sort( )  uses mergeSort for objects.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ext Box 4">
            <a:extLst>
              <a:ext uri="{FF2B5EF4-FFF2-40B4-BE49-F238E27FC236}">
                <a16:creationId xmlns:a16="http://schemas.microsoft.com/office/drawing/2014/main" id="{CBE56B2C-BA31-FB30-DD9B-731918F7BE56}"/>
              </a:ext>
            </a:extLst>
          </p:cNvPr>
          <p:cNvSpPr txBox="1">
            <a:spLocks noChangeArrowheads="1"/>
          </p:cNvSpPr>
          <p:nvPr/>
        </p:nvSpPr>
        <p:spPr bwMode="auto">
          <a:xfrm>
            <a:off x="-685800" y="184150"/>
            <a:ext cx="9355138" cy="666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2400" b="0"/>
              <a:t>	</a:t>
            </a:r>
            <a:r>
              <a:rPr lang="en-US" altLang="en-US" sz="2400"/>
              <a:t>void merge(Comparable[] stuff, int front, int back)	</a:t>
            </a:r>
          </a:p>
          <a:p>
            <a:pPr algn="l"/>
            <a:r>
              <a:rPr lang="en-US" altLang="en-US" sz="2400"/>
              <a:t>          {</a:t>
            </a:r>
          </a:p>
          <a:p>
            <a:pPr algn="l"/>
            <a:r>
              <a:rPr lang="en-US" altLang="en-US" sz="2400"/>
              <a:t>	   Comparable[] temp = new Comparable[back-front];</a:t>
            </a:r>
          </a:p>
          <a:p>
            <a:pPr algn="l"/>
            <a:r>
              <a:rPr lang="en-US" altLang="en-US" sz="2400"/>
              <a:t>	   int i = front, j = (front+back)/2, k =0, mid =j;</a:t>
            </a:r>
          </a:p>
          <a:p>
            <a:pPr algn="l"/>
            <a:r>
              <a:rPr lang="en-US" altLang="en-US" sz="2400"/>
              <a:t>	   while( i&lt;mid &amp;&amp; j&lt;back) {</a:t>
            </a:r>
          </a:p>
          <a:p>
            <a:pPr algn="l"/>
            <a:r>
              <a:rPr lang="en-US" altLang="en-US" sz="2400"/>
              <a:t>	      if(stuff[i].</a:t>
            </a:r>
            <a:r>
              <a:rPr lang="en-US" altLang="en-US" sz="2400">
                <a:solidFill>
                  <a:srgbClr val="FF3300"/>
                </a:solidFill>
              </a:rPr>
              <a:t>compareTo</a:t>
            </a:r>
            <a:r>
              <a:rPr lang="en-US" altLang="en-US" sz="2400"/>
              <a:t>(stuff[j])&lt;0)</a:t>
            </a:r>
          </a:p>
          <a:p>
            <a:pPr algn="l"/>
            <a:r>
              <a:rPr lang="en-US" altLang="en-US" sz="2400"/>
              <a:t>	         temp[k++]= stuff[i++];</a:t>
            </a:r>
          </a:p>
          <a:p>
            <a:pPr algn="l"/>
            <a:r>
              <a:rPr lang="en-US" altLang="en-US" sz="2400"/>
              <a:t>	      else</a:t>
            </a:r>
          </a:p>
          <a:p>
            <a:pPr algn="l"/>
            <a:r>
              <a:rPr lang="en-US" altLang="en-US" sz="2400"/>
              <a:t>	         temp[k++]= stuff[j++];</a:t>
            </a:r>
          </a:p>
          <a:p>
            <a:pPr algn="l"/>
            <a:r>
              <a:rPr lang="en-US" altLang="en-US" sz="2400"/>
              <a:t>	   }</a:t>
            </a:r>
          </a:p>
          <a:p>
            <a:pPr algn="l"/>
            <a:r>
              <a:rPr lang="en-US" altLang="en-US" sz="2400"/>
              <a:t>	   </a:t>
            </a:r>
          </a:p>
          <a:p>
            <a:pPr algn="l"/>
            <a:r>
              <a:rPr lang="en-US" altLang="en-US" sz="2400"/>
              <a:t>	   while(i&lt;mid) </a:t>
            </a:r>
          </a:p>
          <a:p>
            <a:pPr algn="l"/>
            <a:r>
              <a:rPr lang="en-US" altLang="en-US" sz="2400"/>
              <a:t>	      temp[k++]= stuff[i++];</a:t>
            </a:r>
          </a:p>
          <a:p>
            <a:pPr algn="l"/>
            <a:r>
              <a:rPr lang="en-US" altLang="en-US" sz="2400"/>
              <a:t>	   while(j&lt;back) </a:t>
            </a:r>
          </a:p>
          <a:p>
            <a:pPr algn="l"/>
            <a:r>
              <a:rPr lang="en-US" altLang="en-US" sz="2400"/>
              <a:t>	      temp[k++]= stuff[j++];</a:t>
            </a:r>
          </a:p>
          <a:p>
            <a:pPr algn="l"/>
            <a:r>
              <a:rPr lang="en-US" altLang="en-US" sz="2400"/>
              <a:t>	   for(i = 0; i&lt;back-front; ++i)</a:t>
            </a:r>
          </a:p>
          <a:p>
            <a:pPr algn="l"/>
            <a:r>
              <a:rPr lang="en-US" altLang="en-US" sz="2400"/>
              <a:t>	      stuff[front+i]=temp[i];</a:t>
            </a:r>
          </a:p>
          <a:p>
            <a:pPr algn="l"/>
            <a:r>
              <a:rPr lang="en-US" altLang="en-US" sz="2400"/>
              <a:t>	}</a:t>
            </a:r>
          </a:p>
        </p:txBody>
      </p:sp>
      <p:sp>
        <p:nvSpPr>
          <p:cNvPr id="110594" name="WordArt 5">
            <a:extLst>
              <a:ext uri="{FF2B5EF4-FFF2-40B4-BE49-F238E27FC236}">
                <a16:creationId xmlns:a16="http://schemas.microsoft.com/office/drawing/2014/main" id="{BAC8C6D5-C76D-0163-DBE3-97B7F2C0F84C}"/>
              </a:ext>
            </a:extLst>
          </p:cNvPr>
          <p:cNvSpPr>
            <a:spLocks noChangeArrowheads="1" noChangeShapeType="1" noTextEdit="1"/>
          </p:cNvSpPr>
          <p:nvPr/>
        </p:nvSpPr>
        <p:spPr bwMode="auto">
          <a:xfrm>
            <a:off x="5562600" y="3200400"/>
            <a:ext cx="3124200" cy="20574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Merge</a:t>
            </a:r>
          </a:p>
          <a:p>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W/Objects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WordArt 2">
            <a:extLst>
              <a:ext uri="{FF2B5EF4-FFF2-40B4-BE49-F238E27FC236}">
                <a16:creationId xmlns:a16="http://schemas.microsoft.com/office/drawing/2014/main" id="{597167E9-BADD-C388-719E-F9063A2F55CD}"/>
              </a:ext>
            </a:extLst>
          </p:cNvPr>
          <p:cNvSpPr>
            <a:spLocks noChangeArrowheads="1" noChangeShapeType="1" noTextEdit="1"/>
          </p:cNvSpPr>
          <p:nvPr/>
        </p:nvSpPr>
        <p:spPr bwMode="auto">
          <a:xfrm>
            <a:off x="838200" y="609600"/>
            <a:ext cx="7162800" cy="914400"/>
          </a:xfrm>
          <a:prstGeom prst="rect">
            <a:avLst/>
          </a:prstGeom>
        </p:spPr>
        <p:txBody>
          <a:bodyPr wrap="none" fromWordArt="1">
            <a:prstTxWarp prst="textPlain">
              <a:avLst>
                <a:gd name="adj" fmla="val 50000"/>
              </a:avLst>
            </a:prstTxWarp>
          </a:bodyPr>
          <a:lstStyle/>
          <a:p>
            <a:r>
              <a:rPr lang="en-US" sz="3600" kern="10">
                <a:ln w="9525">
                  <a:solidFill>
                    <a:srgbClr val="FFFF99"/>
                  </a:solidFill>
                  <a:round/>
                  <a:headEnd/>
                  <a:tailEnd/>
                </a:ln>
                <a:solidFill>
                  <a:srgbClr val="008000"/>
                </a:solidFill>
                <a:effectLst>
                  <a:outerShdw dist="35921" dir="2700000" algn="ctr" rotWithShape="0">
                    <a:srgbClr val="C0C0C0">
                      <a:alpha val="74997"/>
                    </a:srgbClr>
                  </a:outerShdw>
                </a:effectLst>
                <a:latin typeface="Impact" panose="020B0806030902050204" pitchFamily="34" charset="0"/>
              </a:rPr>
              <a:t>Merge Sort in Action</a:t>
            </a:r>
          </a:p>
        </p:txBody>
      </p:sp>
      <p:sp>
        <p:nvSpPr>
          <p:cNvPr id="111618" name="Text Box 3">
            <a:extLst>
              <a:ext uri="{FF2B5EF4-FFF2-40B4-BE49-F238E27FC236}">
                <a16:creationId xmlns:a16="http://schemas.microsoft.com/office/drawing/2014/main" id="{1DA53A43-C100-8330-15D8-36D8058C4A50}"/>
              </a:ext>
            </a:extLst>
          </p:cNvPr>
          <p:cNvSpPr txBox="1">
            <a:spLocks noChangeArrowheads="1"/>
          </p:cNvSpPr>
          <p:nvPr/>
        </p:nvSpPr>
        <p:spPr bwMode="auto">
          <a:xfrm>
            <a:off x="685800" y="1905000"/>
            <a:ext cx="73152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solidFill>
                  <a:srgbClr val="CC0000"/>
                </a:solidFill>
              </a:rPr>
              <a:t>Original List </a:t>
            </a:r>
            <a:br>
              <a:rPr lang="en-US" altLang="en-US">
                <a:solidFill>
                  <a:srgbClr val="CC0000"/>
                </a:solidFill>
              </a:rPr>
            </a:br>
            <a:r>
              <a:rPr lang="en-US" altLang="en-US"/>
              <a:t>Integer[] stuff = {90,40,20,30,10,67};</a:t>
            </a:r>
          </a:p>
          <a:p>
            <a:pPr algn="l"/>
            <a:br>
              <a:rPr lang="en-US" altLang="en-US"/>
            </a:br>
            <a:endParaRPr lang="en-US" altLang="en-US"/>
          </a:p>
          <a:p>
            <a:pPr algn="l"/>
            <a:r>
              <a:rPr lang="en-US" altLang="en-US"/>
              <a:t>pass 0  -  90  </a:t>
            </a:r>
            <a:r>
              <a:rPr lang="en-US" altLang="en-US">
                <a:solidFill>
                  <a:schemeClr val="accent2"/>
                </a:solidFill>
              </a:rPr>
              <a:t>20  40</a:t>
            </a:r>
            <a:r>
              <a:rPr lang="en-US" altLang="en-US"/>
              <a:t>  30  67  10</a:t>
            </a:r>
          </a:p>
          <a:p>
            <a:pPr algn="l"/>
            <a:r>
              <a:rPr lang="en-US" altLang="en-US"/>
              <a:t>pass 1  -  </a:t>
            </a:r>
            <a:r>
              <a:rPr lang="en-US" altLang="en-US">
                <a:solidFill>
                  <a:schemeClr val="accent2"/>
                </a:solidFill>
              </a:rPr>
              <a:t>20  40  90</a:t>
            </a:r>
            <a:r>
              <a:rPr lang="en-US" altLang="en-US"/>
              <a:t>  30  67  10</a:t>
            </a:r>
          </a:p>
          <a:p>
            <a:pPr algn="l"/>
            <a:r>
              <a:rPr lang="en-US" altLang="en-US"/>
              <a:t>pass 2  -  20  40  90  30  </a:t>
            </a:r>
            <a:r>
              <a:rPr lang="en-US" altLang="en-US">
                <a:solidFill>
                  <a:schemeClr val="accent2"/>
                </a:solidFill>
              </a:rPr>
              <a:t>10  67</a:t>
            </a:r>
          </a:p>
          <a:p>
            <a:pPr algn="l"/>
            <a:r>
              <a:rPr lang="en-US" altLang="en-US"/>
              <a:t>pass 3  -  20  40  90  </a:t>
            </a:r>
            <a:r>
              <a:rPr lang="en-US" altLang="en-US">
                <a:solidFill>
                  <a:schemeClr val="accent2"/>
                </a:solidFill>
              </a:rPr>
              <a:t>10  30  67</a:t>
            </a:r>
          </a:p>
          <a:p>
            <a:pPr algn="l"/>
            <a:r>
              <a:rPr lang="en-US" altLang="en-US"/>
              <a:t>pass 4  -  </a:t>
            </a:r>
            <a:r>
              <a:rPr lang="en-US" altLang="en-US">
                <a:solidFill>
                  <a:schemeClr val="accent2"/>
                </a:solidFill>
              </a:rPr>
              <a:t>10  20  30  40  67  90</a:t>
            </a:r>
            <a:r>
              <a:rPr lang="en-US" altLang="en-US"/>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WordArt 2">
            <a:extLst>
              <a:ext uri="{FF2B5EF4-FFF2-40B4-BE49-F238E27FC236}">
                <a16:creationId xmlns:a16="http://schemas.microsoft.com/office/drawing/2014/main" id="{5A2D729F-CF36-0CB7-AFED-B0CEB7F0EE73}"/>
              </a:ext>
            </a:extLst>
          </p:cNvPr>
          <p:cNvSpPr>
            <a:spLocks noChangeArrowheads="1" noChangeShapeType="1" noTextEdit="1"/>
          </p:cNvSpPr>
          <p:nvPr/>
        </p:nvSpPr>
        <p:spPr bwMode="auto">
          <a:xfrm>
            <a:off x="2514600" y="4191000"/>
            <a:ext cx="4191000" cy="4572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en-US" sz="3600" kern="10">
                <a:solidFill>
                  <a:srgbClr val="0000FF"/>
                </a:solidFill>
                <a:effectLst>
                  <a:outerShdw dist="35921" dir="2700000" algn="ctr" rotWithShape="0">
                    <a:srgbClr val="C0C0C0">
                      <a:alpha val="74997"/>
                    </a:srgbClr>
                  </a:outerShdw>
                </a:effectLst>
                <a:latin typeface="Impact" panose="020B0806030902050204" pitchFamily="34" charset="0"/>
              </a:rPr>
              <a:t>Merge</a:t>
            </a:r>
          </a:p>
        </p:txBody>
      </p:sp>
      <p:sp>
        <p:nvSpPr>
          <p:cNvPr id="112642" name="WordArt 3">
            <a:extLst>
              <a:ext uri="{FF2B5EF4-FFF2-40B4-BE49-F238E27FC236}">
                <a16:creationId xmlns:a16="http://schemas.microsoft.com/office/drawing/2014/main" id="{4E528C3F-3374-DDC0-F99A-634C874F7DA8}"/>
              </a:ext>
            </a:extLst>
          </p:cNvPr>
          <p:cNvSpPr>
            <a:spLocks noChangeArrowheads="1" noChangeShapeType="1" noTextEdit="1"/>
          </p:cNvSpPr>
          <p:nvPr/>
        </p:nvSpPr>
        <p:spPr bwMode="auto">
          <a:xfrm>
            <a:off x="2362200" y="1600200"/>
            <a:ext cx="4419600" cy="4572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en-US" sz="3600" kern="10">
                <a:solidFill>
                  <a:srgbClr val="0000FF"/>
                </a:solidFill>
                <a:effectLst>
                  <a:outerShdw dist="35921" dir="2700000" algn="ctr" rotWithShape="0">
                    <a:srgbClr val="C0C0C0">
                      <a:alpha val="74997"/>
                    </a:srgbClr>
                  </a:outerShdw>
                </a:effectLst>
                <a:latin typeface="Impact" panose="020B0806030902050204" pitchFamily="34" charset="0"/>
              </a:rPr>
              <a:t>mergeSort</a:t>
            </a:r>
          </a:p>
        </p:txBody>
      </p:sp>
      <p:sp>
        <p:nvSpPr>
          <p:cNvPr id="112643" name="Text Box 4">
            <a:extLst>
              <a:ext uri="{FF2B5EF4-FFF2-40B4-BE49-F238E27FC236}">
                <a16:creationId xmlns:a16="http://schemas.microsoft.com/office/drawing/2014/main" id="{F0016080-D5CC-28AE-5B51-C9636E4C03BE}"/>
              </a:ext>
            </a:extLst>
          </p:cNvPr>
          <p:cNvSpPr txBox="1">
            <a:spLocks noChangeArrowheads="1"/>
          </p:cNvSpPr>
          <p:nvPr/>
        </p:nvSpPr>
        <p:spPr bwMode="auto">
          <a:xfrm>
            <a:off x="685800" y="609600"/>
            <a:ext cx="800100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a:t>The mergeSort has a N*Log</a:t>
            </a:r>
            <a:r>
              <a:rPr lang="en-US" altLang="en-US" baseline="-25000"/>
              <a:t>2</a:t>
            </a:r>
            <a:r>
              <a:rPr lang="en-US" altLang="en-US"/>
              <a:t>N BigO.  </a:t>
            </a:r>
          </a:p>
          <a:p>
            <a:pPr algn="l"/>
            <a:endParaRPr lang="en-US" altLang="en-US"/>
          </a:p>
          <a:p>
            <a:pPr algn="l"/>
            <a:endParaRPr lang="en-US" altLang="en-US"/>
          </a:p>
          <a:p>
            <a:pPr algn="l"/>
            <a:endParaRPr lang="en-US" altLang="en-US"/>
          </a:p>
          <a:p>
            <a:pPr algn="l"/>
            <a:r>
              <a:rPr lang="en-US" altLang="en-US"/>
              <a:t>The mergeSort method alone has a Log</a:t>
            </a:r>
            <a:r>
              <a:rPr lang="en-US" altLang="en-US" baseline="-25000"/>
              <a:t>2</a:t>
            </a:r>
            <a:r>
              <a:rPr lang="en-US" altLang="en-US"/>
              <a:t>N run time, but cannot be run without the merge method.</a:t>
            </a:r>
          </a:p>
          <a:p>
            <a:pPr algn="l"/>
            <a:endParaRPr lang="en-US" altLang="en-US"/>
          </a:p>
          <a:p>
            <a:pPr algn="l"/>
            <a:endParaRPr lang="en-US" altLang="en-US"/>
          </a:p>
          <a:p>
            <a:pPr algn="l"/>
            <a:endParaRPr lang="en-US" altLang="en-US"/>
          </a:p>
          <a:p>
            <a:pPr algn="l"/>
            <a:r>
              <a:rPr lang="en-US" altLang="en-US"/>
              <a:t>The merge method alone has an N run time and can be run without the mergeSort method.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WordArt 2">
            <a:extLst>
              <a:ext uri="{FF2B5EF4-FFF2-40B4-BE49-F238E27FC236}">
                <a16:creationId xmlns:a16="http://schemas.microsoft.com/office/drawing/2014/main" id="{120F03A4-896D-5326-E25B-B09619D3E877}"/>
              </a:ext>
            </a:extLst>
          </p:cNvPr>
          <p:cNvSpPr>
            <a:spLocks noChangeArrowheads="1" noChangeShapeType="1" noTextEdit="1"/>
          </p:cNvSpPr>
          <p:nvPr/>
        </p:nvSpPr>
        <p:spPr bwMode="auto">
          <a:xfrm>
            <a:off x="685800" y="1295400"/>
            <a:ext cx="7162800" cy="3733800"/>
          </a:xfrm>
          <a:prstGeom prst="rect">
            <a:avLst/>
          </a:prstGeom>
        </p:spPr>
        <p:txBody>
          <a:bodyPr wrap="none" fromWordArt="1">
            <a:prstTxWarp prst="textDoubleWave1">
              <a:avLst>
                <a:gd name="adj1" fmla="val 6500"/>
                <a:gd name="adj2" fmla="val 0"/>
              </a:avLst>
            </a:prstTxWarp>
          </a:bodyPr>
          <a:lstStyle/>
          <a:p>
            <a:r>
              <a:rPr lang="en-US" sz="3600" kern="10" spc="-360">
                <a:ln w="12700">
                  <a:solidFill>
                    <a:srgbClr val="000099"/>
                  </a:solidFill>
                  <a:round/>
                  <a:headEnd/>
                  <a:tailEnd/>
                </a:ln>
                <a:solidFill>
                  <a:srgbClr val="33CCFF"/>
                </a:solidFill>
                <a:effectLst>
                  <a:outerShdw dist="125724" dir="18900000" algn="ctr" rotWithShape="0">
                    <a:srgbClr val="000099">
                      <a:alpha val="74997"/>
                    </a:srgbClr>
                  </a:outerShdw>
                </a:effectLst>
                <a:latin typeface="Impact" panose="020B0806030902050204" pitchFamily="34" charset="0"/>
              </a:rPr>
              <a:t>Speed</a:t>
            </a:r>
          </a:p>
        </p:txBody>
      </p:sp>
      <p:graphicFrame>
        <p:nvGraphicFramePr>
          <p:cNvPr id="210947" name="Object 3">
            <a:extLst>
              <a:ext uri="{FF2B5EF4-FFF2-40B4-BE49-F238E27FC236}">
                <a16:creationId xmlns:a16="http://schemas.microsoft.com/office/drawing/2014/main" id="{B625D8DE-4156-F43A-A9C4-7133DBA55E35}"/>
              </a:ext>
            </a:extLst>
          </p:cNvPr>
          <p:cNvGraphicFramePr>
            <a:graphicFrameLocks noChangeAspect="1"/>
          </p:cNvGraphicFramePr>
          <p:nvPr/>
        </p:nvGraphicFramePr>
        <p:xfrm>
          <a:off x="9448800" y="3733800"/>
          <a:ext cx="3124200" cy="2482850"/>
        </p:xfrm>
        <a:graphic>
          <a:graphicData uri="http://schemas.openxmlformats.org/presentationml/2006/ole">
            <mc:AlternateContent xmlns:mc="http://schemas.openxmlformats.org/markup-compatibility/2006">
              <mc:Choice xmlns:v="urn:schemas-microsoft-com:vml" Requires="v">
                <p:oleObj name="Clip" r:id="rId3" imgW="24790400" imgH="19697700" progId="MS_ClipArt_Gallery.2">
                  <p:embed/>
                </p:oleObj>
              </mc:Choice>
              <mc:Fallback>
                <p:oleObj name="Clip" r:id="rId3" imgW="24790400" imgH="19697700" progId="MS_ClipArt_Gallery.2">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8800" y="3733800"/>
                        <a:ext cx="3124200" cy="2482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10948" name="Object 4">
            <a:extLst>
              <a:ext uri="{FF2B5EF4-FFF2-40B4-BE49-F238E27FC236}">
                <a16:creationId xmlns:a16="http://schemas.microsoft.com/office/drawing/2014/main" id="{34639E8E-5512-0BE3-9384-AFEDC477B76D}"/>
              </a:ext>
            </a:extLst>
          </p:cNvPr>
          <p:cNvGraphicFramePr>
            <a:graphicFrameLocks noChangeAspect="1"/>
          </p:cNvGraphicFramePr>
          <p:nvPr/>
        </p:nvGraphicFramePr>
        <p:xfrm>
          <a:off x="9144000" y="381000"/>
          <a:ext cx="3124200" cy="2482850"/>
        </p:xfrm>
        <a:graphic>
          <a:graphicData uri="http://schemas.openxmlformats.org/presentationml/2006/ole">
            <mc:AlternateContent xmlns:mc="http://schemas.openxmlformats.org/markup-compatibility/2006">
              <mc:Choice xmlns:v="urn:schemas-microsoft-com:vml" Requires="v">
                <p:oleObj name="Clip" r:id="rId3" imgW="24790400" imgH="19697700" progId="MS_ClipArt_Gallery.2">
                  <p:embed/>
                </p:oleObj>
              </mc:Choice>
              <mc:Fallback>
                <p:oleObj name="Clip" r:id="rId3" imgW="24790400" imgH="19697700" progId="MS_ClipArt_Gallery.2">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0" y="381000"/>
                        <a:ext cx="3124200" cy="2482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0947"/>
                                        </p:tgtEl>
                                        <p:attrNameLst>
                                          <p:attrName>style.visibility</p:attrName>
                                        </p:attrNameLst>
                                      </p:cBhvr>
                                      <p:to>
                                        <p:strVal val="visible"/>
                                      </p:to>
                                    </p:set>
                                    <p:anim calcmode="lin" valueType="num">
                                      <p:cBhvr additive="base">
                                        <p:cTn id="7" dur="500" fill="hold"/>
                                        <p:tgtEl>
                                          <p:spTgt spid="210947"/>
                                        </p:tgtEl>
                                        <p:attrNameLst>
                                          <p:attrName>ppt_x</p:attrName>
                                        </p:attrNameLst>
                                      </p:cBhvr>
                                      <p:tavLst>
                                        <p:tav tm="0">
                                          <p:val>
                                            <p:strVal val="0-#ppt_w/2"/>
                                          </p:val>
                                        </p:tav>
                                        <p:tav tm="100000">
                                          <p:val>
                                            <p:strVal val="#ppt_x"/>
                                          </p:val>
                                        </p:tav>
                                      </p:tavLst>
                                    </p:anim>
                                    <p:anim calcmode="lin" valueType="num">
                                      <p:cBhvr additive="base">
                                        <p:cTn id="8" dur="500" fill="hold"/>
                                        <p:tgtEl>
                                          <p:spTgt spid="21094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0948"/>
                                        </p:tgtEl>
                                        <p:attrNameLst>
                                          <p:attrName>style.visibility</p:attrName>
                                        </p:attrNameLst>
                                      </p:cBhvr>
                                      <p:to>
                                        <p:strVal val="visible"/>
                                      </p:to>
                                    </p:set>
                                    <p:anim calcmode="lin" valueType="num">
                                      <p:cBhvr additive="base">
                                        <p:cTn id="13" dur="500" fill="hold"/>
                                        <p:tgtEl>
                                          <p:spTgt spid="210948"/>
                                        </p:tgtEl>
                                        <p:attrNameLst>
                                          <p:attrName>ppt_x</p:attrName>
                                        </p:attrNameLst>
                                      </p:cBhvr>
                                      <p:tavLst>
                                        <p:tav tm="0">
                                          <p:val>
                                            <p:strVal val="0-#ppt_w/2"/>
                                          </p:val>
                                        </p:tav>
                                        <p:tav tm="100000">
                                          <p:val>
                                            <p:strVal val="#ppt_x"/>
                                          </p:val>
                                        </p:tav>
                                      </p:tavLst>
                                    </p:anim>
                                    <p:anim calcmode="lin" valueType="num">
                                      <p:cBhvr additive="base">
                                        <p:cTn id="14" dur="500" fill="hold"/>
                                        <p:tgtEl>
                                          <p:spTgt spid="21094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nodeType="clickEffect">
                                  <p:stCondLst>
                                    <p:cond delay="0"/>
                                  </p:stCondLst>
                                  <p:childTnLst>
                                    <p:set>
                                      <p:cBhvr>
                                        <p:cTn id="18" dur="1" fill="hold">
                                          <p:stCondLst>
                                            <p:cond delay="0"/>
                                          </p:stCondLst>
                                        </p:cTn>
                                        <p:tgtEl>
                                          <p:spTgt spid="210946"/>
                                        </p:tgtEl>
                                        <p:attrNameLst>
                                          <p:attrName>style.visibility</p:attrName>
                                        </p:attrNameLst>
                                      </p:cBhvr>
                                      <p:to>
                                        <p:strVal val="visible"/>
                                      </p:to>
                                    </p:set>
                                    <p:anim calcmode="lin" valueType="num">
                                      <p:cBhvr additive="base">
                                        <p:cTn id="19" dur="500" fill="hold"/>
                                        <p:tgtEl>
                                          <p:spTgt spid="210946"/>
                                        </p:tgtEl>
                                        <p:attrNameLst>
                                          <p:attrName>ppt_x</p:attrName>
                                        </p:attrNameLst>
                                      </p:cBhvr>
                                      <p:tavLst>
                                        <p:tav tm="0">
                                          <p:val>
                                            <p:strVal val="1+#ppt_w/2"/>
                                          </p:val>
                                        </p:tav>
                                        <p:tav tm="100000">
                                          <p:val>
                                            <p:strVal val="#ppt_x"/>
                                          </p:val>
                                        </p:tav>
                                      </p:tavLst>
                                    </p:anim>
                                    <p:anim calcmode="lin" valueType="num">
                                      <p:cBhvr additive="base">
                                        <p:cTn id="20" dur="500" fill="hold"/>
                                        <p:tgtEl>
                                          <p:spTgt spid="21094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ext Box 2">
            <a:extLst>
              <a:ext uri="{FF2B5EF4-FFF2-40B4-BE49-F238E27FC236}">
                <a16:creationId xmlns:a16="http://schemas.microsoft.com/office/drawing/2014/main" id="{2324AF54-D63B-8971-1982-2ECCEFDE20E0}"/>
              </a:ext>
            </a:extLst>
          </p:cNvPr>
          <p:cNvSpPr txBox="1">
            <a:spLocks noChangeArrowheads="1"/>
          </p:cNvSpPr>
          <p:nvPr/>
        </p:nvSpPr>
        <p:spPr bwMode="auto">
          <a:xfrm>
            <a:off x="685800" y="1905000"/>
            <a:ext cx="5427663" cy="378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b="0"/>
              <a:t>for( int i=0; i&lt;20; i++)</a:t>
            </a:r>
          </a:p>
          <a:p>
            <a:pPr algn="l"/>
            <a:r>
              <a:rPr lang="en-US" altLang="en-US" b="0"/>
              <a:t>   System.out.println(i);</a:t>
            </a:r>
          </a:p>
          <a:p>
            <a:pPr algn="l"/>
            <a:endParaRPr lang="en-US" altLang="en-US" b="0"/>
          </a:p>
          <a:p>
            <a:pPr algn="l"/>
            <a:endParaRPr lang="en-US" altLang="en-US" b="0"/>
          </a:p>
          <a:p>
            <a:pPr algn="l"/>
            <a:endParaRPr lang="en-US" altLang="en-US" b="0"/>
          </a:p>
          <a:p>
            <a:pPr algn="l"/>
            <a:r>
              <a:rPr lang="en-US" altLang="en-US" b="0"/>
              <a:t>for( int j=0; j&lt;20; j++)</a:t>
            </a:r>
          </a:p>
          <a:p>
            <a:pPr algn="l"/>
            <a:r>
              <a:rPr lang="en-US" altLang="en-US" b="0"/>
              <a:t>   for( int k=0; k&lt;20; k++)</a:t>
            </a:r>
          </a:p>
          <a:p>
            <a:pPr algn="l"/>
            <a:r>
              <a:rPr lang="en-US" altLang="en-US" b="0"/>
              <a:t>      System.out.println(j*k);</a:t>
            </a:r>
          </a:p>
          <a:p>
            <a:endParaRPr lang="en-US" altLang="en-US" sz="1800" b="0"/>
          </a:p>
        </p:txBody>
      </p:sp>
      <p:sp>
        <p:nvSpPr>
          <p:cNvPr id="114690" name="WordArt 3">
            <a:extLst>
              <a:ext uri="{FF2B5EF4-FFF2-40B4-BE49-F238E27FC236}">
                <a16:creationId xmlns:a16="http://schemas.microsoft.com/office/drawing/2014/main" id="{4B8B6879-2CD2-E162-1B44-FBC93D6C0D77}"/>
              </a:ext>
            </a:extLst>
          </p:cNvPr>
          <p:cNvSpPr>
            <a:spLocks noChangeArrowheads="1" noChangeShapeType="1" noTextEdit="1"/>
          </p:cNvSpPr>
          <p:nvPr/>
        </p:nvSpPr>
        <p:spPr bwMode="auto">
          <a:xfrm>
            <a:off x="1143000" y="381000"/>
            <a:ext cx="6629400" cy="11430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Runtime Analysis</a:t>
            </a:r>
          </a:p>
        </p:txBody>
      </p:sp>
      <p:sp>
        <p:nvSpPr>
          <p:cNvPr id="114691" name="Text Box 5">
            <a:extLst>
              <a:ext uri="{FF2B5EF4-FFF2-40B4-BE49-F238E27FC236}">
                <a16:creationId xmlns:a16="http://schemas.microsoft.com/office/drawing/2014/main" id="{CB28ADAE-F497-F9BE-CF7C-3393C4A887F8}"/>
              </a:ext>
            </a:extLst>
          </p:cNvPr>
          <p:cNvSpPr txBox="1">
            <a:spLocks noChangeArrowheads="1"/>
          </p:cNvSpPr>
          <p:nvPr/>
        </p:nvSpPr>
        <p:spPr bwMode="auto">
          <a:xfrm>
            <a:off x="5486400" y="3048000"/>
            <a:ext cx="3276600" cy="1200150"/>
          </a:xfrm>
          <a:prstGeom prst="rect">
            <a:avLst/>
          </a:prstGeom>
          <a:noFill/>
          <a:ln w="12700">
            <a:solidFill>
              <a:srgbClr val="3399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2400">
                <a:solidFill>
                  <a:srgbClr val="339933"/>
                </a:solidFill>
              </a:rPr>
              <a:t>Which section of code would execute the fastest?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ext Box 2">
            <a:extLst>
              <a:ext uri="{FF2B5EF4-FFF2-40B4-BE49-F238E27FC236}">
                <a16:creationId xmlns:a16="http://schemas.microsoft.com/office/drawing/2014/main" id="{36486668-A4B5-3146-2039-75C0232B1BBE}"/>
              </a:ext>
            </a:extLst>
          </p:cNvPr>
          <p:cNvSpPr txBox="1">
            <a:spLocks noChangeArrowheads="1"/>
          </p:cNvSpPr>
          <p:nvPr/>
        </p:nvSpPr>
        <p:spPr bwMode="auto">
          <a:xfrm>
            <a:off x="685800" y="1828800"/>
            <a:ext cx="65532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b="0"/>
              <a:t>ArrayList&lt;Integer&gt; iRay;</a:t>
            </a:r>
          </a:p>
          <a:p>
            <a:pPr algn="l"/>
            <a:r>
              <a:rPr lang="en-US" altLang="en-US" b="0"/>
              <a:t>iRay = new ArrayList&lt;Integer&gt;();</a:t>
            </a:r>
          </a:p>
          <a:p>
            <a:pPr algn="l"/>
            <a:r>
              <a:rPr lang="en-US" altLang="en-US" b="0"/>
              <a:t>for( int i=0; i&lt;20; i++)</a:t>
            </a:r>
          </a:p>
          <a:p>
            <a:pPr algn="l"/>
            <a:r>
              <a:rPr lang="en-US" altLang="en-US" b="0"/>
              <a:t>   iRay.add(i);</a:t>
            </a:r>
          </a:p>
          <a:p>
            <a:pPr algn="l"/>
            <a:endParaRPr lang="en-US" altLang="en-US" b="0"/>
          </a:p>
          <a:p>
            <a:pPr algn="l"/>
            <a:endParaRPr lang="en-US" altLang="en-US" b="0"/>
          </a:p>
          <a:p>
            <a:pPr algn="l"/>
            <a:r>
              <a:rPr lang="en-US" altLang="en-US" b="0"/>
              <a:t>ArrayList&lt;Double&gt; dRay;</a:t>
            </a:r>
          </a:p>
          <a:p>
            <a:pPr algn="l"/>
            <a:r>
              <a:rPr lang="en-US" altLang="en-US" b="0"/>
              <a:t>dRay = new ArrayList&lt;Double&gt;();</a:t>
            </a:r>
          </a:p>
          <a:p>
            <a:pPr algn="l"/>
            <a:r>
              <a:rPr lang="en-US" altLang="en-US" b="0"/>
              <a:t>for( int j=0; j&lt;20; j++)</a:t>
            </a:r>
          </a:p>
          <a:p>
            <a:pPr algn="l"/>
            <a:r>
              <a:rPr lang="en-US" altLang="en-US" b="0"/>
              <a:t>   dRay.add(0,j);</a:t>
            </a:r>
            <a:endParaRPr lang="en-US" altLang="en-US" sz="1800" b="0"/>
          </a:p>
        </p:txBody>
      </p:sp>
      <p:sp>
        <p:nvSpPr>
          <p:cNvPr id="115714" name="WordArt 3">
            <a:extLst>
              <a:ext uri="{FF2B5EF4-FFF2-40B4-BE49-F238E27FC236}">
                <a16:creationId xmlns:a16="http://schemas.microsoft.com/office/drawing/2014/main" id="{8B33E018-61F2-EC8D-098E-31771738E57F}"/>
              </a:ext>
            </a:extLst>
          </p:cNvPr>
          <p:cNvSpPr>
            <a:spLocks noChangeArrowheads="1" noChangeShapeType="1" noTextEdit="1"/>
          </p:cNvSpPr>
          <p:nvPr/>
        </p:nvSpPr>
        <p:spPr bwMode="auto">
          <a:xfrm>
            <a:off x="1143000" y="381000"/>
            <a:ext cx="6629400" cy="11430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Runtime Analysis</a:t>
            </a:r>
          </a:p>
        </p:txBody>
      </p:sp>
      <p:sp>
        <p:nvSpPr>
          <p:cNvPr id="115715" name="Text Box 4">
            <a:extLst>
              <a:ext uri="{FF2B5EF4-FFF2-40B4-BE49-F238E27FC236}">
                <a16:creationId xmlns:a16="http://schemas.microsoft.com/office/drawing/2014/main" id="{032EA095-8CBD-C8ED-4E1E-D809933CB1CE}"/>
              </a:ext>
            </a:extLst>
          </p:cNvPr>
          <p:cNvSpPr txBox="1">
            <a:spLocks noChangeArrowheads="1"/>
          </p:cNvSpPr>
          <p:nvPr/>
        </p:nvSpPr>
        <p:spPr bwMode="auto">
          <a:xfrm>
            <a:off x="5486400" y="3048000"/>
            <a:ext cx="3276600" cy="1200150"/>
          </a:xfrm>
          <a:prstGeom prst="rect">
            <a:avLst/>
          </a:prstGeom>
          <a:noFill/>
          <a:ln w="12700">
            <a:solidFill>
              <a:srgbClr val="3399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r>
              <a:rPr lang="en-US" altLang="en-US" sz="2400">
                <a:solidFill>
                  <a:srgbClr val="339933"/>
                </a:solidFill>
              </a:rPr>
              <a:t>Which section of code would execute the fastest?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ext Box 2">
            <a:extLst>
              <a:ext uri="{FF2B5EF4-FFF2-40B4-BE49-F238E27FC236}">
                <a16:creationId xmlns:a16="http://schemas.microsoft.com/office/drawing/2014/main" id="{79C368F7-0761-EDE4-7146-EBD33AAE4E7F}"/>
              </a:ext>
            </a:extLst>
          </p:cNvPr>
          <p:cNvSpPr txBox="1">
            <a:spLocks noChangeArrowheads="1"/>
          </p:cNvSpPr>
          <p:nvPr/>
        </p:nvSpPr>
        <p:spPr bwMode="auto">
          <a:xfrm>
            <a:off x="914400" y="1143000"/>
            <a:ext cx="6886575"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endParaRPr lang="en-US" altLang="en-US" b="0"/>
          </a:p>
          <a:p>
            <a:pPr algn="l"/>
            <a:endParaRPr lang="en-US" altLang="en-US" b="0"/>
          </a:p>
          <a:p>
            <a:pPr algn="l"/>
            <a:r>
              <a:rPr lang="en-US" altLang="en-US" b="0"/>
              <a:t>Name		Best Case	Avg. Case	Worst</a:t>
            </a:r>
          </a:p>
          <a:p>
            <a:pPr algn="l"/>
            <a:endParaRPr lang="en-US" altLang="en-US" sz="1800" b="0"/>
          </a:p>
          <a:p>
            <a:pPr algn="l"/>
            <a:r>
              <a:rPr lang="en-US" altLang="en-US" sz="1800" b="0"/>
              <a:t>Selection Sort	 O(N</a:t>
            </a:r>
            <a:r>
              <a:rPr lang="en-US" altLang="en-US" sz="1800" b="0" baseline="30000"/>
              <a:t>2</a:t>
            </a:r>
            <a:r>
              <a:rPr lang="en-US" altLang="en-US" sz="1800" b="0"/>
              <a:t>) 		 O(N</a:t>
            </a:r>
            <a:r>
              <a:rPr lang="en-US" altLang="en-US" sz="1800" b="0" baseline="30000"/>
              <a:t>2</a:t>
            </a:r>
            <a:r>
              <a:rPr lang="en-US" altLang="en-US" sz="1800" b="0"/>
              <a:t>) 		O(N</a:t>
            </a:r>
            <a:r>
              <a:rPr lang="en-US" altLang="en-US" sz="1800" b="0" baseline="30000"/>
              <a:t>2</a:t>
            </a:r>
            <a:r>
              <a:rPr lang="en-US" altLang="en-US" sz="1800" b="0"/>
              <a:t>)</a:t>
            </a:r>
            <a:r>
              <a:rPr lang="en-US" altLang="en-US" sz="1400" b="0"/>
              <a:t>	</a:t>
            </a:r>
            <a:br>
              <a:rPr lang="en-US" altLang="en-US" sz="1400" b="0"/>
            </a:br>
            <a:r>
              <a:rPr lang="en-US" altLang="en-US" sz="1400" b="0"/>
              <a:t>	</a:t>
            </a:r>
            <a:br>
              <a:rPr lang="en-US" altLang="en-US" sz="1400" b="0"/>
            </a:br>
            <a:endParaRPr lang="en-US" altLang="en-US" sz="1400" b="0"/>
          </a:p>
          <a:p>
            <a:pPr algn="l"/>
            <a:r>
              <a:rPr lang="en-US" altLang="en-US" sz="1800" b="0"/>
              <a:t>Bubble Sort	 O(N</a:t>
            </a:r>
            <a:r>
              <a:rPr lang="en-US" altLang="en-US" sz="1800" b="0" baseline="30000"/>
              <a:t>2</a:t>
            </a:r>
            <a:r>
              <a:rPr lang="en-US" altLang="en-US" sz="1800" b="0"/>
              <a:t>) 		 O(N</a:t>
            </a:r>
            <a:r>
              <a:rPr lang="en-US" altLang="en-US" sz="1800" b="0" baseline="30000"/>
              <a:t>2</a:t>
            </a:r>
            <a:r>
              <a:rPr lang="en-US" altLang="en-US" sz="1800" b="0"/>
              <a:t>) 		O(N</a:t>
            </a:r>
            <a:r>
              <a:rPr lang="en-US" altLang="en-US" sz="1800" b="0" baseline="30000"/>
              <a:t>2</a:t>
            </a:r>
            <a:r>
              <a:rPr lang="en-US" altLang="en-US" sz="1800" b="0"/>
              <a:t>)</a:t>
            </a:r>
          </a:p>
          <a:p>
            <a:pPr algn="l"/>
            <a:br>
              <a:rPr lang="en-US" altLang="en-US" sz="1800" b="0"/>
            </a:br>
            <a:r>
              <a:rPr lang="en-US" altLang="en-US" sz="1800" b="0"/>
              <a:t>Insertion Sort	 O(N) (@) 	 O(N</a:t>
            </a:r>
            <a:r>
              <a:rPr lang="en-US" altLang="en-US" sz="1800" b="0" baseline="30000"/>
              <a:t>2</a:t>
            </a:r>
            <a:r>
              <a:rPr lang="en-US" altLang="en-US" sz="1800" b="0"/>
              <a:t>) 		O(N</a:t>
            </a:r>
            <a:r>
              <a:rPr lang="en-US" altLang="en-US" sz="1800" b="0" baseline="30000"/>
              <a:t>2</a:t>
            </a:r>
            <a:r>
              <a:rPr lang="en-US" altLang="en-US" sz="1800" b="0"/>
              <a:t>)</a:t>
            </a:r>
          </a:p>
          <a:p>
            <a:pPr algn="l"/>
            <a:endParaRPr lang="en-US" altLang="en-US" sz="1800" b="0"/>
          </a:p>
          <a:p>
            <a:pPr algn="l"/>
            <a:r>
              <a:rPr lang="en-US" altLang="en-US" sz="1800" b="0"/>
              <a:t>@ If the data is sorted, Insertion sort should only make one pass </a:t>
            </a:r>
          </a:p>
          <a:p>
            <a:pPr algn="l"/>
            <a:r>
              <a:rPr lang="en-US" altLang="en-US" sz="1800" b="0"/>
              <a:t>through the list.  If this case is present, Insertion sort would have </a:t>
            </a:r>
          </a:p>
          <a:p>
            <a:pPr algn="l"/>
            <a:r>
              <a:rPr lang="en-US" altLang="en-US" sz="1800" b="0"/>
              <a:t>a best case of O(n).</a:t>
            </a:r>
          </a:p>
        </p:txBody>
      </p:sp>
      <p:sp>
        <p:nvSpPr>
          <p:cNvPr id="116738" name="WordArt 3">
            <a:extLst>
              <a:ext uri="{FF2B5EF4-FFF2-40B4-BE49-F238E27FC236}">
                <a16:creationId xmlns:a16="http://schemas.microsoft.com/office/drawing/2014/main" id="{A0D4EB81-1AAB-84D0-0CC7-6D00195A21F8}"/>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General Big O Chart</a:t>
            </a:r>
          </a:p>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for N^2 Sorts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ext Box 2">
            <a:extLst>
              <a:ext uri="{FF2B5EF4-FFF2-40B4-BE49-F238E27FC236}">
                <a16:creationId xmlns:a16="http://schemas.microsoft.com/office/drawing/2014/main" id="{D9233BC8-E1B4-7F75-4812-2A36A1CCACA9}"/>
              </a:ext>
            </a:extLst>
          </p:cNvPr>
          <p:cNvSpPr txBox="1">
            <a:spLocks noChangeArrowheads="1"/>
          </p:cNvSpPr>
          <p:nvPr/>
        </p:nvSpPr>
        <p:spPr bwMode="auto">
          <a:xfrm>
            <a:off x="838200" y="1143000"/>
            <a:ext cx="6997700" cy="427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ahoma" panose="020B0604030504040204" pitchFamily="34" charset="0"/>
                <a:ea typeface="ＭＳ Ｐゴシック" panose="020B0600070205080204" pitchFamily="34" charset="-128"/>
              </a:defRPr>
            </a:lvl1pPr>
            <a:lvl2pPr marL="742950" indent="-285750">
              <a:defRPr sz="2800" b="1">
                <a:solidFill>
                  <a:schemeClr val="tx1"/>
                </a:solidFill>
                <a:latin typeface="Tahoma" panose="020B0604030504040204" pitchFamily="34" charset="0"/>
                <a:ea typeface="ＭＳ Ｐゴシック" panose="020B0600070205080204" pitchFamily="34" charset="-128"/>
              </a:defRPr>
            </a:lvl2pPr>
            <a:lvl3pPr marL="1143000" indent="-228600">
              <a:defRPr sz="2800" b="1">
                <a:solidFill>
                  <a:schemeClr val="tx1"/>
                </a:solidFill>
                <a:latin typeface="Tahoma" panose="020B0604030504040204" pitchFamily="34" charset="0"/>
                <a:ea typeface="ＭＳ Ｐゴシック" panose="020B0600070205080204" pitchFamily="34" charset="-128"/>
              </a:defRPr>
            </a:lvl3pPr>
            <a:lvl4pPr marL="1600200" indent="-228600">
              <a:defRPr sz="2800" b="1">
                <a:solidFill>
                  <a:schemeClr val="tx1"/>
                </a:solidFill>
                <a:latin typeface="Tahoma" panose="020B0604030504040204" pitchFamily="34" charset="0"/>
                <a:ea typeface="ＭＳ Ｐゴシック" panose="020B0600070205080204" pitchFamily="34" charset="-128"/>
              </a:defRPr>
            </a:lvl4pPr>
            <a:lvl5pPr marL="2057400" indent="-228600">
              <a:defRPr sz="2800" b="1">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2800" b="1">
                <a:solidFill>
                  <a:schemeClr val="tx1"/>
                </a:solidFill>
                <a:latin typeface="Tahoma" panose="020B0604030504040204" pitchFamily="34" charset="0"/>
                <a:ea typeface="ＭＳ Ｐゴシック" panose="020B0600070205080204" pitchFamily="34" charset="-128"/>
              </a:defRPr>
            </a:lvl9pPr>
          </a:lstStyle>
          <a:p>
            <a:pPr algn="l"/>
            <a:endParaRPr lang="en-US" altLang="en-US" b="0"/>
          </a:p>
          <a:p>
            <a:pPr algn="l"/>
            <a:endParaRPr lang="en-US" altLang="en-US" b="0"/>
          </a:p>
          <a:p>
            <a:pPr algn="l"/>
            <a:r>
              <a:rPr lang="en-US" altLang="en-US" b="0"/>
              <a:t>Name		Best Case	Avg. Case	Worst</a:t>
            </a:r>
          </a:p>
          <a:p>
            <a:pPr algn="l"/>
            <a:endParaRPr lang="en-US" altLang="en-US" b="0"/>
          </a:p>
          <a:p>
            <a:pPr algn="l"/>
            <a:r>
              <a:rPr lang="en-US" altLang="en-US" sz="1800" b="0"/>
              <a:t>Merge Sort	 O(N log</a:t>
            </a:r>
            <a:r>
              <a:rPr lang="en-US" altLang="en-US" sz="1800" b="0" baseline="-25000"/>
              <a:t>2</a:t>
            </a:r>
            <a:r>
              <a:rPr lang="en-US" altLang="en-US" sz="1800" b="0"/>
              <a:t> N ) 	 O(N log</a:t>
            </a:r>
            <a:r>
              <a:rPr lang="en-US" altLang="en-US" sz="1800" b="0" baseline="-25000"/>
              <a:t>2</a:t>
            </a:r>
            <a:r>
              <a:rPr lang="en-US" altLang="en-US" sz="1800" b="0"/>
              <a:t> N )	O(N log</a:t>
            </a:r>
            <a:r>
              <a:rPr lang="en-US" altLang="en-US" sz="1800" b="0" baseline="-25000"/>
              <a:t>2</a:t>
            </a:r>
            <a:r>
              <a:rPr lang="en-US" altLang="en-US" sz="1800" b="0"/>
              <a:t> N ) </a:t>
            </a:r>
          </a:p>
          <a:p>
            <a:pPr algn="l"/>
            <a:br>
              <a:rPr lang="en-US" altLang="en-US" sz="1800" b="0"/>
            </a:br>
            <a:r>
              <a:rPr lang="en-US" altLang="en-US" sz="1800" b="0"/>
              <a:t>QuickSort	 O(N log</a:t>
            </a:r>
            <a:r>
              <a:rPr lang="en-US" altLang="en-US" sz="1800" b="0" baseline="-25000"/>
              <a:t>2</a:t>
            </a:r>
            <a:r>
              <a:rPr lang="en-US" altLang="en-US" sz="1800" b="0"/>
              <a:t> N ) 	 O(N log</a:t>
            </a:r>
            <a:r>
              <a:rPr lang="en-US" altLang="en-US" sz="1800" b="0" baseline="-25000"/>
              <a:t>2</a:t>
            </a:r>
            <a:r>
              <a:rPr lang="en-US" altLang="en-US" sz="1800" b="0"/>
              <a:t> N )	O(N</a:t>
            </a:r>
            <a:r>
              <a:rPr lang="en-US" altLang="en-US" sz="1800" b="0" baseline="30000"/>
              <a:t>2</a:t>
            </a:r>
            <a:r>
              <a:rPr lang="en-US" altLang="en-US" sz="1800" b="0"/>
              <a:t>) (@)</a:t>
            </a:r>
          </a:p>
          <a:p>
            <a:pPr algn="l"/>
            <a:br>
              <a:rPr lang="en-US" altLang="en-US" sz="1800" b="0"/>
            </a:br>
            <a:endParaRPr lang="en-US" altLang="en-US" sz="1800" b="0"/>
          </a:p>
          <a:p>
            <a:pPr algn="l"/>
            <a:r>
              <a:rPr lang="en-US" altLang="en-US" sz="1800" b="0"/>
              <a:t>@ QuickSort can degenerate to N</a:t>
            </a:r>
            <a:r>
              <a:rPr lang="en-US" altLang="en-US" sz="1800" b="0" baseline="30000"/>
              <a:t>2</a:t>
            </a:r>
            <a:r>
              <a:rPr lang="en-US" altLang="en-US" sz="1800" b="0"/>
              <a:t>.   It typically will degenerate on</a:t>
            </a:r>
          </a:p>
          <a:p>
            <a:pPr algn="l"/>
            <a:r>
              <a:rPr lang="en-US" altLang="en-US" sz="1800" b="0"/>
              <a:t>sorted data if using a left or right pivot.   Using a median pivot will </a:t>
            </a:r>
          </a:p>
          <a:p>
            <a:pPr algn="l"/>
            <a:r>
              <a:rPr lang="en-US" altLang="en-US" sz="1800" b="0"/>
              <a:t>help tremendously, but QuickSort can still degenerate on certain</a:t>
            </a:r>
          </a:p>
          <a:p>
            <a:pPr algn="l"/>
            <a:r>
              <a:rPr lang="en-US" altLang="en-US" sz="1800" b="0"/>
              <a:t>sets of data.  The split position determines how QuickSort behaves.</a:t>
            </a:r>
          </a:p>
        </p:txBody>
      </p:sp>
      <p:sp>
        <p:nvSpPr>
          <p:cNvPr id="117762" name="WordArt 5">
            <a:extLst>
              <a:ext uri="{FF2B5EF4-FFF2-40B4-BE49-F238E27FC236}">
                <a16:creationId xmlns:a16="http://schemas.microsoft.com/office/drawing/2014/main" id="{7783D965-587D-6E48-54A3-F9C813FC3555}"/>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General Big O Chart</a:t>
            </a:r>
          </a:p>
          <a:p>
            <a:r>
              <a:rPr lang="en-US" sz="3600" kern="10">
                <a:ln w="9525">
                  <a:solidFill>
                    <a:srgbClr val="FFFF00"/>
                  </a:solidFill>
                  <a:round/>
                  <a:headEnd/>
                  <a:tailEnd/>
                </a:ln>
                <a:solidFill>
                  <a:srgbClr val="0000FF"/>
                </a:solidFill>
                <a:effectLst>
                  <a:outerShdw dist="35921" dir="2700000" algn="ctr" rotWithShape="0">
                    <a:srgbClr val="C0C0C0">
                      <a:alpha val="74997"/>
                    </a:srgbClr>
                  </a:outerShdw>
                </a:effectLst>
                <a:latin typeface="Impact" panose="020B0806030902050204" pitchFamily="34" charset="0"/>
              </a:rPr>
              <a:t>for NLogN Sorts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WordArt 2">
            <a:extLst>
              <a:ext uri="{FF2B5EF4-FFF2-40B4-BE49-F238E27FC236}">
                <a16:creationId xmlns:a16="http://schemas.microsoft.com/office/drawing/2014/main" id="{A851A286-9930-0DFA-33F1-11568C5E60D6}"/>
              </a:ext>
            </a:extLst>
          </p:cNvPr>
          <p:cNvSpPr>
            <a:spLocks noChangeArrowheads="1" noChangeShapeType="1" noTextEdit="1"/>
          </p:cNvSpPr>
          <p:nvPr/>
        </p:nvSpPr>
        <p:spPr bwMode="auto">
          <a:xfrm>
            <a:off x="914400" y="1295400"/>
            <a:ext cx="7162800" cy="3810000"/>
          </a:xfrm>
          <a:prstGeom prst="rect">
            <a:avLst/>
          </a:prstGeom>
        </p:spPr>
        <p:txBody>
          <a:bodyPr wrap="none" fromWordArt="1">
            <a:prstTxWarp prst="textPlain">
              <a:avLst>
                <a:gd name="adj" fmla="val 50000"/>
              </a:avLst>
            </a:prstTxWarp>
          </a:bodyPr>
          <a:lstStyle/>
          <a:p>
            <a:r>
              <a:rPr lang="en-US" sz="3600" kern="10">
                <a:ln w="9525">
                  <a:solidFill>
                    <a:srgbClr val="333399"/>
                  </a:solidFill>
                  <a:round/>
                  <a:headEnd type="none" w="sm" len="sm"/>
                  <a:tailEnd type="none" w="sm" len="sm"/>
                </a:ln>
                <a:solidFill>
                  <a:srgbClr val="00FF00"/>
                </a:solidFill>
                <a:effectLst>
                  <a:outerShdw dist="35921" dir="2700000" algn="ctr" rotWithShape="0">
                    <a:srgbClr val="C0C0C0">
                      <a:alpha val="74997"/>
                    </a:srgbClr>
                  </a:outerShdw>
                </a:effectLst>
                <a:latin typeface="Impact" panose="020B0806030902050204" pitchFamily="34" charset="0"/>
              </a:rPr>
              <a:t>Continue work</a:t>
            </a:r>
          </a:p>
          <a:p>
            <a:r>
              <a:rPr lang="en-US" sz="3600" kern="10">
                <a:ln w="9525">
                  <a:solidFill>
                    <a:srgbClr val="333399"/>
                  </a:solidFill>
                  <a:round/>
                  <a:headEnd type="none" w="sm" len="sm"/>
                  <a:tailEnd type="none" w="sm" len="sm"/>
                </a:ln>
                <a:solidFill>
                  <a:srgbClr val="00FF00"/>
                </a:solidFill>
                <a:effectLst>
                  <a:outerShdw dist="35921" dir="2700000" algn="ctr" rotWithShape="0">
                    <a:srgbClr val="C0C0C0">
                      <a:alpha val="74997"/>
                    </a:srgbClr>
                  </a:outerShdw>
                </a:effectLst>
                <a:latin typeface="Impact" panose="020B0806030902050204" pitchFamily="34" charset="0"/>
              </a:rPr>
              <a:t>on Lab22</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2320</TotalTime>
  <Words>3891</Words>
  <Application>Microsoft Macintosh PowerPoint</Application>
  <PresentationFormat>On-screen Show (4:3)</PresentationFormat>
  <Paragraphs>615</Paragraphs>
  <Slides>61</Slides>
  <Notes>41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68" baseType="lpstr">
      <vt:lpstr>Tahoma</vt:lpstr>
      <vt:lpstr>ＭＳ Ｐゴシック</vt:lpstr>
      <vt:lpstr>Arial</vt:lpstr>
      <vt:lpstr>Times New Roman</vt:lpstr>
      <vt:lpstr>Courier New</vt:lpstr>
      <vt:lpstr>Default Design</vt:lpstr>
      <vt:lpstr>Microsoft Clip 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sortsearch</dc:title>
  <dc:subject>Sorting and Searching</dc:subject>
  <dc:creator>A+ Computer Science</dc:creator>
  <cp:keywords>www.apluscompsci.com</cp:keywords>
  <dc:description>Sorting and Searching_x000d_
©A+ Computer Science_x000d_
www.apluscompsci.com</dc:description>
  <cp:lastModifiedBy>Headrick, Sean</cp:lastModifiedBy>
  <cp:revision>407</cp:revision>
  <cp:lastPrinted>2000-04-26T16:54:12Z</cp:lastPrinted>
  <dcterms:created xsi:type="dcterms:W3CDTF">1998-04-06T14:13:40Z</dcterms:created>
  <dcterms:modified xsi:type="dcterms:W3CDTF">2026-04-17T00:53:42Z</dcterms:modified>
  <cp:category>www.apluscompsci.com</cp:category>
</cp:coreProperties>
</file>